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3.png" ContentType="image/png"/>
  <Override PartName="/ppt/media/image4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12.png" ContentType="image/png"/>
  <Override PartName="/ppt/media/image3.png" ContentType="image/png"/>
  <Override PartName="/ppt/media/image21.png" ContentType="image/png"/>
  <Override PartName="/ppt/media/image19.png" ContentType="image/png"/>
  <Override PartName="/ppt/media/image5.png" ContentType="image/png"/>
  <Override PartName="/ppt/media/image14.png" ContentType="image/png"/>
  <Override PartName="/ppt/media/image1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16.png" ContentType="image/png"/>
  <Override PartName="/ppt/media/image7.png" ContentType="image/png"/>
  <Override PartName="/ppt/media/image2.png" ContentType="image/png"/>
  <Override PartName="/ppt/media/image11.png" ContentType="image/png"/>
  <Override PartName="/ppt/media/image8.png" ContentType="image/png"/>
  <Override PartName="/ppt/media/image17.png" ContentType="image/png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23.xml" ContentType="application/vnd.openxmlformats-officedocument.presentationml.slide+xml"/>
  <Override PartName="/ppt/slides/slide35.xml" ContentType="application/vnd.openxmlformats-officedocument.presentationml.slide+xml"/>
  <Override PartName="/ppt/slides/slide24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36.xml" ContentType="application/vnd.openxmlformats-officedocument.presentationml.slide+xml"/>
  <Override PartName="/ppt/slides/slide25.xml" ContentType="application/vnd.openxmlformats-officedocument.presentationml.slide+xml"/>
  <Override PartName="/ppt/slides/slide37.xml" ContentType="application/vnd.openxmlformats-officedocument.presentationml.slide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7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34.xml.rels" ContentType="application/vnd.openxmlformats-package.relationships+xml"/>
  <Override PartName="/ppt/slides/_rels/slide33.xml.rels" ContentType="application/vnd.openxmlformats-package.relationships+xml"/>
  <Override PartName="/ppt/slides/_rels/slide32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28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_rels/slide35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37.xml.rels" ContentType="application/vnd.openxmlformats-package.relationships+xml"/>
  <Override PartName="/ppt/slides/_rels/slide2.xml.rels" ContentType="application/vnd.openxmlformats-package.relationships+xml"/>
  <Override PartName="/ppt/slides/_rels/slide38.xml.rels" ContentType="application/vnd.openxmlformats-package.relationships+xml"/>
  <Override PartName="/ppt/slides/_rels/slide39.xml.rels" ContentType="application/vnd.openxmlformats-package.relationships+xml"/>
  <Override PartName="/ppt/slides/_rels/slide13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1.xml.rels" ContentType="application/vnd.openxmlformats-package.relationships+xml"/>
  <Override PartName="/ppt/slides/_rels/slide12.xml.rels" ContentType="application/vnd.openxmlformats-package.relationships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22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notesSlides/_rels/notesSlide2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35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3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31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9.xml.rels" ContentType="application/vnd.openxmlformats-package.relationships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5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sldRg st="1" end="39"/>
  </p:showPr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pour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déplacer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la diapo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Cliquez pour </a:t>
            </a: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modifier le format </a:t>
            </a: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des notes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&lt;en-tête&gt;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48AEB72-9E2E-4DD4-B625-08C04B07C563}" type="slidenum"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C816998-CE12-4EB5-857D-5023BBCAADB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2007659-93D1-45C2-9495-24FE023AC28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2A2640A-3371-47B0-98A1-49442424334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8433688-3532-46E3-BB9F-F245C5ED23E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752BAC8-E293-4703-B763-8ED3E21E650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56FA669-9BB8-4229-9F69-BAD694CB9C3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E7825A-63E7-4D9B-AFF2-AA273BDF6D0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55FADD8-24E5-4AAD-AF84-E6B0FF13A88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72926B8-E970-4273-B397-41D07ABDEC4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E90971-14F6-474E-85D1-67932239498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D2F4D70-B9E3-4CC5-A6BD-3030A0C4A0F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B70CA22-DEDA-479D-847F-CE681B1F54B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B4EA77E-5085-40EB-9CBA-3C96FEE518D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92B6B3-3F2A-4D8F-AACD-DC26699214E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378AEE0-B97D-4697-AEF8-1CAB36B6CCD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4B254B6-B7E7-4C18-9672-616A11C31C6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8C0A2E2-BEA1-4E03-B51D-164FCA274F4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84575F9-D5B0-43D5-B9EC-41270011AB1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22CC0B1-2C0A-423E-A8CE-15FB9592F6C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5EB7D8-7B16-43AA-8D92-DE7162113CB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81641D1-0033-491D-92A1-27B36AAB11D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1189E2F-DA44-432A-AF27-D70C8821A67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1387618-6105-4601-B9B4-4D816E84B3B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3B11E9D-3D7D-4BF1-9877-5EBD11E9D28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5CD824D-0126-4235-BB49-9D9283BF08E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E350CA-19CF-4D5A-9051-DB2B77CD3E9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CE205EE-5A0C-44B5-AC03-D4853278C83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E5D574-A320-48B3-9E06-0227E156EF7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pour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éditer le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format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du texte-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pour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éditer le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format du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pour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éditer le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format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du texte-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  <p:sldLayoutId id="2147483654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pour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éditer le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format du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6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4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slideLayout" Target="../slideLayouts/slideLayout4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f5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9509760" y="-1645920"/>
            <a:ext cx="4569840" cy="4569840"/>
          </a:xfrm>
          <a:prstGeom prst="ellipse">
            <a:avLst/>
          </a:prstGeom>
          <a:solidFill>
            <a:srgbClr val="2e7f32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1" name="Shape 1"/>
          <p:cNvSpPr/>
          <p:nvPr/>
        </p:nvSpPr>
        <p:spPr>
          <a:xfrm>
            <a:off x="10789920" y="-640080"/>
            <a:ext cx="2923920" cy="2923920"/>
          </a:xfrm>
          <a:prstGeom prst="ellipse">
            <a:avLst/>
          </a:prstGeom>
          <a:solidFill>
            <a:srgbClr val="2e7f32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2" name="Text 2"/>
          <p:cNvSpPr/>
          <p:nvPr/>
        </p:nvSpPr>
        <p:spPr>
          <a:xfrm>
            <a:off x="640080" y="1371600"/>
            <a:ext cx="9599040" cy="155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0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Au fil des saisons</a:t>
            </a:r>
            <a:endParaRPr b="0" lang="fr-FR" sz="6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58440" y="2880360"/>
            <a:ext cx="8684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d8ecd8"/>
                </a:solidFill>
                <a:latin typeface="Calibri"/>
                <a:ea typeface="Calibri"/>
              </a:rPr>
              <a:t>Plateforme de découverte des produits de saison et de recettes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d8ecd8"/>
                </a:solidFill>
                <a:latin typeface="Calibri"/>
                <a:ea typeface="Calibri"/>
              </a:rPr>
              <a:t>pour une meilleure alimentation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58080" y="5120640"/>
            <a:ext cx="1005840" cy="360"/>
          </a:xfrm>
          <a:prstGeom prst="line">
            <a:avLst/>
          </a:prstGeom>
          <a:ln w="25560">
            <a:solidFill>
              <a:srgbClr val="d982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58440" y="5257800"/>
            <a:ext cx="73130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Bérangère Brunat  ·  Développeuse web et web mobile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658440" y="5577840"/>
            <a:ext cx="73130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afcbae"/>
                </a:solidFill>
                <a:latin typeface="Calibri"/>
                <a:ea typeface="Calibri"/>
              </a:rPr>
              <a:t>Soutenance de projet  ·  9 et 10 septembre 2026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0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8" name="Text 1"/>
          <p:cNvSpPr/>
          <p:nvPr/>
        </p:nvSpPr>
        <p:spPr>
          <a:xfrm>
            <a:off x="502920" y="12816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Text 2"/>
          <p:cNvSpPr/>
          <p:nvPr/>
        </p:nvSpPr>
        <p:spPr>
          <a:xfrm>
            <a:off x="3166920" y="407880"/>
            <a:ext cx="561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Résumé, objectif et fonctionnalité clé du projet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AU FIL DES SAISONS  •  DWWM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" name="Shape 5"/>
          <p:cNvSpPr/>
          <p:nvPr/>
        </p:nvSpPr>
        <p:spPr>
          <a:xfrm>
            <a:off x="502920" y="1371600"/>
            <a:ext cx="11183760" cy="1049400"/>
          </a:xfrm>
          <a:prstGeom prst="roundRect">
            <a:avLst>
              <a:gd name="adj" fmla="val 6957"/>
            </a:avLst>
          </a:prstGeom>
          <a:solidFill>
            <a:srgbClr val="e8f3e9"/>
          </a:solidFill>
          <a:ln w="12600">
            <a:solidFill>
              <a:srgbClr val="d3e8d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" name="Text 6"/>
          <p:cNvSpPr/>
          <p:nvPr/>
        </p:nvSpPr>
        <p:spPr>
          <a:xfrm>
            <a:off x="822960" y="1371600"/>
            <a:ext cx="10543680" cy="10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20301f"/>
                </a:solidFill>
                <a:latin typeface="Calibri"/>
                <a:ea typeface="Calibri"/>
              </a:rPr>
              <a:t>«Il n’est pas toujours facile de savoir quels produits consommer selon la saison et comment les cuisiner »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Shape 7"/>
          <p:cNvSpPr/>
          <p:nvPr/>
        </p:nvSpPr>
        <p:spPr>
          <a:xfrm>
            <a:off x="502920" y="2651760"/>
            <a:ext cx="3543480" cy="196380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" name="Text 8"/>
          <p:cNvSpPr/>
          <p:nvPr/>
        </p:nvSpPr>
        <p:spPr>
          <a:xfrm>
            <a:off x="758880" y="290772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Méconnaissance des saisons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Text 9"/>
          <p:cNvSpPr/>
          <p:nvPr/>
        </p:nvSpPr>
        <p:spPr>
          <a:xfrm>
            <a:off x="758880" y="3383280"/>
            <a:ext cx="3031560" cy="10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Difficulté à identifier les fruits, légumes, viandes et poissons disponibles selon la saison.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10"/>
          <p:cNvSpPr/>
          <p:nvPr/>
        </p:nvSpPr>
        <p:spPr>
          <a:xfrm>
            <a:off x="4322880" y="2651760"/>
            <a:ext cx="3543480" cy="196380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" name="Text 11"/>
          <p:cNvSpPr/>
          <p:nvPr/>
        </p:nvSpPr>
        <p:spPr>
          <a:xfrm>
            <a:off x="4542840" y="2907720"/>
            <a:ext cx="3160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Suggestions peu contextualisées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 12"/>
          <p:cNvSpPr/>
          <p:nvPr/>
        </p:nvSpPr>
        <p:spPr>
          <a:xfrm>
            <a:off x="4578840" y="3383280"/>
            <a:ext cx="3031560" cy="10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Les suggestions de recettes ne prennent pas toujours en compte la saison et les conditions météorologiques locales.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Shape 13"/>
          <p:cNvSpPr/>
          <p:nvPr/>
        </p:nvSpPr>
        <p:spPr>
          <a:xfrm>
            <a:off x="8143200" y="2651760"/>
            <a:ext cx="3543480" cy="196380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" name="Text 14"/>
          <p:cNvSpPr/>
          <p:nvPr/>
        </p:nvSpPr>
        <p:spPr>
          <a:xfrm>
            <a:off x="8399160" y="290772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Manque d’inspiration culinaire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 15"/>
          <p:cNvSpPr/>
          <p:nvPr/>
        </p:nvSpPr>
        <p:spPr>
          <a:xfrm>
            <a:off x="8399160" y="3383280"/>
            <a:ext cx="3031560" cy="10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Difficulté à trouver rapidement des idées de recettes utilisant des produits de saison.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16"/>
          <p:cNvSpPr/>
          <p:nvPr/>
        </p:nvSpPr>
        <p:spPr>
          <a:xfrm>
            <a:off x="502920" y="4846320"/>
            <a:ext cx="11183760" cy="1049400"/>
          </a:xfrm>
          <a:prstGeom prst="roundRect">
            <a:avLst>
              <a:gd name="adj" fmla="val 6957"/>
            </a:avLst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4" name="Text 17"/>
          <p:cNvSpPr/>
          <p:nvPr/>
        </p:nvSpPr>
        <p:spPr>
          <a:xfrm>
            <a:off x="777240" y="4956120"/>
            <a:ext cx="2741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d9822b"/>
                </a:solidFill>
                <a:latin typeface="Calibri"/>
                <a:ea typeface="Calibri"/>
              </a:rPr>
              <a:t>Fonctionnalité clé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 18"/>
          <p:cNvSpPr/>
          <p:nvPr/>
        </p:nvSpPr>
        <p:spPr>
          <a:xfrm>
            <a:off x="777240" y="5285160"/>
            <a:ext cx="106351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Un catalogue de produits de saison relié à des recettes associées, avec des suggestions selon la météo locale.</a:t>
            </a:r>
            <a:endParaRPr b="0" lang="fr-FR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1"/>
          <p:cNvSpPr/>
          <p:nvPr/>
        </p:nvSpPr>
        <p:spPr>
          <a:xfrm>
            <a:off x="0" y="0"/>
            <a:ext cx="12190680" cy="711720"/>
          </a:xfrm>
          <a:prstGeom prst="rect">
            <a:avLst/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TextBox 2"/>
          <p:cNvSpPr/>
          <p:nvPr/>
        </p:nvSpPr>
        <p:spPr>
          <a:xfrm>
            <a:off x="411480" y="109800"/>
            <a:ext cx="174744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700" spc="-1" strike="noStrike">
                <a:solidFill>
                  <a:srgbClr val="e08e2c"/>
                </a:solidFill>
                <a:latin typeface="Aptos"/>
                <a:ea typeface="DejaVu Sans"/>
              </a:rPr>
              <a:t>SYNTHÈSE — REPÈRE JURY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Box 3"/>
          <p:cNvSpPr/>
          <p:nvPr/>
        </p:nvSpPr>
        <p:spPr>
          <a:xfrm>
            <a:off x="411480" y="255960"/>
            <a:ext cx="795384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ffffff"/>
                </a:solidFill>
                <a:latin typeface="Aptos"/>
                <a:ea typeface="DejaVu Sans"/>
              </a:rPr>
              <a:t>Les 8 compétences DWWM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Box 4"/>
          <p:cNvSpPr/>
          <p:nvPr/>
        </p:nvSpPr>
        <p:spPr>
          <a:xfrm>
            <a:off x="8412480" y="274320"/>
            <a:ext cx="319896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Où les démontrer dans la soutenance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Box 5"/>
          <p:cNvSpPr/>
          <p:nvPr/>
        </p:nvSpPr>
        <p:spPr>
          <a:xfrm>
            <a:off x="411480" y="6565320"/>
            <a:ext cx="27417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600" spc="-1" strike="noStrike">
                <a:solidFill>
                  <a:srgbClr val="267837"/>
                </a:solidFill>
                <a:latin typeface="Aptos"/>
                <a:ea typeface="DejaVu Sans"/>
              </a:rPr>
              <a:t>AU FIL DES SAISONS  •  DWWM 2026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Rounded Rectangle 6"/>
          <p:cNvSpPr/>
          <p:nvPr/>
        </p:nvSpPr>
        <p:spPr>
          <a:xfrm>
            <a:off x="502920" y="1143000"/>
            <a:ext cx="2604600" cy="187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Oval 7"/>
          <p:cNvSpPr/>
          <p:nvPr/>
        </p:nvSpPr>
        <p:spPr>
          <a:xfrm>
            <a:off x="667440" y="1307520"/>
            <a:ext cx="382680" cy="382680"/>
          </a:xfrm>
          <a:prstGeom prst="ellipse">
            <a:avLst/>
          </a:prstGeom>
          <a:solidFill>
            <a:srgbClr val="267837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TextBox 8"/>
          <p:cNvSpPr/>
          <p:nvPr/>
        </p:nvSpPr>
        <p:spPr>
          <a:xfrm>
            <a:off x="667440" y="1385280"/>
            <a:ext cx="3826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1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Box 9"/>
          <p:cNvSpPr/>
          <p:nvPr/>
        </p:nvSpPr>
        <p:spPr>
          <a:xfrm>
            <a:off x="1161360" y="1307520"/>
            <a:ext cx="173592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100" spc="-1" strike="noStrike">
                <a:solidFill>
                  <a:srgbClr val="232b24"/>
                </a:solidFill>
                <a:latin typeface="Aptos"/>
                <a:ea typeface="DejaVu Sans"/>
              </a:rPr>
              <a:t>Environnement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685800" y="1892880"/>
            <a:ext cx="221148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5a665c"/>
                </a:solidFill>
                <a:latin typeface="Aptos"/>
                <a:ea typeface="DejaVu Sans"/>
              </a:rPr>
              <a:t>Docker, Symfony, VS Code, les commandes Linux 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Box 11"/>
          <p:cNvSpPr/>
          <p:nvPr/>
        </p:nvSpPr>
        <p:spPr>
          <a:xfrm>
            <a:off x="685800" y="2587680"/>
            <a:ext cx="22114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e08e2c"/>
                </a:solidFill>
                <a:latin typeface="Aptos"/>
                <a:ea typeface="DejaVu Sans"/>
              </a:rPr>
              <a:t>Preuve à présenter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Rounded Rectangle 12"/>
          <p:cNvSpPr/>
          <p:nvPr/>
        </p:nvSpPr>
        <p:spPr>
          <a:xfrm>
            <a:off x="3383280" y="1143000"/>
            <a:ext cx="2604600" cy="187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" name="Oval 13"/>
          <p:cNvSpPr/>
          <p:nvPr/>
        </p:nvSpPr>
        <p:spPr>
          <a:xfrm>
            <a:off x="3547800" y="1307520"/>
            <a:ext cx="382680" cy="382680"/>
          </a:xfrm>
          <a:prstGeom prst="ellipse">
            <a:avLst/>
          </a:prstGeom>
          <a:solidFill>
            <a:srgbClr val="267837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" name="TextBox 14"/>
          <p:cNvSpPr/>
          <p:nvPr/>
        </p:nvSpPr>
        <p:spPr>
          <a:xfrm>
            <a:off x="3547800" y="1385280"/>
            <a:ext cx="3826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2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Box 15"/>
          <p:cNvSpPr/>
          <p:nvPr/>
        </p:nvSpPr>
        <p:spPr>
          <a:xfrm>
            <a:off x="4041720" y="1307520"/>
            <a:ext cx="173592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100" spc="-1" strike="noStrike">
                <a:solidFill>
                  <a:srgbClr val="232b24"/>
                </a:solidFill>
                <a:latin typeface="Aptos"/>
                <a:ea typeface="DejaVu Sans"/>
              </a:rPr>
              <a:t>Maquettage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Box 16"/>
          <p:cNvSpPr/>
          <p:nvPr/>
        </p:nvSpPr>
        <p:spPr>
          <a:xfrm>
            <a:off x="3566160" y="1892880"/>
            <a:ext cx="221148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5a665c"/>
                </a:solidFill>
                <a:latin typeface="Aptos"/>
                <a:ea typeface="DejaVu Sans"/>
              </a:rPr>
              <a:t>Figma, responsive : wireframe → maquette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Box 17"/>
          <p:cNvSpPr/>
          <p:nvPr/>
        </p:nvSpPr>
        <p:spPr>
          <a:xfrm>
            <a:off x="3566160" y="2587680"/>
            <a:ext cx="22114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e08e2c"/>
                </a:solidFill>
                <a:latin typeface="Aptos"/>
                <a:ea typeface="DejaVu Sans"/>
              </a:rPr>
              <a:t>Preuve à présenter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Rounded Rectangle 18"/>
          <p:cNvSpPr/>
          <p:nvPr/>
        </p:nvSpPr>
        <p:spPr>
          <a:xfrm>
            <a:off x="6263640" y="1143000"/>
            <a:ext cx="2604600" cy="187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" name="Oval 19"/>
          <p:cNvSpPr/>
          <p:nvPr/>
        </p:nvSpPr>
        <p:spPr>
          <a:xfrm>
            <a:off x="6428160" y="1307520"/>
            <a:ext cx="382680" cy="382680"/>
          </a:xfrm>
          <a:prstGeom prst="ellipse">
            <a:avLst/>
          </a:prstGeom>
          <a:solidFill>
            <a:srgbClr val="267837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TextBox 20"/>
          <p:cNvSpPr/>
          <p:nvPr/>
        </p:nvSpPr>
        <p:spPr>
          <a:xfrm>
            <a:off x="6428160" y="1385280"/>
            <a:ext cx="3826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3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Box 21"/>
          <p:cNvSpPr/>
          <p:nvPr/>
        </p:nvSpPr>
        <p:spPr>
          <a:xfrm>
            <a:off x="6922080" y="1307520"/>
            <a:ext cx="173592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100" spc="-1" strike="noStrike">
                <a:solidFill>
                  <a:srgbClr val="232b24"/>
                </a:solidFill>
                <a:latin typeface="Aptos"/>
                <a:ea typeface="DejaVu Sans"/>
              </a:rPr>
              <a:t>Interfaces statiques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Box 22"/>
          <p:cNvSpPr/>
          <p:nvPr/>
        </p:nvSpPr>
        <p:spPr>
          <a:xfrm>
            <a:off x="6446520" y="1892880"/>
            <a:ext cx="221148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5a665c"/>
                </a:solidFill>
                <a:latin typeface="Aptos"/>
                <a:ea typeface="DejaVu Sans"/>
              </a:rPr>
              <a:t>HTML, CSS, Twig : accessibilité, référencement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Box 23"/>
          <p:cNvSpPr/>
          <p:nvPr/>
        </p:nvSpPr>
        <p:spPr>
          <a:xfrm>
            <a:off x="6446520" y="2587680"/>
            <a:ext cx="22114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e08e2c"/>
                </a:solidFill>
                <a:latin typeface="Aptos"/>
                <a:ea typeface="DejaVu Sans"/>
              </a:rPr>
              <a:t>Preuve à présenter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Rounded Rectangle 24"/>
          <p:cNvSpPr/>
          <p:nvPr/>
        </p:nvSpPr>
        <p:spPr>
          <a:xfrm>
            <a:off x="9144000" y="1143000"/>
            <a:ext cx="2604600" cy="187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Oval 25"/>
          <p:cNvSpPr/>
          <p:nvPr/>
        </p:nvSpPr>
        <p:spPr>
          <a:xfrm>
            <a:off x="9308520" y="1307520"/>
            <a:ext cx="382680" cy="382680"/>
          </a:xfrm>
          <a:prstGeom prst="ellipse">
            <a:avLst/>
          </a:prstGeom>
          <a:solidFill>
            <a:srgbClr val="267837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TextBox 26"/>
          <p:cNvSpPr/>
          <p:nvPr/>
        </p:nvSpPr>
        <p:spPr>
          <a:xfrm>
            <a:off x="9308520" y="1385280"/>
            <a:ext cx="3826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4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27"/>
          <p:cNvSpPr/>
          <p:nvPr/>
        </p:nvSpPr>
        <p:spPr>
          <a:xfrm>
            <a:off x="9802440" y="1307520"/>
            <a:ext cx="1735920" cy="42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100" spc="-1" strike="noStrike">
                <a:solidFill>
                  <a:srgbClr val="232b24"/>
                </a:solidFill>
                <a:latin typeface="Aptos"/>
                <a:ea typeface="DejaVu Sans"/>
              </a:rPr>
              <a:t>Interfaces dynamiques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28"/>
          <p:cNvSpPr/>
          <p:nvPr/>
        </p:nvSpPr>
        <p:spPr>
          <a:xfrm>
            <a:off x="9326880" y="1892880"/>
            <a:ext cx="221148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5a665c"/>
                </a:solidFill>
                <a:latin typeface="Aptos"/>
                <a:ea typeface="DejaVu Sans"/>
              </a:rPr>
              <a:t>Formulaires, profil, saisons : Controller, View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Box 29"/>
          <p:cNvSpPr/>
          <p:nvPr/>
        </p:nvSpPr>
        <p:spPr>
          <a:xfrm>
            <a:off x="9326880" y="2587680"/>
            <a:ext cx="22114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e08e2c"/>
                </a:solidFill>
                <a:latin typeface="Aptos"/>
                <a:ea typeface="DejaVu Sans"/>
              </a:rPr>
              <a:t>Preuve à présenter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Rounded Rectangle 30"/>
          <p:cNvSpPr/>
          <p:nvPr/>
        </p:nvSpPr>
        <p:spPr>
          <a:xfrm>
            <a:off x="502920" y="3474720"/>
            <a:ext cx="2604600" cy="187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Oval 31"/>
          <p:cNvSpPr/>
          <p:nvPr/>
        </p:nvSpPr>
        <p:spPr>
          <a:xfrm>
            <a:off x="667440" y="3639240"/>
            <a:ext cx="382680" cy="382680"/>
          </a:xfrm>
          <a:prstGeom prst="ellipse">
            <a:avLst/>
          </a:prstGeom>
          <a:solidFill>
            <a:srgbClr val="267837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TextBox 32"/>
          <p:cNvSpPr/>
          <p:nvPr/>
        </p:nvSpPr>
        <p:spPr>
          <a:xfrm>
            <a:off x="667440" y="3717000"/>
            <a:ext cx="3826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5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33"/>
          <p:cNvSpPr/>
          <p:nvPr/>
        </p:nvSpPr>
        <p:spPr>
          <a:xfrm>
            <a:off x="1161360" y="3639240"/>
            <a:ext cx="173592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100" spc="-1" strike="noStrike">
                <a:solidFill>
                  <a:srgbClr val="232b24"/>
                </a:solidFill>
                <a:latin typeface="Aptos"/>
                <a:ea typeface="DejaVu Sans"/>
              </a:rPr>
              <a:t>Base relationnelle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34"/>
          <p:cNvSpPr/>
          <p:nvPr/>
        </p:nvSpPr>
        <p:spPr>
          <a:xfrm>
            <a:off x="685800" y="4224600"/>
            <a:ext cx="221148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5a665c"/>
                </a:solidFill>
                <a:latin typeface="Aptos"/>
                <a:ea typeface="DejaVu Sans"/>
              </a:rPr>
              <a:t>MCD → MLD → MPD, MySQL, création des migrations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Box 35"/>
          <p:cNvSpPr/>
          <p:nvPr/>
        </p:nvSpPr>
        <p:spPr>
          <a:xfrm>
            <a:off x="685800" y="4919400"/>
            <a:ext cx="22114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e08e2c"/>
                </a:solidFill>
                <a:latin typeface="Aptos"/>
                <a:ea typeface="DejaVu Sans"/>
              </a:rPr>
              <a:t>Preuve à présenter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Rounded Rectangle 36"/>
          <p:cNvSpPr/>
          <p:nvPr/>
        </p:nvSpPr>
        <p:spPr>
          <a:xfrm>
            <a:off x="3383280" y="3474720"/>
            <a:ext cx="2604600" cy="187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Oval 37"/>
          <p:cNvSpPr/>
          <p:nvPr/>
        </p:nvSpPr>
        <p:spPr>
          <a:xfrm>
            <a:off x="3547800" y="3639240"/>
            <a:ext cx="382680" cy="382680"/>
          </a:xfrm>
          <a:prstGeom prst="ellipse">
            <a:avLst/>
          </a:prstGeom>
          <a:solidFill>
            <a:srgbClr val="267837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TextBox 38"/>
          <p:cNvSpPr/>
          <p:nvPr/>
        </p:nvSpPr>
        <p:spPr>
          <a:xfrm>
            <a:off x="3547800" y="3717000"/>
            <a:ext cx="3826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6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Box 39"/>
          <p:cNvSpPr/>
          <p:nvPr/>
        </p:nvSpPr>
        <p:spPr>
          <a:xfrm>
            <a:off x="4041720" y="3639240"/>
            <a:ext cx="173592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100" spc="-1" strike="noStrike">
                <a:solidFill>
                  <a:srgbClr val="232b24"/>
                </a:solidFill>
                <a:latin typeface="Aptos"/>
                <a:ea typeface="DejaVu Sans"/>
              </a:rPr>
              <a:t>Accès aux données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40"/>
          <p:cNvSpPr/>
          <p:nvPr/>
        </p:nvSpPr>
        <p:spPr>
          <a:xfrm>
            <a:off x="3566160" y="4224600"/>
            <a:ext cx="221148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5a665c"/>
                </a:solidFill>
                <a:latin typeface="Aptos"/>
                <a:ea typeface="DejaVu Sans"/>
              </a:rPr>
              <a:t>Doctrine ORM, Entity, Repository Validator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Box 41"/>
          <p:cNvSpPr/>
          <p:nvPr/>
        </p:nvSpPr>
        <p:spPr>
          <a:xfrm>
            <a:off x="3566160" y="4919400"/>
            <a:ext cx="22114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e08e2c"/>
                </a:solidFill>
                <a:latin typeface="Aptos"/>
                <a:ea typeface="DejaVu Sans"/>
              </a:rPr>
              <a:t>Preuve à présenter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Rounded Rectangle 42"/>
          <p:cNvSpPr/>
          <p:nvPr/>
        </p:nvSpPr>
        <p:spPr>
          <a:xfrm>
            <a:off x="6263640" y="3474720"/>
            <a:ext cx="2604600" cy="187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Oval 43"/>
          <p:cNvSpPr/>
          <p:nvPr/>
        </p:nvSpPr>
        <p:spPr>
          <a:xfrm>
            <a:off x="6428160" y="3639240"/>
            <a:ext cx="382680" cy="382680"/>
          </a:xfrm>
          <a:prstGeom prst="ellipse">
            <a:avLst/>
          </a:prstGeom>
          <a:solidFill>
            <a:srgbClr val="267837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TextBox 44"/>
          <p:cNvSpPr/>
          <p:nvPr/>
        </p:nvSpPr>
        <p:spPr>
          <a:xfrm>
            <a:off x="6428160" y="3717000"/>
            <a:ext cx="3826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7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Box 45"/>
          <p:cNvSpPr/>
          <p:nvPr/>
        </p:nvSpPr>
        <p:spPr>
          <a:xfrm>
            <a:off x="6922080" y="3639240"/>
            <a:ext cx="173592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100" spc="-1" strike="noStrike">
                <a:solidFill>
                  <a:srgbClr val="232b24"/>
                </a:solidFill>
                <a:latin typeface="Aptos"/>
                <a:ea typeface="DejaVu Sans"/>
              </a:rPr>
              <a:t>Métier serveur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Box 46"/>
          <p:cNvSpPr/>
          <p:nvPr/>
        </p:nvSpPr>
        <p:spPr>
          <a:xfrm>
            <a:off x="6446520" y="4224600"/>
            <a:ext cx="221148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5a665c"/>
                </a:solidFill>
                <a:latin typeface="Aptos"/>
                <a:ea typeface="DejaVu Sans"/>
              </a:rPr>
              <a:t>Contrôleurs, service métier, </a:t>
            </a:r>
            <a:r>
              <a:rPr b="0" lang="fr-FR" sz="1000" spc="-1" strike="noStrike">
                <a:solidFill>
                  <a:srgbClr val="5a665c"/>
                </a:solidFill>
                <a:latin typeface="Aptos"/>
                <a:ea typeface="DejaVu Sans"/>
              </a:rPr>
              <a:t> sécurité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Box 47"/>
          <p:cNvSpPr/>
          <p:nvPr/>
        </p:nvSpPr>
        <p:spPr>
          <a:xfrm>
            <a:off x="6446520" y="4919400"/>
            <a:ext cx="22114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e08e2c"/>
                </a:solidFill>
                <a:latin typeface="Aptos"/>
                <a:ea typeface="DejaVu Sans"/>
              </a:rPr>
              <a:t>Preuve à présenter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Rounded Rectangle 48"/>
          <p:cNvSpPr/>
          <p:nvPr/>
        </p:nvSpPr>
        <p:spPr>
          <a:xfrm>
            <a:off x="9144000" y="3474720"/>
            <a:ext cx="2604600" cy="187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Oval 49"/>
          <p:cNvSpPr/>
          <p:nvPr/>
        </p:nvSpPr>
        <p:spPr>
          <a:xfrm>
            <a:off x="9308520" y="3639240"/>
            <a:ext cx="382680" cy="382680"/>
          </a:xfrm>
          <a:prstGeom prst="ellipse">
            <a:avLst/>
          </a:prstGeom>
          <a:solidFill>
            <a:srgbClr val="267837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TextBox 50"/>
          <p:cNvSpPr/>
          <p:nvPr/>
        </p:nvSpPr>
        <p:spPr>
          <a:xfrm>
            <a:off x="9308520" y="3717000"/>
            <a:ext cx="3826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8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Box 51"/>
          <p:cNvSpPr/>
          <p:nvPr/>
        </p:nvSpPr>
        <p:spPr>
          <a:xfrm>
            <a:off x="9802440" y="3639240"/>
            <a:ext cx="173592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100" spc="-1" strike="noStrike">
                <a:solidFill>
                  <a:srgbClr val="232b24"/>
                </a:solidFill>
                <a:latin typeface="Aptos"/>
                <a:ea typeface="DejaVu Sans"/>
              </a:rPr>
              <a:t>Déploiement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52"/>
          <p:cNvSpPr/>
          <p:nvPr/>
        </p:nvSpPr>
        <p:spPr>
          <a:xfrm>
            <a:off x="9326880" y="4224600"/>
            <a:ext cx="221148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5a665c"/>
                </a:solidFill>
                <a:latin typeface="Aptos"/>
                <a:ea typeface="DejaVu Sans"/>
              </a:rPr>
              <a:t>Docker, variables d’environnement, migrations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Box 53"/>
          <p:cNvSpPr/>
          <p:nvPr/>
        </p:nvSpPr>
        <p:spPr>
          <a:xfrm>
            <a:off x="9326880" y="4919400"/>
            <a:ext cx="22114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e08e2c"/>
                </a:solidFill>
                <a:latin typeface="Aptos"/>
                <a:ea typeface="DejaVu Sans"/>
              </a:rPr>
              <a:t>Preuve à présenter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f5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hape 3"/>
          <p:cNvSpPr/>
          <p:nvPr/>
        </p:nvSpPr>
        <p:spPr>
          <a:xfrm>
            <a:off x="9418320" y="-1463040"/>
            <a:ext cx="4204080" cy="4204080"/>
          </a:xfrm>
          <a:prstGeom prst="ellipse">
            <a:avLst/>
          </a:prstGeom>
          <a:solidFill>
            <a:srgbClr val="2e7f32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0" name="Shape 9"/>
          <p:cNvSpPr/>
          <p:nvPr/>
        </p:nvSpPr>
        <p:spPr>
          <a:xfrm>
            <a:off x="10607040" y="-548640"/>
            <a:ext cx="2741040" cy="2741040"/>
          </a:xfrm>
          <a:prstGeom prst="ellipse">
            <a:avLst/>
          </a:prstGeom>
          <a:solidFill>
            <a:srgbClr val="2e7f32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1" name="Text 20"/>
          <p:cNvSpPr/>
          <p:nvPr/>
        </p:nvSpPr>
        <p:spPr>
          <a:xfrm>
            <a:off x="640080" y="233172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1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26"/>
          <p:cNvSpPr/>
          <p:nvPr/>
        </p:nvSpPr>
        <p:spPr>
          <a:xfrm>
            <a:off x="594360" y="2788920"/>
            <a:ext cx="914184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Concevoir le projet</a:t>
            </a:r>
            <a:endParaRPr b="0" lang="fr-FR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27"/>
          <p:cNvSpPr/>
          <p:nvPr/>
        </p:nvSpPr>
        <p:spPr>
          <a:xfrm>
            <a:off x="640080" y="3703320"/>
            <a:ext cx="8227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cfe6cf"/>
                </a:solidFill>
                <a:latin typeface="Calibri"/>
                <a:ea typeface="Calibri"/>
              </a:rPr>
              <a:t>Analyse fonctionnelle, méthode agile, conception Merise, maquettage et stack technique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 28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0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6" name="Text 1"/>
          <p:cNvSpPr/>
          <p:nvPr/>
        </p:nvSpPr>
        <p:spPr>
          <a:xfrm>
            <a:off x="502920" y="38016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Analyse fonctionnelle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2"/>
          <p:cNvSpPr/>
          <p:nvPr/>
        </p:nvSpPr>
        <p:spPr>
          <a:xfrm>
            <a:off x="5002920" y="695880"/>
            <a:ext cx="579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Personas, besoins utilisateurs et rôle administrateur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AU FIL DES SAISONS  •  DWWM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0" name="Shape 5"/>
          <p:cNvSpPr/>
          <p:nvPr/>
        </p:nvSpPr>
        <p:spPr>
          <a:xfrm>
            <a:off x="1042920" y="1371600"/>
            <a:ext cx="2622960" cy="3128400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1" name="Shape 6"/>
          <p:cNvSpPr/>
          <p:nvPr/>
        </p:nvSpPr>
        <p:spPr>
          <a:xfrm>
            <a:off x="1042920" y="1371600"/>
            <a:ext cx="2622960" cy="500760"/>
          </a:xfrm>
          <a:prstGeom prst="roundRect">
            <a:avLst>
              <a:gd name="adj" fmla="val 18182"/>
            </a:avLst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2" name="Shape 7"/>
          <p:cNvSpPr/>
          <p:nvPr/>
        </p:nvSpPr>
        <p:spPr>
          <a:xfrm>
            <a:off x="1042920" y="1645920"/>
            <a:ext cx="2622960" cy="22644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3" name="Text 8"/>
          <p:cNvSpPr/>
          <p:nvPr/>
        </p:nvSpPr>
        <p:spPr>
          <a:xfrm>
            <a:off x="1207440" y="1371600"/>
            <a:ext cx="22935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Sophie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9"/>
          <p:cNvSpPr/>
          <p:nvPr/>
        </p:nvSpPr>
        <p:spPr>
          <a:xfrm>
            <a:off x="1207440" y="1993320"/>
            <a:ext cx="2293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5c6b5e"/>
                </a:solidFill>
                <a:latin typeface="Calibri"/>
                <a:ea typeface="Calibri"/>
              </a:rPr>
              <a:t>34 ans · Enseignante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10"/>
          <p:cNvSpPr/>
          <p:nvPr/>
        </p:nvSpPr>
        <p:spPr>
          <a:xfrm>
            <a:off x="1207440" y="2395800"/>
            <a:ext cx="2293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e7f32"/>
                </a:solidFill>
                <a:latin typeface="Calibri"/>
                <a:ea typeface="Calibri"/>
              </a:rPr>
              <a:t>Objectifs :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 11"/>
          <p:cNvSpPr/>
          <p:nvPr/>
        </p:nvSpPr>
        <p:spPr>
          <a:xfrm>
            <a:off x="1207440" y="2670120"/>
            <a:ext cx="2293560" cy="13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0301f"/>
                </a:solidFill>
                <a:latin typeface="Calibri"/>
                <a:ea typeface="Calibri"/>
              </a:rPr>
              <a:t>Préparer des repas équilibrés et trouver des recettes simples.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0301f"/>
                </a:solidFill>
                <a:latin typeface="Calibri"/>
                <a:ea typeface="Calibri"/>
              </a:rPr>
              <a:t>Manque de temps ne sait jamais quels fruits ou légumes acheter.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0301f"/>
                </a:solidFill>
                <a:latin typeface="Calibri"/>
                <a:ea typeface="Calibri"/>
              </a:rPr>
              <a:t>Des recettes simples , un système de favoris, une interface claire qu’elle peut consulter rapidement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12"/>
          <p:cNvSpPr/>
          <p:nvPr/>
        </p:nvSpPr>
        <p:spPr>
          <a:xfrm>
            <a:off x="4716000" y="1371600"/>
            <a:ext cx="2622960" cy="3128400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8" name="Shape 13"/>
          <p:cNvSpPr/>
          <p:nvPr/>
        </p:nvSpPr>
        <p:spPr>
          <a:xfrm>
            <a:off x="4724640" y="1371600"/>
            <a:ext cx="2622960" cy="500760"/>
          </a:xfrm>
          <a:prstGeom prst="roundRect">
            <a:avLst>
              <a:gd name="adj" fmla="val 18182"/>
            </a:avLst>
          </a:prstGeom>
          <a:solidFill>
            <a:srgbClr val="d982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9" name="Shape 14"/>
          <p:cNvSpPr/>
          <p:nvPr/>
        </p:nvSpPr>
        <p:spPr>
          <a:xfrm>
            <a:off x="4724640" y="1645920"/>
            <a:ext cx="2622960" cy="226440"/>
          </a:xfrm>
          <a:prstGeom prst="rect">
            <a:avLst/>
          </a:prstGeom>
          <a:solidFill>
            <a:srgbClr val="d982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0" name="Text 15"/>
          <p:cNvSpPr/>
          <p:nvPr/>
        </p:nvSpPr>
        <p:spPr>
          <a:xfrm>
            <a:off x="4817160" y="1371600"/>
            <a:ext cx="22935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Lucas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16"/>
          <p:cNvSpPr/>
          <p:nvPr/>
        </p:nvSpPr>
        <p:spPr>
          <a:xfrm>
            <a:off x="4817160" y="1993320"/>
            <a:ext cx="2293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5c6b5e"/>
                </a:solidFill>
                <a:latin typeface="Calibri"/>
                <a:ea typeface="Calibri"/>
              </a:rPr>
              <a:t>22 ans · Étudiant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17"/>
          <p:cNvSpPr/>
          <p:nvPr/>
        </p:nvSpPr>
        <p:spPr>
          <a:xfrm>
            <a:off x="4817160" y="2395800"/>
            <a:ext cx="2293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d9822b"/>
                </a:solidFill>
                <a:latin typeface="Calibri"/>
                <a:ea typeface="Calibri"/>
              </a:rPr>
              <a:t>Objectifs :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18"/>
          <p:cNvSpPr/>
          <p:nvPr/>
        </p:nvSpPr>
        <p:spPr>
          <a:xfrm>
            <a:off x="4817160" y="2634120"/>
            <a:ext cx="2293560" cy="13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0301f"/>
                </a:solidFill>
                <a:latin typeface="Calibri"/>
                <a:ea typeface="Calibri"/>
              </a:rPr>
              <a:t>Trouver des recettes simples et </a:t>
            </a:r>
            <a:r>
              <a:rPr b="0" lang="en-US" sz="1100" spc="-1" strike="noStrike">
                <a:solidFill>
                  <a:srgbClr val="20301f"/>
                </a:solidFill>
                <a:latin typeface="Calibri"/>
                <a:ea typeface="Calibri"/>
              </a:rPr>
              <a:t>économiques.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0301f"/>
                </a:solidFill>
                <a:latin typeface="Calibri"/>
                <a:ea typeface="Calibri"/>
              </a:rPr>
              <a:t>A des difficultés à retrouver ses </a:t>
            </a:r>
            <a:r>
              <a:rPr b="0" lang="en-US" sz="1100" spc="-1" strike="noStrike">
                <a:solidFill>
                  <a:srgbClr val="20301f"/>
                </a:solidFill>
                <a:latin typeface="Calibri"/>
                <a:ea typeface="Calibri"/>
              </a:rPr>
              <a:t>recettes. Il regrette le manque de </a:t>
            </a:r>
            <a:r>
              <a:rPr b="0" lang="en-US" sz="1100" spc="-1" strike="noStrike">
                <a:solidFill>
                  <a:srgbClr val="20301f"/>
                </a:solidFill>
                <a:latin typeface="Calibri"/>
                <a:ea typeface="Calibri"/>
              </a:rPr>
              <a:t>de retours de la communauté.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0301f"/>
                </a:solidFill>
                <a:latin typeface="Calibri"/>
                <a:ea typeface="Calibri"/>
              </a:rPr>
              <a:t>Consulter des recettes,  les </a:t>
            </a:r>
            <a:r>
              <a:rPr b="0" lang="en-US" sz="1100" spc="-1" strike="noStrike">
                <a:solidFill>
                  <a:srgbClr val="20301f"/>
                </a:solidFill>
                <a:latin typeface="Calibri"/>
                <a:ea typeface="Calibri"/>
              </a:rPr>
              <a:t>enregistrer dans ses favoris.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19"/>
          <p:cNvSpPr/>
          <p:nvPr/>
        </p:nvSpPr>
        <p:spPr>
          <a:xfrm>
            <a:off x="8352000" y="1371600"/>
            <a:ext cx="2622960" cy="3128400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5" name="Shape 20"/>
          <p:cNvSpPr/>
          <p:nvPr/>
        </p:nvSpPr>
        <p:spPr>
          <a:xfrm>
            <a:off x="8370000" y="1371600"/>
            <a:ext cx="2622960" cy="500760"/>
          </a:xfrm>
          <a:prstGeom prst="roundRect">
            <a:avLst>
              <a:gd name="adj" fmla="val 18182"/>
            </a:avLst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6" name="Shape 21"/>
          <p:cNvSpPr/>
          <p:nvPr/>
        </p:nvSpPr>
        <p:spPr>
          <a:xfrm>
            <a:off x="8370000" y="1645920"/>
            <a:ext cx="2622960" cy="22644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7" name="Text 22"/>
          <p:cNvSpPr/>
          <p:nvPr/>
        </p:nvSpPr>
        <p:spPr>
          <a:xfrm>
            <a:off x="8534880" y="1371600"/>
            <a:ext cx="22935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Claire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 23"/>
          <p:cNvSpPr/>
          <p:nvPr/>
        </p:nvSpPr>
        <p:spPr>
          <a:xfrm>
            <a:off x="8642880" y="1993320"/>
            <a:ext cx="2293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5c6b5e"/>
                </a:solidFill>
                <a:latin typeface="Calibri"/>
                <a:ea typeface="Calibri"/>
              </a:rPr>
              <a:t>58 ans · Retaitée - Passionnée de cuisine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 24"/>
          <p:cNvSpPr/>
          <p:nvPr/>
        </p:nvSpPr>
        <p:spPr>
          <a:xfrm>
            <a:off x="8642880" y="2395800"/>
            <a:ext cx="2293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e7f32"/>
                </a:solidFill>
                <a:latin typeface="Calibri"/>
                <a:ea typeface="Calibri"/>
              </a:rPr>
              <a:t>Objectifs :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25"/>
          <p:cNvSpPr/>
          <p:nvPr/>
        </p:nvSpPr>
        <p:spPr>
          <a:xfrm>
            <a:off x="8642880" y="2670120"/>
            <a:ext cx="2293560" cy="13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0301f"/>
                </a:solidFill>
                <a:latin typeface="Calibri"/>
                <a:ea typeface="Calibri"/>
              </a:rPr>
              <a:t>Privilégie les marchés locaux; connaître les produits de saison.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0301f"/>
                </a:solidFill>
                <a:latin typeface="Calibri"/>
                <a:ea typeface="Calibri"/>
              </a:rPr>
              <a:t>Elle se sent perdu face à des interfaces trop chargés, sans repère de saison.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0301f"/>
                </a:solidFill>
                <a:latin typeface="Calibri"/>
                <a:ea typeface="Calibri"/>
              </a:rPr>
              <a:t>Apprécie les applications simples et lisibles.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33"/>
          <p:cNvSpPr/>
          <p:nvPr/>
        </p:nvSpPr>
        <p:spPr>
          <a:xfrm>
            <a:off x="502920" y="4814280"/>
            <a:ext cx="3543480" cy="159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2" name="Text 34"/>
          <p:cNvSpPr/>
          <p:nvPr/>
        </p:nvSpPr>
        <p:spPr>
          <a:xfrm>
            <a:off x="758880" y="499824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Visiteur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 35"/>
          <p:cNvSpPr/>
          <p:nvPr/>
        </p:nvSpPr>
        <p:spPr>
          <a:xfrm>
            <a:off x="758880" y="5365800"/>
            <a:ext cx="303156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Consulte les produits de saison, leurs fiches et les suggestions adaptées à la météo. L’inscription est nécessaire pour accéder aux recettes.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36"/>
          <p:cNvSpPr/>
          <p:nvPr/>
        </p:nvSpPr>
        <p:spPr>
          <a:xfrm>
            <a:off x="4322880" y="4814280"/>
            <a:ext cx="3543480" cy="159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5" name="Text 37"/>
          <p:cNvSpPr/>
          <p:nvPr/>
        </p:nvSpPr>
        <p:spPr>
          <a:xfrm>
            <a:off x="4578840" y="499824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Utilisateur connecté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 38"/>
          <p:cNvSpPr/>
          <p:nvPr/>
        </p:nvSpPr>
        <p:spPr>
          <a:xfrm>
            <a:off x="4578840" y="5365800"/>
            <a:ext cx="303156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Accède aux recettes, crée ses propres recettes et peut choisir leur visibilité. Il peut également noter sur 5 et commenter les recettes publiées.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39"/>
          <p:cNvSpPr/>
          <p:nvPr/>
        </p:nvSpPr>
        <p:spPr>
          <a:xfrm>
            <a:off x="8143200" y="4814280"/>
            <a:ext cx="3543480" cy="159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8" name="Text 40"/>
          <p:cNvSpPr/>
          <p:nvPr/>
        </p:nvSpPr>
        <p:spPr>
          <a:xfrm>
            <a:off x="8399160" y="499824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Administrateur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 41"/>
          <p:cNvSpPr/>
          <p:nvPr/>
        </p:nvSpPr>
        <p:spPr>
          <a:xfrm>
            <a:off x="8399160" y="5365800"/>
            <a:ext cx="3031560" cy="60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Gère les produits et les recettes, modère les contenus et peut désactiver un compte utilisateur en cas de comportement inapproprié.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 33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1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 111"/>
          <p:cNvSpPr/>
          <p:nvPr/>
        </p:nvSpPr>
        <p:spPr>
          <a:xfrm>
            <a:off x="1205280" y="3043800"/>
            <a:ext cx="2293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e7f32"/>
                </a:solidFill>
                <a:latin typeface="Calibri"/>
                <a:ea typeface="Calibri"/>
              </a:rPr>
              <a:t>Frustrations :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112"/>
          <p:cNvSpPr/>
          <p:nvPr/>
        </p:nvSpPr>
        <p:spPr>
          <a:xfrm>
            <a:off x="1205280" y="3619800"/>
            <a:ext cx="2293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e7f32"/>
                </a:solidFill>
                <a:latin typeface="Calibri"/>
                <a:ea typeface="Calibri"/>
              </a:rPr>
              <a:t>Attentes :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 29"/>
          <p:cNvSpPr/>
          <p:nvPr/>
        </p:nvSpPr>
        <p:spPr>
          <a:xfrm>
            <a:off x="4815000" y="3007800"/>
            <a:ext cx="2293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d9822b"/>
                </a:solidFill>
                <a:latin typeface="Calibri"/>
                <a:ea typeface="Calibri"/>
              </a:rPr>
              <a:t>Frustrations :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30"/>
          <p:cNvSpPr/>
          <p:nvPr/>
        </p:nvSpPr>
        <p:spPr>
          <a:xfrm>
            <a:off x="4812840" y="3799800"/>
            <a:ext cx="2293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d9822b"/>
                </a:solidFill>
                <a:latin typeface="Calibri"/>
                <a:ea typeface="Calibri"/>
              </a:rPr>
              <a:t>Attentes :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31"/>
          <p:cNvSpPr/>
          <p:nvPr/>
        </p:nvSpPr>
        <p:spPr>
          <a:xfrm>
            <a:off x="8640720" y="3079800"/>
            <a:ext cx="2293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e7f32"/>
                </a:solidFill>
                <a:latin typeface="Calibri"/>
                <a:ea typeface="Calibri"/>
              </a:rPr>
              <a:t>Frustrations :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32"/>
          <p:cNvSpPr/>
          <p:nvPr/>
        </p:nvSpPr>
        <p:spPr>
          <a:xfrm>
            <a:off x="8638560" y="3799800"/>
            <a:ext cx="2293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e7f32"/>
                </a:solidFill>
                <a:latin typeface="Calibri"/>
                <a:ea typeface="Calibri"/>
              </a:rPr>
              <a:t>Attentes :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 1"/>
          <p:cNvSpPr/>
          <p:nvPr/>
        </p:nvSpPr>
        <p:spPr>
          <a:xfrm>
            <a:off x="502920" y="12816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8" name="Text 2"/>
          <p:cNvSpPr/>
          <p:nvPr/>
        </p:nvSpPr>
        <p:spPr>
          <a:xfrm>
            <a:off x="502920" y="839880"/>
            <a:ext cx="107989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9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AU FIL DES SAISONS  •  DWWM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1" name="Shape 5"/>
          <p:cNvSpPr/>
          <p:nvPr/>
        </p:nvSpPr>
        <p:spPr>
          <a:xfrm>
            <a:off x="50292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2" name="Shape 6"/>
          <p:cNvSpPr/>
          <p:nvPr/>
        </p:nvSpPr>
        <p:spPr>
          <a:xfrm>
            <a:off x="758880" y="1673280"/>
            <a:ext cx="381960" cy="381960"/>
          </a:xfrm>
          <a:prstGeom prst="ellipse">
            <a:avLst/>
          </a:prstGeom>
          <a:solidFill>
            <a:srgbClr val="2e7f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3" name="Text 7"/>
          <p:cNvSpPr/>
          <p:nvPr/>
        </p:nvSpPr>
        <p:spPr>
          <a:xfrm>
            <a:off x="758880" y="167328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 8"/>
          <p:cNvSpPr/>
          <p:nvPr/>
        </p:nvSpPr>
        <p:spPr>
          <a:xfrm>
            <a:off x="758880" y="2240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Besoins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9"/>
          <p:cNvSpPr/>
          <p:nvPr/>
        </p:nvSpPr>
        <p:spPr>
          <a:xfrm>
            <a:off x="758880" y="2715840"/>
            <a:ext cx="3031560" cy="279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just"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Identification des besoins à partir de personas, puis traduction des fonctionnalités en Epics et User Stories.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10"/>
          <p:cNvSpPr/>
          <p:nvPr/>
        </p:nvSpPr>
        <p:spPr>
          <a:xfrm>
            <a:off x="432288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7" name="Shape 11"/>
          <p:cNvSpPr/>
          <p:nvPr/>
        </p:nvSpPr>
        <p:spPr>
          <a:xfrm>
            <a:off x="4578840" y="1673280"/>
            <a:ext cx="381960" cy="381960"/>
          </a:xfrm>
          <a:prstGeom prst="ellipse">
            <a:avLst/>
          </a:prstGeom>
          <a:solidFill>
            <a:srgbClr val="2e7f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8" name="Text 12"/>
          <p:cNvSpPr/>
          <p:nvPr/>
        </p:nvSpPr>
        <p:spPr>
          <a:xfrm>
            <a:off x="4578840" y="167328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13"/>
          <p:cNvSpPr/>
          <p:nvPr/>
        </p:nvSpPr>
        <p:spPr>
          <a:xfrm>
            <a:off x="4578840" y="2240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Organisation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14"/>
          <p:cNvSpPr/>
          <p:nvPr/>
        </p:nvSpPr>
        <p:spPr>
          <a:xfrm>
            <a:off x="4578840" y="2715840"/>
            <a:ext cx="3031560" cy="279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just"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Organisation du backlog dans GitHub Projects avec Issues, Subissues, labels et priorités. Développement réparti en différentes étapes (sprint).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15"/>
          <p:cNvSpPr/>
          <p:nvPr/>
        </p:nvSpPr>
        <p:spPr>
          <a:xfrm>
            <a:off x="797508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2" name="Shape 16"/>
          <p:cNvSpPr/>
          <p:nvPr/>
        </p:nvSpPr>
        <p:spPr>
          <a:xfrm>
            <a:off x="8399160" y="1673280"/>
            <a:ext cx="381960" cy="381960"/>
          </a:xfrm>
          <a:prstGeom prst="ellipse">
            <a:avLst/>
          </a:prstGeom>
          <a:solidFill>
            <a:srgbClr val="2e7f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3" name="Text 17"/>
          <p:cNvSpPr/>
          <p:nvPr/>
        </p:nvSpPr>
        <p:spPr>
          <a:xfrm>
            <a:off x="8399160" y="167328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18"/>
          <p:cNvSpPr/>
          <p:nvPr/>
        </p:nvSpPr>
        <p:spPr>
          <a:xfrm>
            <a:off x="8399160" y="2240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MVP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19"/>
          <p:cNvSpPr/>
          <p:nvPr/>
        </p:nvSpPr>
        <p:spPr>
          <a:xfrm>
            <a:off x="8399160" y="2715840"/>
            <a:ext cx="3031560" cy="279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just"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Définition des fonctionnalités indispensables pour obtenir une première version fonctionnelle : produits de saison, recettes, authentification, profil utilisateur et météo.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hape 20"/>
          <p:cNvSpPr/>
          <p:nvPr/>
        </p:nvSpPr>
        <p:spPr>
          <a:xfrm>
            <a:off x="502920" y="594360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7" name="Text 21"/>
          <p:cNvSpPr/>
          <p:nvPr/>
        </p:nvSpPr>
        <p:spPr>
          <a:xfrm>
            <a:off x="777240" y="594360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Le développement a été réalisé progressivement, fonctionnalité par fonctionnalité, en suivant les priorités du projet.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56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9" name="Shape 2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70" name="Text 54"/>
          <p:cNvSpPr/>
          <p:nvPr/>
        </p:nvSpPr>
        <p:spPr>
          <a:xfrm>
            <a:off x="502920" y="38016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Organisation Agile du projet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 55"/>
          <p:cNvSpPr/>
          <p:nvPr/>
        </p:nvSpPr>
        <p:spPr>
          <a:xfrm>
            <a:off x="6370920" y="695880"/>
            <a:ext cx="579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Du besoin utilisateur au MVP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 124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1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Shape 34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74" name="Text 49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1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60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Architecture de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Rounded Rectangle 64"/>
          <p:cNvSpPr/>
          <p:nvPr/>
        </p:nvSpPr>
        <p:spPr>
          <a:xfrm>
            <a:off x="5112000" y="2772000"/>
            <a:ext cx="6479280" cy="359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Visiteur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Accueil → Saison → Produits →Fiche produit → Connexion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Utilisateur connecté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Accueil → Saison → Produits → Recette → Profil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Administrateur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Connexion → Administration → Produits / Recettes / Utilisateurs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Rounded Rectangle 65"/>
          <p:cNvSpPr/>
          <p:nvPr/>
        </p:nvSpPr>
        <p:spPr>
          <a:xfrm>
            <a:off x="5032440" y="1336680"/>
            <a:ext cx="6522840" cy="1146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78" name="TextBox 65"/>
          <p:cNvSpPr/>
          <p:nvPr/>
        </p:nvSpPr>
        <p:spPr>
          <a:xfrm>
            <a:off x="7674840" y="1473840"/>
            <a:ext cx="10353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1d6332"/>
                </a:solidFill>
                <a:latin typeface="Arial"/>
                <a:ea typeface="DejaVu Sans"/>
              </a:rPr>
              <a:t>Parcours UI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Box 66"/>
          <p:cNvSpPr/>
          <p:nvPr/>
        </p:nvSpPr>
        <p:spPr>
          <a:xfrm>
            <a:off x="5903280" y="1699560"/>
            <a:ext cx="482616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700"/>
              </a:spcAft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  <a:ea typeface="DejaVu Sans"/>
              </a:rPr>
              <a:t>Navigation : accueil → saison → produit → recette → profil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61"/>
          <p:cNvSpPr/>
          <p:nvPr/>
        </p:nvSpPr>
        <p:spPr>
          <a:xfrm>
            <a:off x="6044040" y="695880"/>
            <a:ext cx="403524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Parcours visiteur, utilisateur et administrateur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1" name="" descr=""/>
          <p:cNvPicPr/>
          <p:nvPr/>
        </p:nvPicPr>
        <p:blipFill>
          <a:blip r:embed="rId1"/>
          <a:stretch/>
        </p:blipFill>
        <p:spPr>
          <a:xfrm>
            <a:off x="360000" y="1260000"/>
            <a:ext cx="4358160" cy="5220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Rounded Rectangle 132"/>
          <p:cNvSpPr/>
          <p:nvPr/>
        </p:nvSpPr>
        <p:spPr>
          <a:xfrm>
            <a:off x="180000" y="2592000"/>
            <a:ext cx="5579640" cy="3455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83" name="Shape 32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84" name="Text 59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1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 57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Conception des données — Merise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6" name="" descr=""/>
          <p:cNvPicPr/>
          <p:nvPr/>
        </p:nvPicPr>
        <p:blipFill>
          <a:blip r:embed="rId1"/>
          <a:stretch/>
        </p:blipFill>
        <p:spPr>
          <a:xfrm>
            <a:off x="548280" y="3143160"/>
            <a:ext cx="4901040" cy="2192400"/>
          </a:xfrm>
          <a:prstGeom prst="rect">
            <a:avLst/>
          </a:prstGeom>
          <a:ln w="0">
            <a:noFill/>
          </a:ln>
        </p:spPr>
      </p:pic>
      <p:sp>
        <p:nvSpPr>
          <p:cNvPr id="187" name="Text 104"/>
          <p:cNvSpPr/>
          <p:nvPr/>
        </p:nvSpPr>
        <p:spPr>
          <a:xfrm>
            <a:off x="7522920" y="695880"/>
            <a:ext cx="38167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Entités principales et relations métier (MCD, MLD)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Rounded Rectangle 60"/>
          <p:cNvSpPr/>
          <p:nvPr/>
        </p:nvSpPr>
        <p:spPr>
          <a:xfrm>
            <a:off x="5760360" y="2592000"/>
            <a:ext cx="6119280" cy="341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pic>
        <p:nvPicPr>
          <p:cNvPr id="189" name="" descr=""/>
          <p:cNvPicPr/>
          <p:nvPr/>
        </p:nvPicPr>
        <p:blipFill>
          <a:blip r:embed="rId2"/>
          <a:stretch/>
        </p:blipFill>
        <p:spPr>
          <a:xfrm>
            <a:off x="6584040" y="2660760"/>
            <a:ext cx="4516920" cy="3145320"/>
          </a:xfrm>
          <a:prstGeom prst="rect">
            <a:avLst/>
          </a:prstGeom>
          <a:ln w="0">
            <a:noFill/>
          </a:ln>
        </p:spPr>
      </p:pic>
      <p:sp>
        <p:nvSpPr>
          <p:cNvPr id="190" name="Rounded Rectangle 61"/>
          <p:cNvSpPr/>
          <p:nvPr/>
        </p:nvSpPr>
        <p:spPr>
          <a:xfrm>
            <a:off x="2005200" y="1868760"/>
            <a:ext cx="206244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TextBox 56"/>
          <p:cNvSpPr/>
          <p:nvPr/>
        </p:nvSpPr>
        <p:spPr>
          <a:xfrm>
            <a:off x="1872000" y="1811160"/>
            <a:ext cx="23396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MCD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Tables principales et relations métier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Rounded Rectangle 62"/>
          <p:cNvSpPr/>
          <p:nvPr/>
        </p:nvSpPr>
        <p:spPr>
          <a:xfrm>
            <a:off x="7585200" y="1869120"/>
            <a:ext cx="220644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TextBox 64"/>
          <p:cNvSpPr/>
          <p:nvPr/>
        </p:nvSpPr>
        <p:spPr>
          <a:xfrm>
            <a:off x="7524000" y="1847520"/>
            <a:ext cx="23396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MLD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Tables principales et tables de jonction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hape 18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95" name="Text 36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1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 39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Conception des données — Merise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Rounded Rectangle 2"/>
          <p:cNvSpPr/>
          <p:nvPr/>
        </p:nvSpPr>
        <p:spPr>
          <a:xfrm>
            <a:off x="1044000" y="1800000"/>
            <a:ext cx="4319280" cy="4517280"/>
          </a:xfrm>
          <a:prstGeom prst="roundRect">
            <a:avLst>
              <a:gd name="adj" fmla="val 16667"/>
            </a:avLst>
          </a:prstGeom>
          <a:solidFill>
            <a:srgbClr val="1c1c1c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35000"/>
              </a:lnSpc>
              <a:spcBef>
                <a:spcPts val="1001"/>
              </a:spcBef>
              <a:spcAft>
                <a:spcPts val="300"/>
              </a:spcAft>
            </a:pP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RECETTE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35000"/>
              </a:lnSpc>
              <a:spcBef>
                <a:spcPts val="1001"/>
              </a:spcBef>
              <a:spcAft>
                <a:spcPts val="300"/>
              </a:spcAft>
            </a:pP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INT id PK AUTO_INCREMENT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35000"/>
              </a:lnSpc>
              <a:spcBef>
                <a:spcPts val="1001"/>
              </a:spcBef>
              <a:spcAft>
                <a:spcPts val="300"/>
              </a:spcAft>
            </a:pP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VARCHAR(150) titre NOT NULL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35000"/>
              </a:lnSpc>
              <a:spcBef>
                <a:spcPts val="1001"/>
              </a:spcBef>
              <a:spcAft>
                <a:spcPts val="300"/>
              </a:spcAft>
            </a:pP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VARCHAR(255) photo NULL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35000"/>
              </a:lnSpc>
              <a:spcBef>
                <a:spcPts val="1001"/>
              </a:spcBef>
              <a:spcAft>
                <a:spcPts val="300"/>
              </a:spcAft>
            </a:pP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INT user_id FK NOT NULL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35000"/>
              </a:lnSpc>
              <a:spcBef>
                <a:spcPts val="1001"/>
              </a:spcBef>
              <a:spcAft>
                <a:spcPts val="300"/>
              </a:spcAft>
            </a:pP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INT nbr_person NOT NULL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35000"/>
              </a:lnSpc>
              <a:spcBef>
                <a:spcPts val="1001"/>
              </a:spcBef>
              <a:spcAft>
                <a:spcPts val="300"/>
              </a:spcAft>
            </a:pP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TEXT ingredient NOT NULL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35000"/>
              </a:lnSpc>
              <a:spcBef>
                <a:spcPts val="1001"/>
              </a:spcBef>
              <a:spcAft>
                <a:spcPts val="300"/>
              </a:spcAft>
            </a:pP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TEXT preparation NOT NULL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35000"/>
              </a:lnSpc>
              <a:spcBef>
                <a:spcPts val="1001"/>
              </a:spcBef>
              <a:spcAft>
                <a:spcPts val="300"/>
              </a:spcAft>
            </a:pP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BOOLEAN is_public NOT NULL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35000"/>
              </a:lnSpc>
              <a:spcBef>
                <a:spcPts val="1001"/>
              </a:spcBef>
              <a:spcAft>
                <a:spcPts val="300"/>
              </a:spcAft>
            </a:pP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Text 106"/>
          <p:cNvSpPr/>
          <p:nvPr/>
        </p:nvSpPr>
        <p:spPr>
          <a:xfrm>
            <a:off x="7592040" y="695880"/>
            <a:ext cx="230724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Extrait du MPD / table RECETTE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Box 18"/>
          <p:cNvSpPr/>
          <p:nvPr/>
        </p:nvSpPr>
        <p:spPr>
          <a:xfrm>
            <a:off x="2444400" y="6048000"/>
            <a:ext cx="175176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fr-FR" sz="700" spc="-1" strike="noStrike">
                <a:solidFill>
                  <a:srgbClr val="ffffff"/>
                </a:solidFill>
                <a:latin typeface="Arial"/>
                <a:ea typeface="DejaVu Sans"/>
              </a:rPr>
              <a:t>Fig 1.3 – extrait du MPD / table Recette</a:t>
            </a:r>
            <a:r>
              <a:rPr b="0" lang="fr-FR" sz="700" spc="-1" strike="noStrike">
                <a:solidFill>
                  <a:srgbClr val="1d211d"/>
                </a:solidFill>
                <a:latin typeface="Arial"/>
                <a:ea typeface="DejaVu Sans"/>
              </a:rPr>
              <a:t> 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Rounded Rectangle 3"/>
          <p:cNvSpPr/>
          <p:nvPr/>
        </p:nvSpPr>
        <p:spPr>
          <a:xfrm>
            <a:off x="5760000" y="1944000"/>
            <a:ext cx="3966840" cy="125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INT id PK AUTO_INCREMENT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→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Identifiant unique généré automatiquement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Rounded Rectangle 21"/>
          <p:cNvSpPr/>
          <p:nvPr/>
        </p:nvSpPr>
        <p:spPr>
          <a:xfrm>
            <a:off x="5760000" y="3456000"/>
            <a:ext cx="3966840" cy="125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user_id FK NOT NULL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→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Relie obligatoirement la recette à son auteur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Rounded Rectangle 22"/>
          <p:cNvSpPr/>
          <p:nvPr/>
        </p:nvSpPr>
        <p:spPr>
          <a:xfrm>
            <a:off x="5760000" y="5004360"/>
            <a:ext cx="3966840" cy="125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VARCHAR / INT / TEXT / BOOLEAN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→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Chaque donnée possède un type adapté à son utilisation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Rounded Rectangle 16"/>
          <p:cNvSpPr/>
          <p:nvPr/>
        </p:nvSpPr>
        <p:spPr>
          <a:xfrm>
            <a:off x="8092440" y="1440000"/>
            <a:ext cx="3966840" cy="287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204" name="Shape 25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05" name="Text 44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1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Text 58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Maquettage </a:t>
            </a:r>
            <a:r>
              <a:rPr b="1" lang="en-US" sz="2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 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Rounded Rectangle 5"/>
          <p:cNvSpPr/>
          <p:nvPr/>
        </p:nvSpPr>
        <p:spPr>
          <a:xfrm>
            <a:off x="411480" y="1372680"/>
            <a:ext cx="3656520" cy="516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208" name="TextBox 19"/>
          <p:cNvSpPr/>
          <p:nvPr/>
        </p:nvSpPr>
        <p:spPr>
          <a:xfrm>
            <a:off x="1706400" y="6300720"/>
            <a:ext cx="106884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fr-FR" sz="700" spc="-1" strike="noStrike">
                <a:solidFill>
                  <a:srgbClr val="1d211d"/>
                </a:solidFill>
                <a:latin typeface="Arial"/>
                <a:ea typeface="DejaVu Sans"/>
              </a:rPr>
              <a:t>Wireframe page Home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Rounded Rectangle 10"/>
          <p:cNvSpPr/>
          <p:nvPr/>
        </p:nvSpPr>
        <p:spPr>
          <a:xfrm>
            <a:off x="4251960" y="1372680"/>
            <a:ext cx="3656520" cy="516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210" name="TextBox 24"/>
          <p:cNvSpPr/>
          <p:nvPr/>
        </p:nvSpPr>
        <p:spPr>
          <a:xfrm>
            <a:off x="5532480" y="6156720"/>
            <a:ext cx="109692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fr-FR" sz="700" spc="-1" strike="noStrike">
                <a:solidFill>
                  <a:srgbClr val="1d211d"/>
                </a:solidFill>
                <a:latin typeface="Arial"/>
                <a:ea typeface="DejaVu Sans"/>
              </a:rPr>
              <a:t>Home au format mobile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Rounded Rectangle 14"/>
          <p:cNvSpPr/>
          <p:nvPr/>
        </p:nvSpPr>
        <p:spPr>
          <a:xfrm>
            <a:off x="8092440" y="4468680"/>
            <a:ext cx="3966840" cy="2046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212" name="TextBox 25"/>
          <p:cNvSpPr/>
          <p:nvPr/>
        </p:nvSpPr>
        <p:spPr>
          <a:xfrm>
            <a:off x="8925840" y="4569840"/>
            <a:ext cx="1991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1d6332"/>
                </a:solidFill>
                <a:latin typeface="Arial"/>
                <a:ea typeface="DejaVu Sans"/>
              </a:rPr>
              <a:t>Démarche de conception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Box 30"/>
          <p:cNvSpPr/>
          <p:nvPr/>
        </p:nvSpPr>
        <p:spPr>
          <a:xfrm>
            <a:off x="8336880" y="5040000"/>
            <a:ext cx="3543120" cy="10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Wireframes réalisés avant le développement.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Déclinaison des interfaces en desktop et mobile.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Conservation d’une identité visuelle commune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Réutilisation des composants graphiques.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4" name="" descr=""/>
          <p:cNvPicPr/>
          <p:nvPr/>
        </p:nvPicPr>
        <p:blipFill>
          <a:blip r:embed="rId1"/>
          <a:stretch/>
        </p:blipFill>
        <p:spPr>
          <a:xfrm>
            <a:off x="1130400" y="1504080"/>
            <a:ext cx="2183760" cy="4749840"/>
          </a:xfrm>
          <a:prstGeom prst="rect">
            <a:avLst/>
          </a:prstGeom>
          <a:ln w="0">
            <a:noFill/>
          </a:ln>
        </p:spPr>
      </p:pic>
      <p:pic>
        <p:nvPicPr>
          <p:cNvPr id="215" name="" descr=""/>
          <p:cNvPicPr/>
          <p:nvPr/>
        </p:nvPicPr>
        <p:blipFill>
          <a:blip r:embed="rId2"/>
          <a:stretch/>
        </p:blipFill>
        <p:spPr>
          <a:xfrm>
            <a:off x="8244000" y="1728000"/>
            <a:ext cx="3686040" cy="1960920"/>
          </a:xfrm>
          <a:prstGeom prst="rect">
            <a:avLst/>
          </a:prstGeom>
          <a:ln w="0">
            <a:noFill/>
          </a:ln>
        </p:spPr>
      </p:pic>
      <p:sp>
        <p:nvSpPr>
          <p:cNvPr id="216" name="TextBox 1"/>
          <p:cNvSpPr/>
          <p:nvPr/>
        </p:nvSpPr>
        <p:spPr>
          <a:xfrm>
            <a:off x="9480240" y="3943800"/>
            <a:ext cx="11610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fr-FR" sz="700" spc="-1" strike="noStrike">
                <a:solidFill>
                  <a:srgbClr val="1d211d"/>
                </a:solidFill>
                <a:latin typeface="Arial"/>
                <a:ea typeface="DejaVu Sans"/>
              </a:rPr>
              <a:t>Home au format Desktop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7" name="" descr=""/>
          <p:cNvPicPr/>
          <p:nvPr/>
        </p:nvPicPr>
        <p:blipFill>
          <a:blip r:embed="rId3"/>
          <a:stretch/>
        </p:blipFill>
        <p:spPr>
          <a:xfrm>
            <a:off x="4968000" y="1440000"/>
            <a:ext cx="2159280" cy="4611240"/>
          </a:xfrm>
          <a:prstGeom prst="rect">
            <a:avLst/>
          </a:prstGeom>
          <a:ln w="0">
            <a:noFill/>
          </a:ln>
        </p:spPr>
      </p:pic>
      <p:sp>
        <p:nvSpPr>
          <p:cNvPr id="218" name="Text 48"/>
          <p:cNvSpPr/>
          <p:nvPr/>
        </p:nvSpPr>
        <p:spPr>
          <a:xfrm>
            <a:off x="3094920" y="695880"/>
            <a:ext cx="3960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Du wireframe aux interfaces responsive 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ext 97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AU FIL DES SAISONS  •  DWWM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 101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1" name="Shape 53"/>
          <p:cNvSpPr/>
          <p:nvPr/>
        </p:nvSpPr>
        <p:spPr>
          <a:xfrm>
            <a:off x="1440000" y="1203480"/>
            <a:ext cx="9179280" cy="448380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2" name="Shape 54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23" name="Text 114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1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 115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Gestion du backlog avec GitHub Projects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 116"/>
          <p:cNvSpPr/>
          <p:nvPr/>
        </p:nvSpPr>
        <p:spPr>
          <a:xfrm>
            <a:off x="8998920" y="695880"/>
            <a:ext cx="3960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Tableau Kanban, 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6" name="" descr=""/>
          <p:cNvPicPr/>
          <p:nvPr/>
        </p:nvPicPr>
        <p:blipFill>
          <a:blip r:embed="rId1"/>
          <a:stretch/>
        </p:blipFill>
        <p:spPr>
          <a:xfrm>
            <a:off x="1836000" y="1325520"/>
            <a:ext cx="7919280" cy="4199400"/>
          </a:xfrm>
          <a:prstGeom prst="rect">
            <a:avLst/>
          </a:prstGeom>
          <a:ln w="0">
            <a:noFill/>
          </a:ln>
        </p:spPr>
      </p:pic>
      <p:sp>
        <p:nvSpPr>
          <p:cNvPr id="227" name="Shape 24"/>
          <p:cNvSpPr/>
          <p:nvPr/>
        </p:nvSpPr>
        <p:spPr>
          <a:xfrm>
            <a:off x="502920" y="594360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Backlog → To Do → In Progress → Done : un suivi visuel de l’avancement de chaque fonctionnalité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AU FIL DES SAISONS  •  DWWM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0" name="Shape 5"/>
          <p:cNvSpPr/>
          <p:nvPr/>
        </p:nvSpPr>
        <p:spPr>
          <a:xfrm>
            <a:off x="502920" y="1417320"/>
            <a:ext cx="3543480" cy="196380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1" name="Text 6"/>
          <p:cNvSpPr/>
          <p:nvPr/>
        </p:nvSpPr>
        <p:spPr>
          <a:xfrm>
            <a:off x="75888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Front-end 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 7"/>
          <p:cNvSpPr/>
          <p:nvPr/>
        </p:nvSpPr>
        <p:spPr>
          <a:xfrm>
            <a:off x="758880" y="2148840"/>
            <a:ext cx="3031560" cy="10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Twig pour les vues et CSS pour la mise en forme et JavaScript pour les interactions côté client.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8"/>
          <p:cNvSpPr/>
          <p:nvPr/>
        </p:nvSpPr>
        <p:spPr>
          <a:xfrm>
            <a:off x="4322880" y="1417320"/>
            <a:ext cx="3543480" cy="196380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4" name="Text 9"/>
          <p:cNvSpPr/>
          <p:nvPr/>
        </p:nvSpPr>
        <p:spPr>
          <a:xfrm>
            <a:off x="457884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Back-end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 10"/>
          <p:cNvSpPr/>
          <p:nvPr/>
        </p:nvSpPr>
        <p:spPr>
          <a:xfrm>
            <a:off x="4578840" y="2148840"/>
            <a:ext cx="3031560" cy="10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PHP 8, Symfony 7.4, Doctrine ORM pour l’accès aux données et Symfony Security pour l’authentification et les autorisations.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11"/>
          <p:cNvSpPr/>
          <p:nvPr/>
        </p:nvSpPr>
        <p:spPr>
          <a:xfrm>
            <a:off x="8143200" y="1417320"/>
            <a:ext cx="3543480" cy="196380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7" name="Text 12"/>
          <p:cNvSpPr/>
          <p:nvPr/>
        </p:nvSpPr>
        <p:spPr>
          <a:xfrm>
            <a:off x="839916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Outils et environnements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 13"/>
          <p:cNvSpPr/>
          <p:nvPr/>
        </p:nvSpPr>
        <p:spPr>
          <a:xfrm>
            <a:off x="8399160" y="2148840"/>
            <a:ext cx="3031560" cy="10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Docker pour conteneuriser l’application et Git/GitHub pour le versionnement du code.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14"/>
          <p:cNvSpPr/>
          <p:nvPr/>
        </p:nvSpPr>
        <p:spPr>
          <a:xfrm>
            <a:off x="502920" y="3657600"/>
            <a:ext cx="5453640" cy="196380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0" name="Text 15"/>
          <p:cNvSpPr/>
          <p:nvPr/>
        </p:nvSpPr>
        <p:spPr>
          <a:xfrm>
            <a:off x="758880" y="3913560"/>
            <a:ext cx="494172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Base de données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 16"/>
          <p:cNvSpPr/>
          <p:nvPr/>
        </p:nvSpPr>
        <p:spPr>
          <a:xfrm>
            <a:off x="758880" y="4389120"/>
            <a:ext cx="4941720" cy="10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MySQL pour le stockage relationnel des données, avec Doctrine ORM pour les échanges entre les entités Symfony et la base.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Shape 17"/>
          <p:cNvSpPr/>
          <p:nvPr/>
        </p:nvSpPr>
        <p:spPr>
          <a:xfrm>
            <a:off x="6233040" y="3657600"/>
            <a:ext cx="5453640" cy="196380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3" name="Text 18"/>
          <p:cNvSpPr/>
          <p:nvPr/>
        </p:nvSpPr>
        <p:spPr>
          <a:xfrm>
            <a:off x="6489000" y="3913560"/>
            <a:ext cx="494172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 </a:t>
            </a: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API </a:t>
            </a: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OpenWeather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 19"/>
          <p:cNvSpPr/>
          <p:nvPr/>
        </p:nvSpPr>
        <p:spPr>
          <a:xfrm>
            <a:off x="6489000" y="4389120"/>
            <a:ext cx="4941720" cy="10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Récupération de la météo d’une ville afin d’adapter les suggestions de recettes aux conditions météorologiques.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30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46" name="Text 63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1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Text 64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Stack retenue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 65"/>
          <p:cNvSpPr/>
          <p:nvPr/>
        </p:nvSpPr>
        <p:spPr>
          <a:xfrm>
            <a:off x="3418920" y="695880"/>
            <a:ext cx="7920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Symfony full stack, Twig, MySQL et API météo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ounded Rectangle 4"/>
          <p:cNvSpPr/>
          <p:nvPr/>
        </p:nvSpPr>
        <p:spPr>
          <a:xfrm>
            <a:off x="540000" y="1260000"/>
            <a:ext cx="4679280" cy="539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250" name="Rounded Rectangle 7"/>
          <p:cNvSpPr/>
          <p:nvPr/>
        </p:nvSpPr>
        <p:spPr>
          <a:xfrm>
            <a:off x="5621040" y="3064680"/>
            <a:ext cx="3702240" cy="2010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251" name="TextBox 8"/>
          <p:cNvSpPr/>
          <p:nvPr/>
        </p:nvSpPr>
        <p:spPr>
          <a:xfrm>
            <a:off x="6687720" y="3201840"/>
            <a:ext cx="15688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1d6332"/>
                </a:solidFill>
                <a:latin typeface="Arial"/>
                <a:ea typeface="DejaVu Sans"/>
              </a:rPr>
              <a:t>Lecture du schéma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TextBox 9"/>
          <p:cNvSpPr/>
          <p:nvPr/>
        </p:nvSpPr>
        <p:spPr>
          <a:xfrm>
            <a:off x="5688360" y="3594960"/>
            <a:ext cx="3568680" cy="10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Le router dirige la requête vers le Controller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Le Service porte la logique métier.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Le Repository dialogue avec Doctrine et MySQL.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Twig génère ensuite la réponse HTML.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3" name="" descr=""/>
          <p:cNvPicPr/>
          <p:nvPr/>
        </p:nvPicPr>
        <p:blipFill>
          <a:blip r:embed="rId1"/>
          <a:stretch/>
        </p:blipFill>
        <p:spPr>
          <a:xfrm>
            <a:off x="1872000" y="1547280"/>
            <a:ext cx="1950120" cy="5098680"/>
          </a:xfrm>
          <a:prstGeom prst="rect">
            <a:avLst/>
          </a:prstGeom>
          <a:ln w="0">
            <a:noFill/>
          </a:ln>
        </p:spPr>
      </p:pic>
      <p:sp>
        <p:nvSpPr>
          <p:cNvPr id="254" name="Rounded Rectangle 17"/>
          <p:cNvSpPr/>
          <p:nvPr/>
        </p:nvSpPr>
        <p:spPr>
          <a:xfrm>
            <a:off x="5616000" y="1728000"/>
            <a:ext cx="5399280" cy="1007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L’architecture MVC sépare les responsabilités : les données et leur accès (Modèle), l’affichage (Vue) et le traitement des requêtes (Contrôleur).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41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56" name="Text 62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1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Text 72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Architecture en couche et MVC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 76"/>
          <p:cNvSpPr/>
          <p:nvPr/>
        </p:nvSpPr>
        <p:spPr>
          <a:xfrm>
            <a:off x="6874920" y="695880"/>
            <a:ext cx="529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Du navigateur à MySQL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TextBox 31"/>
          <p:cNvSpPr/>
          <p:nvPr/>
        </p:nvSpPr>
        <p:spPr>
          <a:xfrm>
            <a:off x="1540080" y="1224720"/>
            <a:ext cx="255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1200" spc="-1" strike="noStrike">
                <a:solidFill>
                  <a:srgbClr val="1d6332"/>
                </a:solidFill>
                <a:latin typeface="Arial"/>
                <a:ea typeface="DejaVu Sans"/>
              </a:rPr>
              <a:t>Architecture en couche Symfony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f5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Shape 0"/>
          <p:cNvSpPr/>
          <p:nvPr/>
        </p:nvSpPr>
        <p:spPr>
          <a:xfrm>
            <a:off x="9418320" y="-1463040"/>
            <a:ext cx="4204080" cy="4204080"/>
          </a:xfrm>
          <a:prstGeom prst="ellipse">
            <a:avLst/>
          </a:prstGeom>
          <a:solidFill>
            <a:srgbClr val="2e7f32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61" name="Shape 1"/>
          <p:cNvSpPr/>
          <p:nvPr/>
        </p:nvSpPr>
        <p:spPr>
          <a:xfrm>
            <a:off x="10607040" y="-548640"/>
            <a:ext cx="2741040" cy="2741040"/>
          </a:xfrm>
          <a:prstGeom prst="ellipse">
            <a:avLst/>
          </a:prstGeom>
          <a:solidFill>
            <a:srgbClr val="2e7f32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62" name="Text 2"/>
          <p:cNvSpPr/>
          <p:nvPr/>
        </p:nvSpPr>
        <p:spPr>
          <a:xfrm>
            <a:off x="640080" y="233172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2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 3"/>
          <p:cNvSpPr/>
          <p:nvPr/>
        </p:nvSpPr>
        <p:spPr>
          <a:xfrm>
            <a:off x="594360" y="2788920"/>
            <a:ext cx="914184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Conception du front-end</a:t>
            </a:r>
            <a:endParaRPr b="0" lang="fr-FR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Text 4"/>
          <p:cNvSpPr/>
          <p:nvPr/>
        </p:nvSpPr>
        <p:spPr>
          <a:xfrm>
            <a:off x="640080" y="3703320"/>
            <a:ext cx="8227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cfe6cf"/>
                </a:solidFill>
                <a:latin typeface="Calibri"/>
                <a:ea typeface="Calibri"/>
              </a:rPr>
              <a:t>Vue, contrôleurs, accessibilité et expérience utilisateur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Text 5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2. Conception du Front-end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8" name="Shape 5"/>
          <p:cNvSpPr/>
          <p:nvPr/>
        </p:nvSpPr>
        <p:spPr>
          <a:xfrm>
            <a:off x="50292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9" name="Text 6"/>
          <p:cNvSpPr/>
          <p:nvPr/>
        </p:nvSpPr>
        <p:spPr>
          <a:xfrm>
            <a:off x="75888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Templates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 7"/>
          <p:cNvSpPr/>
          <p:nvPr/>
        </p:nvSpPr>
        <p:spPr>
          <a:xfrm>
            <a:off x="758880" y="2148840"/>
            <a:ext cx="3031560" cy="33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base.html.twig </a:t>
            </a: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sert de modèle principal aux différentes pages de l’application.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8"/>
          <p:cNvSpPr/>
          <p:nvPr/>
        </p:nvSpPr>
        <p:spPr>
          <a:xfrm>
            <a:off x="432288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2" name="Text 9"/>
          <p:cNvSpPr/>
          <p:nvPr/>
        </p:nvSpPr>
        <p:spPr>
          <a:xfrm>
            <a:off x="457884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Composants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 10"/>
          <p:cNvSpPr/>
          <p:nvPr/>
        </p:nvSpPr>
        <p:spPr>
          <a:xfrm>
            <a:off x="4578840" y="2148840"/>
            <a:ext cx="3031560" cy="33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Les éléments utilisés sur plusieurs pages, comme le header et le footer sont placés dans des fichiers twig séparés et réutilisables.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11"/>
          <p:cNvSpPr/>
          <p:nvPr/>
        </p:nvSpPr>
        <p:spPr>
          <a:xfrm>
            <a:off x="814320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5" name="Text 12"/>
          <p:cNvSpPr/>
          <p:nvPr/>
        </p:nvSpPr>
        <p:spPr>
          <a:xfrm>
            <a:off x="839916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Données dynamiques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 13"/>
          <p:cNvSpPr/>
          <p:nvPr/>
        </p:nvSpPr>
        <p:spPr>
          <a:xfrm>
            <a:off x="8399160" y="2148840"/>
            <a:ext cx="3031560" cy="33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Le contrôleur récupère les données nécessaires et les envoie au template Twig pour les afficher.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Shape 14"/>
          <p:cNvSpPr/>
          <p:nvPr/>
        </p:nvSpPr>
        <p:spPr>
          <a:xfrm>
            <a:off x="502920" y="594360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8" name="Text 15"/>
          <p:cNvSpPr/>
          <p:nvPr/>
        </p:nvSpPr>
        <p:spPr>
          <a:xfrm>
            <a:off x="777240" y="594360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Twig sécurise automatiquement les données affichées et limite l’injection de code malveillant dans les pages (XSS)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29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80" name="Text 51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2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 52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La vue — Twig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 53"/>
          <p:cNvSpPr/>
          <p:nvPr/>
        </p:nvSpPr>
        <p:spPr>
          <a:xfrm>
            <a:off x="3490920" y="695880"/>
            <a:ext cx="7668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Une interface réutilisable et maintenable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Rounded Rectangle 23"/>
          <p:cNvSpPr/>
          <p:nvPr/>
        </p:nvSpPr>
        <p:spPr>
          <a:xfrm>
            <a:off x="4788000" y="3148200"/>
            <a:ext cx="2602080" cy="23950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templates/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├──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base.html.twig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└──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components/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├──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_header.html.twig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├──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_footer.html.twig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├──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_hero.html.twig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└──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_flash.html.twig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Rounded Rectangle 25"/>
          <p:cNvSpPr/>
          <p:nvPr/>
        </p:nvSpPr>
        <p:spPr>
          <a:xfrm>
            <a:off x="8496360" y="3112200"/>
            <a:ext cx="2602080" cy="23950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{% for recette in recettes %}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&lt;h2&gt;{{ recette.titre }}&lt;/h2&gt;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{% endfor %}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Rectangle 1"/>
          <p:cNvSpPr/>
          <p:nvPr/>
        </p:nvSpPr>
        <p:spPr>
          <a:xfrm>
            <a:off x="0" y="0"/>
            <a:ext cx="12190680" cy="711720"/>
          </a:xfrm>
          <a:prstGeom prst="rect">
            <a:avLst/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TextBox 2"/>
          <p:cNvSpPr/>
          <p:nvPr/>
        </p:nvSpPr>
        <p:spPr>
          <a:xfrm>
            <a:off x="411480" y="109800"/>
            <a:ext cx="192744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700" spc="-1" strike="noStrike">
                <a:solidFill>
                  <a:srgbClr val="e08e2c"/>
                </a:solidFill>
                <a:latin typeface="Aptos"/>
                <a:ea typeface="DejaVu Sans"/>
              </a:rPr>
              <a:t>PARTIE 2 — EXEMPLE CONCRET — CODE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Box 3"/>
          <p:cNvSpPr/>
          <p:nvPr/>
        </p:nvSpPr>
        <p:spPr>
          <a:xfrm>
            <a:off x="411480" y="255960"/>
            <a:ext cx="795384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ffffff"/>
                </a:solidFill>
                <a:latin typeface="Aptos"/>
                <a:ea typeface="DejaVu Sans"/>
              </a:rPr>
              <a:t>Twig — structure commune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Box 4"/>
          <p:cNvSpPr/>
          <p:nvPr/>
        </p:nvSpPr>
        <p:spPr>
          <a:xfrm>
            <a:off x="8412480" y="274320"/>
            <a:ext cx="319896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Compétences 2, 3 et 4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TextBox 5"/>
          <p:cNvSpPr/>
          <p:nvPr/>
        </p:nvSpPr>
        <p:spPr>
          <a:xfrm>
            <a:off x="411480" y="6565320"/>
            <a:ext cx="27417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600" spc="-1" strike="noStrike">
                <a:solidFill>
                  <a:srgbClr val="267837"/>
                </a:solidFill>
                <a:latin typeface="Aptos"/>
                <a:ea typeface="DejaVu Sans"/>
              </a:rPr>
              <a:t>AU FIL DES SAISONS  •  DWWM 2026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Rounded Rectangle 6"/>
          <p:cNvSpPr/>
          <p:nvPr/>
        </p:nvSpPr>
        <p:spPr>
          <a:xfrm>
            <a:off x="457200" y="212076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TextBox 7"/>
          <p:cNvSpPr/>
          <p:nvPr/>
        </p:nvSpPr>
        <p:spPr>
          <a:xfrm>
            <a:off x="530280" y="2135160"/>
            <a:ext cx="177264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EXTRAIT DE CODE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Rounded Rectangle 8"/>
          <p:cNvSpPr/>
          <p:nvPr/>
        </p:nvSpPr>
        <p:spPr>
          <a:xfrm>
            <a:off x="457200" y="2576160"/>
            <a:ext cx="5622120" cy="287892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{% include 'components/_header.html.twig' %}</a:t>
            </a:r>
            <a:br>
              <a:rPr sz="1000"/>
            </a:br>
            <a:br>
              <a:rPr sz="1000"/>
            </a:br>
            <a:r>
              <a:rPr b="0" lang="fr-FR" sz="10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&lt;main&gt;</a:t>
            </a:r>
            <a:br>
              <a:rPr sz="1000"/>
            </a:br>
            <a:r>
              <a:rPr b="0" lang="fr-FR" sz="10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    {% block body %}{% endblock %}</a:t>
            </a:r>
            <a:br>
              <a:rPr sz="1000"/>
            </a:br>
            <a:r>
              <a:rPr b="0" lang="fr-FR" sz="10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&lt;/main&gt;</a:t>
            </a:r>
            <a:br>
              <a:rPr sz="1000"/>
            </a:br>
            <a:br>
              <a:rPr sz="1000"/>
            </a:br>
            <a:r>
              <a:rPr b="0" lang="fr-FR" sz="10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{% include 'components/_footer.html.twig' %}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Rounded Rectangle 9"/>
          <p:cNvSpPr/>
          <p:nvPr/>
        </p:nvSpPr>
        <p:spPr>
          <a:xfrm>
            <a:off x="6355080" y="2084760"/>
            <a:ext cx="2010240" cy="291240"/>
          </a:xfrm>
          <a:prstGeom prst="roundRect">
            <a:avLst>
              <a:gd name="adj" fmla="val 16667"/>
            </a:avLst>
          </a:prstGeom>
          <a:solidFill>
            <a:srgbClr val="e08e2c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TextBox 10"/>
          <p:cNvSpPr/>
          <p:nvPr/>
        </p:nvSpPr>
        <p:spPr>
          <a:xfrm>
            <a:off x="6428160" y="2135160"/>
            <a:ext cx="18640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ÇA PROUVE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Rounded Rectangle 11"/>
          <p:cNvSpPr/>
          <p:nvPr/>
        </p:nvSpPr>
        <p:spPr>
          <a:xfrm>
            <a:off x="6355080" y="2432160"/>
            <a:ext cx="5375160" cy="132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TextBox 12"/>
          <p:cNvSpPr/>
          <p:nvPr/>
        </p:nvSpPr>
        <p:spPr>
          <a:xfrm>
            <a:off x="6537960" y="2633400"/>
            <a:ext cx="4982040" cy="81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Une structure HTML réutilisable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Des composants séparés et maintenables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Un contenu central différent selon chaque page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Rounded Rectangle 13"/>
          <p:cNvSpPr/>
          <p:nvPr/>
        </p:nvSpPr>
        <p:spPr>
          <a:xfrm>
            <a:off x="6355080" y="396828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TextBox 14"/>
          <p:cNvSpPr/>
          <p:nvPr/>
        </p:nvSpPr>
        <p:spPr>
          <a:xfrm>
            <a:off x="6428160" y="4018680"/>
            <a:ext cx="177264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CA DIT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Rounded Rectangle 15"/>
          <p:cNvSpPr/>
          <p:nvPr/>
        </p:nvSpPr>
        <p:spPr>
          <a:xfrm>
            <a:off x="6355080" y="4315680"/>
            <a:ext cx="5375160" cy="1507320"/>
          </a:xfrm>
          <a:prstGeom prst="roundRect">
            <a:avLst>
              <a:gd name="adj" fmla="val 16667"/>
            </a:avLst>
          </a:prstGeom>
          <a:solidFill>
            <a:srgbClr val="f7faf4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TextBox 16"/>
          <p:cNvSpPr/>
          <p:nvPr/>
        </p:nvSpPr>
        <p:spPr>
          <a:xfrm>
            <a:off x="6565320" y="4535280"/>
            <a:ext cx="49179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« J’utilise un template principal pour éviter de recopier le header et le footer. Chaque page remplit seulement la zone body. »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2. Conception du Front-end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5"/>
          <p:cNvSpPr/>
          <p:nvPr/>
        </p:nvSpPr>
        <p:spPr>
          <a:xfrm>
            <a:off x="50292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3" name="Text 6"/>
          <p:cNvSpPr/>
          <p:nvPr/>
        </p:nvSpPr>
        <p:spPr>
          <a:xfrm>
            <a:off x="758880" y="1565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Contrôleurs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Text 7"/>
          <p:cNvSpPr/>
          <p:nvPr/>
        </p:nvSpPr>
        <p:spPr>
          <a:xfrm>
            <a:off x="758880" y="1860840"/>
            <a:ext cx="3031560" cy="33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La route dirige les requêtes vers le bon controller. Le contrôleur traite l’action demandée puis affiche une page ou effectue une redirection.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8"/>
          <p:cNvSpPr/>
          <p:nvPr/>
        </p:nvSpPr>
        <p:spPr>
          <a:xfrm>
            <a:off x="432288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6" name="Text 9"/>
          <p:cNvSpPr/>
          <p:nvPr/>
        </p:nvSpPr>
        <p:spPr>
          <a:xfrm>
            <a:off x="4578840" y="1601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Formulaires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 10"/>
          <p:cNvSpPr/>
          <p:nvPr/>
        </p:nvSpPr>
        <p:spPr>
          <a:xfrm>
            <a:off x="4578840" y="1896840"/>
            <a:ext cx="3031560" cy="33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Symfony Forms récupère les informations saisies, vérifie leur validité et affiche les erreurs si nécessaire.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11"/>
          <p:cNvSpPr/>
          <p:nvPr/>
        </p:nvSpPr>
        <p:spPr>
          <a:xfrm>
            <a:off x="814320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9" name="Text 12"/>
          <p:cNvSpPr/>
          <p:nvPr/>
        </p:nvSpPr>
        <p:spPr>
          <a:xfrm>
            <a:off x="8399160" y="1601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Dynamique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Text 13"/>
          <p:cNvSpPr/>
          <p:nvPr/>
        </p:nvSpPr>
        <p:spPr>
          <a:xfrm>
            <a:off x="8399160" y="1932840"/>
            <a:ext cx="3031560" cy="33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Les contrôleurs gèrent les actions de l’utilisateur : créer ou modifier une recette, choisir ses saisons et gérer la visibilité de ses contenus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hape 14"/>
          <p:cNvSpPr/>
          <p:nvPr/>
        </p:nvSpPr>
        <p:spPr>
          <a:xfrm>
            <a:off x="502920" y="594360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2" name="Text 15"/>
          <p:cNvSpPr/>
          <p:nvPr/>
        </p:nvSpPr>
        <p:spPr>
          <a:xfrm>
            <a:off x="777240" y="594360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Le contrôleur traite les actions et les données; Twig s’occupe principalement de leur affichage.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hape 31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14" name="Text 66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2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 67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Les contrôleurs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 68"/>
          <p:cNvSpPr/>
          <p:nvPr/>
        </p:nvSpPr>
        <p:spPr>
          <a:xfrm>
            <a:off x="3742920" y="695880"/>
            <a:ext cx="543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Relier les actions utilisateurs à l’application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Rounded Rectangle 26"/>
          <p:cNvSpPr/>
          <p:nvPr/>
        </p:nvSpPr>
        <p:spPr>
          <a:xfrm>
            <a:off x="758880" y="2844000"/>
            <a:ext cx="3020400" cy="283284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#[Route('/nouvelle', name: 'app_recette_new', methods: ['GET', 'POST'])]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public function new(Request $request, ...): Response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$user = $this-&gt;getUser();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$recette = (new Recette())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-&gt;setUser($user)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-&gt;setStatut(RecetteStatut::ATTENTE);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return $this-&gt;processForm(...);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Rounded Rectangle 27"/>
          <p:cNvSpPr/>
          <p:nvPr/>
        </p:nvSpPr>
        <p:spPr>
          <a:xfrm>
            <a:off x="4575240" y="2844000"/>
            <a:ext cx="3020400" cy="283284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$form = $this-&gt;createForm(RecetteType::class, $recette);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$form-&gt;handleRequest($request);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if ($form-&gt;isSubmitted() &amp;&amp; $form-&gt;isValid())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// enregistrement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Rectangle 1"/>
          <p:cNvSpPr/>
          <p:nvPr/>
        </p:nvSpPr>
        <p:spPr>
          <a:xfrm>
            <a:off x="0" y="0"/>
            <a:ext cx="12190680" cy="711720"/>
          </a:xfrm>
          <a:prstGeom prst="rect">
            <a:avLst/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TextBox 2"/>
          <p:cNvSpPr/>
          <p:nvPr/>
        </p:nvSpPr>
        <p:spPr>
          <a:xfrm>
            <a:off x="411480" y="109800"/>
            <a:ext cx="192744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700" spc="-1" strike="noStrike">
                <a:solidFill>
                  <a:srgbClr val="e08e2c"/>
                </a:solidFill>
                <a:latin typeface="Aptos"/>
                <a:ea typeface="DejaVu Sans"/>
              </a:rPr>
              <a:t>PARTIE 2 — EXEMPLE CONCRET — CODE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Box 3"/>
          <p:cNvSpPr/>
          <p:nvPr/>
        </p:nvSpPr>
        <p:spPr>
          <a:xfrm>
            <a:off x="411480" y="255960"/>
            <a:ext cx="795384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ffffff"/>
                </a:solidFill>
                <a:latin typeface="Aptos"/>
                <a:ea typeface="DejaVu Sans"/>
              </a:rPr>
              <a:t>Symfony — route et contrôleur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Box 4"/>
          <p:cNvSpPr/>
          <p:nvPr/>
        </p:nvSpPr>
        <p:spPr>
          <a:xfrm>
            <a:off x="8412480" y="274320"/>
            <a:ext cx="319896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Compétences 4 et 7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Box 5"/>
          <p:cNvSpPr/>
          <p:nvPr/>
        </p:nvSpPr>
        <p:spPr>
          <a:xfrm>
            <a:off x="411480" y="6565320"/>
            <a:ext cx="27417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600" spc="-1" strike="noStrike">
                <a:solidFill>
                  <a:srgbClr val="267837"/>
                </a:solidFill>
                <a:latin typeface="Aptos"/>
                <a:ea typeface="DejaVu Sans"/>
              </a:rPr>
              <a:t>AU FIL DES SAISONS  •  DWWM 2026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Rounded Rectangle 6"/>
          <p:cNvSpPr/>
          <p:nvPr/>
        </p:nvSpPr>
        <p:spPr>
          <a:xfrm>
            <a:off x="457200" y="179676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TextBox 7"/>
          <p:cNvSpPr/>
          <p:nvPr/>
        </p:nvSpPr>
        <p:spPr>
          <a:xfrm>
            <a:off x="530280" y="1847160"/>
            <a:ext cx="177264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EXTRAIT DE CODE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Rounded Rectangle 8"/>
          <p:cNvSpPr/>
          <p:nvPr/>
        </p:nvSpPr>
        <p:spPr>
          <a:xfrm>
            <a:off x="457200" y="2252160"/>
            <a:ext cx="5622120" cy="287892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b="0" lang="fr-FR" sz="1000" spc="-1" strike="noStrike">
                <a:solidFill>
                  <a:srgbClr val="ffffff"/>
                </a:solidFill>
                <a:latin typeface="Arial"/>
                <a:ea typeface="DejaVu Sans"/>
              </a:rPr>
              <a:t>#[Route('/nouvelle', name: 'app_recette_new', methods: ['GET', 'POST'])] 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b="0" lang="fr-FR" sz="1000" spc="-1" strike="noStrike">
                <a:solidFill>
                  <a:srgbClr val="ffffff"/>
                </a:solidFill>
                <a:latin typeface="Arial"/>
                <a:ea typeface="DejaVu Sans"/>
              </a:rPr>
              <a:t>public function new(Request $request, EntityManagerInterface $entityManager, SluggerInterface $slugger): Response {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b="0" lang="fr-FR" sz="1000" spc="-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ffffff"/>
                </a:solidFill>
                <a:latin typeface="Arial"/>
                <a:ea typeface="DejaVu Sans"/>
              </a:rPr>
              <a:t>/** @var User $user */ 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b="0" lang="fr-FR" sz="1000" spc="-1" strike="noStrike">
                <a:solidFill>
                  <a:srgbClr val="ffffff"/>
                </a:solidFill>
                <a:latin typeface="Arial"/>
                <a:ea typeface="DejaVu Sans"/>
              </a:rPr>
              <a:t>$user = $this-&gt;getUser(); 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b="0" lang="fr-FR" sz="1000" spc="-1" strike="noStrike">
                <a:solidFill>
                  <a:srgbClr val="ffffff"/>
                </a:solidFill>
                <a:latin typeface="Arial"/>
                <a:ea typeface="DejaVu Sans"/>
              </a:rPr>
              <a:t>$recette = (new Recette())-&gt;setUser($user)-&gt;setStatut(RecetteStatut::ATTENTE);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b="0" lang="fr-FR" sz="1000" spc="-1" strike="noStrike">
                <a:solidFill>
                  <a:srgbClr val="ffffff"/>
                </a:solidFill>
                <a:latin typeface="Arial"/>
                <a:ea typeface="DejaVu Sans"/>
              </a:rPr>
              <a:t>return $this-&gt;processForm($request, $entityManager, $slugger, $recette, true); }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Rounded Rectangle 9"/>
          <p:cNvSpPr/>
          <p:nvPr/>
        </p:nvSpPr>
        <p:spPr>
          <a:xfrm>
            <a:off x="6355080" y="2156760"/>
            <a:ext cx="2010240" cy="291240"/>
          </a:xfrm>
          <a:prstGeom prst="roundRect">
            <a:avLst>
              <a:gd name="adj" fmla="val 16667"/>
            </a:avLst>
          </a:prstGeom>
          <a:solidFill>
            <a:srgbClr val="e08e2c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TextBox 10"/>
          <p:cNvSpPr/>
          <p:nvPr/>
        </p:nvSpPr>
        <p:spPr>
          <a:xfrm>
            <a:off x="6428160" y="2207160"/>
            <a:ext cx="18640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ÇA MONTRE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Rounded Rectangle 11"/>
          <p:cNvSpPr/>
          <p:nvPr/>
        </p:nvSpPr>
        <p:spPr>
          <a:xfrm>
            <a:off x="6355080" y="2504160"/>
            <a:ext cx="5375160" cy="132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TextBox 12"/>
          <p:cNvSpPr/>
          <p:nvPr/>
        </p:nvSpPr>
        <p:spPr>
          <a:xfrm>
            <a:off x="6537960" y="2504160"/>
            <a:ext cx="4982040" cy="12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La route /nouvelle déclenche l'action de création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L'utilisateur connecté est récupéré automatiquement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La recette est associée à son créateur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Son statut initial est défini sur ATTENTE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Le traitement du formulaire est ensuite appelé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Rounded Rectangle 13"/>
          <p:cNvSpPr/>
          <p:nvPr/>
        </p:nvSpPr>
        <p:spPr>
          <a:xfrm>
            <a:off x="6355080" y="404028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TextBox 14"/>
          <p:cNvSpPr/>
          <p:nvPr/>
        </p:nvSpPr>
        <p:spPr>
          <a:xfrm>
            <a:off x="6428160" y="4090680"/>
            <a:ext cx="177264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CA DIT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Rounded Rectangle 15"/>
          <p:cNvSpPr/>
          <p:nvPr/>
        </p:nvSpPr>
        <p:spPr>
          <a:xfrm>
            <a:off x="6355080" y="4387680"/>
            <a:ext cx="5375160" cy="1507320"/>
          </a:xfrm>
          <a:prstGeom prst="roundRect">
            <a:avLst>
              <a:gd name="adj" fmla="val 16667"/>
            </a:avLst>
          </a:prstGeom>
          <a:solidFill>
            <a:srgbClr val="f7faf4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TextBox 16"/>
          <p:cNvSpPr/>
          <p:nvPr/>
        </p:nvSpPr>
        <p:spPr>
          <a:xfrm>
            <a:off x="6565320" y="4607280"/>
            <a:ext cx="491796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« Cette méthode permet à un utilisateur connecté de créer une nouvelle recette. Elle associe automatiquement la recette à l'utilisateur, lui attribue le statut "en attente", puis transmet les informations à la méthode qui traite le formulaire. »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2. Conception du Front-end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7" name="Shape 5"/>
          <p:cNvSpPr/>
          <p:nvPr/>
        </p:nvSpPr>
        <p:spPr>
          <a:xfrm>
            <a:off x="502920" y="1508760"/>
            <a:ext cx="3543480" cy="420408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8" name="Text 6"/>
          <p:cNvSpPr/>
          <p:nvPr/>
        </p:nvSpPr>
        <p:spPr>
          <a:xfrm>
            <a:off x="758880" y="176472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HTML 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 7"/>
          <p:cNvSpPr/>
          <p:nvPr/>
        </p:nvSpPr>
        <p:spPr>
          <a:xfrm>
            <a:off x="758880" y="2060280"/>
            <a:ext cx="3031560" cy="32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Utilisation de balises html adaptées au rôle de chaque élément : header, nav, main, section, form, button et footer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Shape 8"/>
          <p:cNvSpPr/>
          <p:nvPr/>
        </p:nvSpPr>
        <p:spPr>
          <a:xfrm>
            <a:off x="4322880" y="1508760"/>
            <a:ext cx="3543480" cy="420408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1" name="Text 9"/>
          <p:cNvSpPr/>
          <p:nvPr/>
        </p:nvSpPr>
        <p:spPr>
          <a:xfrm>
            <a:off x="4578840" y="176472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Lisibilité de l’interface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 10"/>
          <p:cNvSpPr/>
          <p:nvPr/>
        </p:nvSpPr>
        <p:spPr>
          <a:xfrm>
            <a:off x="4578840" y="2060280"/>
            <a:ext cx="3031560" cy="32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Textes lisibles, hiérarchie visuelle claire et contraste entre les principaux éléments de l‘interface.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Shape 11"/>
          <p:cNvSpPr/>
          <p:nvPr/>
        </p:nvSpPr>
        <p:spPr>
          <a:xfrm>
            <a:off x="8143200" y="1508760"/>
            <a:ext cx="3543480" cy="420408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4" name="Text 12"/>
          <p:cNvSpPr/>
          <p:nvPr/>
        </p:nvSpPr>
        <p:spPr>
          <a:xfrm>
            <a:off x="8399160" y="176472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Navigation et formulaires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 13"/>
          <p:cNvSpPr/>
          <p:nvPr/>
        </p:nvSpPr>
        <p:spPr>
          <a:xfrm>
            <a:off x="8399160" y="2060280"/>
            <a:ext cx="3031560" cy="32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Utilisation de liens, boutons, labels et champs de formulaire standards pour faciliter la navigation et la saisie.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Shape 14"/>
          <p:cNvSpPr/>
          <p:nvPr/>
        </p:nvSpPr>
        <p:spPr>
          <a:xfrm>
            <a:off x="502920" y="594360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7" name="Text 15"/>
          <p:cNvSpPr/>
          <p:nvPr/>
        </p:nvSpPr>
        <p:spPr>
          <a:xfrm>
            <a:off x="777240" y="594360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Bonnes pratiques d’accessibilité prises en compte lors du développement, sans audit RGAA formel.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Shape 35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49" name="Text 69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2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 70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Accessibilité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Text 71"/>
          <p:cNvSpPr/>
          <p:nvPr/>
        </p:nvSpPr>
        <p:spPr>
          <a:xfrm>
            <a:off x="3130920" y="695880"/>
            <a:ext cx="67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 </a:t>
            </a: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HTML, interface navigation et formulaire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Rounded Rectangle 28"/>
          <p:cNvSpPr/>
          <p:nvPr/>
        </p:nvSpPr>
        <p:spPr>
          <a:xfrm>
            <a:off x="759240" y="2844000"/>
            <a:ext cx="3020400" cy="283284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&lt;header&gt;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&lt;nav&gt;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&lt;!-- menu de navigation --&gt;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&lt;/nav&gt;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&lt;/header&gt;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&lt;main&gt;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{% block body %}{% endblock %}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&lt;/main&gt;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&lt;footer&gt;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&lt;!-- pied de page --&gt;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&lt;/footer&gt;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53" name="" descr=""/>
          <p:cNvPicPr/>
          <p:nvPr/>
        </p:nvPicPr>
        <p:blipFill>
          <a:blip r:embed="rId1"/>
          <a:stretch/>
        </p:blipFill>
        <p:spPr>
          <a:xfrm>
            <a:off x="5395680" y="2700000"/>
            <a:ext cx="1355040" cy="3012840"/>
          </a:xfrm>
          <a:prstGeom prst="rect">
            <a:avLst/>
          </a:prstGeom>
          <a:ln w="0">
            <a:noFill/>
          </a:ln>
        </p:spPr>
      </p:pic>
      <p:sp>
        <p:nvSpPr>
          <p:cNvPr id="354" name="Rounded Rectangle 29"/>
          <p:cNvSpPr/>
          <p:nvPr/>
        </p:nvSpPr>
        <p:spPr>
          <a:xfrm>
            <a:off x="8427600" y="2844000"/>
            <a:ext cx="3020400" cy="283284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HTML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&lt;label for="email"&gt;Adresse email&lt;/label&gt;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&lt;input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type="email"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id="email"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name="email"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required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2. Conception du Front-end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7" name="Shape 5"/>
          <p:cNvSpPr/>
          <p:nvPr/>
        </p:nvSpPr>
        <p:spPr>
          <a:xfrm>
            <a:off x="502920" y="1645920"/>
            <a:ext cx="5453640" cy="4021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8" name="Text 6"/>
          <p:cNvSpPr/>
          <p:nvPr/>
        </p:nvSpPr>
        <p:spPr>
          <a:xfrm>
            <a:off x="758880" y="1901880"/>
            <a:ext cx="494172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Erreurs utilisateur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Text 7"/>
          <p:cNvSpPr/>
          <p:nvPr/>
        </p:nvSpPr>
        <p:spPr>
          <a:xfrm>
            <a:off x="758880" y="2377440"/>
            <a:ext cx="4941720" cy="30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Affichage de messages clairs lorsqu’un formulaire contient une erreur, sans obliger l’utilisateur à recommencer toute sa saisie.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8"/>
          <p:cNvSpPr/>
          <p:nvPr/>
        </p:nvSpPr>
        <p:spPr>
          <a:xfrm>
            <a:off x="6233040" y="1645920"/>
            <a:ext cx="5453640" cy="4021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1" name="Text 9"/>
          <p:cNvSpPr/>
          <p:nvPr/>
        </p:nvSpPr>
        <p:spPr>
          <a:xfrm>
            <a:off x="6489000" y="1901880"/>
            <a:ext cx="494172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Validation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 10"/>
          <p:cNvSpPr/>
          <p:nvPr/>
        </p:nvSpPr>
        <p:spPr>
          <a:xfrm>
            <a:off x="6489000" y="2377440"/>
            <a:ext cx="4941720" cy="30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Validation côté serveur avec Symfony : champs obligatoires, adresse email unique et contrôle des données saisies;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Shape 11"/>
          <p:cNvSpPr/>
          <p:nvPr/>
        </p:nvSpPr>
        <p:spPr>
          <a:xfrm>
            <a:off x="502920" y="585216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4" name="Text 12"/>
          <p:cNvSpPr/>
          <p:nvPr/>
        </p:nvSpPr>
        <p:spPr>
          <a:xfrm>
            <a:off x="777240" y="585216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Les données sont contrôlées côté serveur avant leur enregistrement en base de données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Shape 37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66" name="Text 73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2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Text 74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UX — Gestion des erreurs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 75"/>
          <p:cNvSpPr/>
          <p:nvPr/>
        </p:nvSpPr>
        <p:spPr>
          <a:xfrm>
            <a:off x="5758920" y="695880"/>
            <a:ext cx="489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Des messages compréhensibles pour guider l’utilisateur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Rounded Rectangle 32"/>
          <p:cNvSpPr/>
          <p:nvPr/>
        </p:nvSpPr>
        <p:spPr>
          <a:xfrm>
            <a:off x="6525000" y="3142440"/>
            <a:ext cx="4859280" cy="207684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#[Assert\NotBlank(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message: "Le titre de la recette est obligatoire."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)]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private ?string $titre = null;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#[Assert\Positive(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message: "Le nombre de personnes doit être supérieur à zéro."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)]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private ?int $nombrePersonnes = null;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70" name="" descr=""/>
          <p:cNvPicPr/>
          <p:nvPr/>
        </p:nvPicPr>
        <p:blipFill>
          <a:blip r:embed="rId1"/>
          <a:stretch/>
        </p:blipFill>
        <p:spPr>
          <a:xfrm>
            <a:off x="767160" y="2880000"/>
            <a:ext cx="4933440" cy="2650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Rectangle 1"/>
          <p:cNvSpPr/>
          <p:nvPr/>
        </p:nvSpPr>
        <p:spPr>
          <a:xfrm>
            <a:off x="0" y="0"/>
            <a:ext cx="12190680" cy="711720"/>
          </a:xfrm>
          <a:prstGeom prst="rect">
            <a:avLst/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TextBox 2"/>
          <p:cNvSpPr/>
          <p:nvPr/>
        </p:nvSpPr>
        <p:spPr>
          <a:xfrm>
            <a:off x="411480" y="109800"/>
            <a:ext cx="192744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700" spc="-1" strike="noStrike">
                <a:solidFill>
                  <a:srgbClr val="e08e2c"/>
                </a:solidFill>
                <a:latin typeface="Aptos"/>
                <a:ea typeface="DejaVu Sans"/>
              </a:rPr>
              <a:t>PARTIE 2 — EXEMPLE CONCRET — CODE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TextBox 3"/>
          <p:cNvSpPr/>
          <p:nvPr/>
        </p:nvSpPr>
        <p:spPr>
          <a:xfrm>
            <a:off x="411480" y="255960"/>
            <a:ext cx="795384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ffffff"/>
                </a:solidFill>
                <a:latin typeface="Aptos"/>
                <a:ea typeface="DejaVu Sans"/>
              </a:rPr>
              <a:t>Formulaire — validation serveur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Box 4"/>
          <p:cNvSpPr/>
          <p:nvPr/>
        </p:nvSpPr>
        <p:spPr>
          <a:xfrm>
            <a:off x="8412480" y="274320"/>
            <a:ext cx="319896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Compétences 4 et 7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TextBox 5"/>
          <p:cNvSpPr/>
          <p:nvPr/>
        </p:nvSpPr>
        <p:spPr>
          <a:xfrm>
            <a:off x="411480" y="6565320"/>
            <a:ext cx="27417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600" spc="-1" strike="noStrike">
                <a:solidFill>
                  <a:srgbClr val="267837"/>
                </a:solidFill>
                <a:latin typeface="Aptos"/>
                <a:ea typeface="DejaVu Sans"/>
              </a:rPr>
              <a:t>AU FIL DES SAISONS  •  DWWM 2026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Rounded Rectangle 6"/>
          <p:cNvSpPr/>
          <p:nvPr/>
        </p:nvSpPr>
        <p:spPr>
          <a:xfrm>
            <a:off x="457200" y="186876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TextBox 7"/>
          <p:cNvSpPr/>
          <p:nvPr/>
        </p:nvSpPr>
        <p:spPr>
          <a:xfrm>
            <a:off x="530280" y="1919160"/>
            <a:ext cx="177264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EXTRAIT DE CODE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Rounded Rectangle 8"/>
          <p:cNvSpPr/>
          <p:nvPr/>
        </p:nvSpPr>
        <p:spPr>
          <a:xfrm>
            <a:off x="457200" y="2360160"/>
            <a:ext cx="5622120" cy="287892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f4f7f2"/>
                </a:solidFill>
                <a:latin typeface="Arial"/>
                <a:ea typeface="DejaVu Sans"/>
              </a:rPr>
              <a:t>#[Assert\NotBlank(</a:t>
            </a:r>
            <a:br>
              <a:rPr sz="1000"/>
            </a:br>
            <a:r>
              <a:rPr b="0" lang="fr-FR" sz="1000" spc="-1" strike="noStrike">
                <a:solidFill>
                  <a:srgbClr val="f4f7f2"/>
                </a:solidFill>
                <a:latin typeface="Arial"/>
                <a:ea typeface="DejaVu Sans"/>
              </a:rPr>
              <a:t> message: 'Le titre de la recette est obligatoire.'</a:t>
            </a:r>
            <a:br>
              <a:rPr sz="1000"/>
            </a:br>
            <a:r>
              <a:rPr b="0" lang="fr-FR" sz="1000" spc="-1" strike="noStrike">
                <a:solidFill>
                  <a:srgbClr val="f4f7f2"/>
                </a:solidFill>
                <a:latin typeface="Arial"/>
                <a:ea typeface="DejaVu Sans"/>
              </a:rPr>
              <a:t>)]</a:t>
            </a:r>
            <a:br>
              <a:rPr sz="1000"/>
            </a:br>
            <a:r>
              <a:rPr b="0" lang="fr-FR" sz="1000" spc="-1" strike="noStrike">
                <a:solidFill>
                  <a:srgbClr val="f4f7f2"/>
                </a:solidFill>
                <a:latin typeface="Arial"/>
                <a:ea typeface="DejaVu Sans"/>
              </a:rPr>
              <a:t>private ?string $titre = null;</a:t>
            </a:r>
            <a:br>
              <a:rPr sz="1000"/>
            </a:br>
            <a:br>
              <a:rPr sz="1000"/>
            </a:br>
            <a:r>
              <a:rPr b="0" lang="fr-FR" sz="1000" spc="-1" strike="noStrike">
                <a:solidFill>
                  <a:srgbClr val="f4f7f2"/>
                </a:solidFill>
                <a:latin typeface="Arial"/>
                <a:ea typeface="DejaVu Sans"/>
              </a:rPr>
              <a:t>#[Assert\Positive(</a:t>
            </a:r>
            <a:br>
              <a:rPr sz="1000"/>
            </a:br>
            <a:r>
              <a:rPr b="0" lang="fr-FR" sz="1000" spc="-1" strike="noStrike">
                <a:solidFill>
                  <a:srgbClr val="f4f7f2"/>
                </a:solidFill>
                <a:latin typeface="Arial"/>
                <a:ea typeface="DejaVu Sans"/>
              </a:rPr>
              <a:t> message: 'Le nombre de personnes doit être supérieur à zéro.'</a:t>
            </a:r>
            <a:br>
              <a:rPr sz="1000"/>
            </a:br>
            <a:r>
              <a:rPr b="0" lang="fr-FR" sz="1000" spc="-1" strike="noStrike">
                <a:solidFill>
                  <a:srgbClr val="f4f7f2"/>
                </a:solidFill>
                <a:latin typeface="Arial"/>
                <a:ea typeface="DejaVu Sans"/>
              </a:rPr>
              <a:t>)]</a:t>
            </a:r>
            <a:br>
              <a:rPr sz="1000"/>
            </a:br>
            <a:r>
              <a:rPr b="0" lang="fr-FR" sz="1000" spc="-1" strike="noStrike">
                <a:solidFill>
                  <a:srgbClr val="f4f7f2"/>
                </a:solidFill>
                <a:latin typeface="Arial"/>
                <a:ea typeface="DejaVu Sans"/>
              </a:rPr>
              <a:t>private ?int $nombrePersonnes = null;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Rounded Rectangle 9"/>
          <p:cNvSpPr/>
          <p:nvPr/>
        </p:nvSpPr>
        <p:spPr>
          <a:xfrm>
            <a:off x="6355080" y="1868760"/>
            <a:ext cx="2010240" cy="291240"/>
          </a:xfrm>
          <a:prstGeom prst="roundRect">
            <a:avLst>
              <a:gd name="adj" fmla="val 16667"/>
            </a:avLst>
          </a:prstGeom>
          <a:solidFill>
            <a:srgbClr val="e08e2c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TextBox 10"/>
          <p:cNvSpPr/>
          <p:nvPr/>
        </p:nvSpPr>
        <p:spPr>
          <a:xfrm>
            <a:off x="6428160" y="1919160"/>
            <a:ext cx="18640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ÇA PROUVE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Rounded Rectangle 11"/>
          <p:cNvSpPr/>
          <p:nvPr/>
        </p:nvSpPr>
        <p:spPr>
          <a:xfrm>
            <a:off x="6355080" y="2216160"/>
            <a:ext cx="5375160" cy="132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TextBox 12"/>
          <p:cNvSpPr/>
          <p:nvPr/>
        </p:nvSpPr>
        <p:spPr>
          <a:xfrm>
            <a:off x="6537960" y="2417400"/>
            <a:ext cx="4982040" cy="90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Les champs obligatoires sont vérifiés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Les valeurs incorrectes sont refusées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Un message explique à l'utilisateur ce qu'il doit corriger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Rounded Rectangle 13"/>
          <p:cNvSpPr/>
          <p:nvPr/>
        </p:nvSpPr>
        <p:spPr>
          <a:xfrm>
            <a:off x="6355080" y="375228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TextBox 14"/>
          <p:cNvSpPr/>
          <p:nvPr/>
        </p:nvSpPr>
        <p:spPr>
          <a:xfrm>
            <a:off x="6428160" y="3802680"/>
            <a:ext cx="177264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CA DIT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Rounded Rectangle 15"/>
          <p:cNvSpPr/>
          <p:nvPr/>
        </p:nvSpPr>
        <p:spPr>
          <a:xfrm>
            <a:off x="6355080" y="4099680"/>
            <a:ext cx="5375160" cy="1507320"/>
          </a:xfrm>
          <a:prstGeom prst="roundRect">
            <a:avLst>
              <a:gd name="adj" fmla="val 16667"/>
            </a:avLst>
          </a:prstGeom>
          <a:solidFill>
            <a:srgbClr val="f7faf4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TextBox 16"/>
          <p:cNvSpPr/>
          <p:nvPr/>
        </p:nvSpPr>
        <p:spPr>
          <a:xfrm>
            <a:off x="6565320" y="4319280"/>
            <a:ext cx="49179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« Symfony vérifie les règles de validation avant l’enregistrement. Si une donnée n’est pas valide, un message d’erreur est affiché et la recette n’est pas enregistrée. »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2. Conception du Front-end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9" name="Shape 5"/>
          <p:cNvSpPr/>
          <p:nvPr/>
        </p:nvSpPr>
        <p:spPr>
          <a:xfrm>
            <a:off x="502920" y="1508760"/>
            <a:ext cx="3543480" cy="420408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0" name="Text 6"/>
          <p:cNvSpPr/>
          <p:nvPr/>
        </p:nvSpPr>
        <p:spPr>
          <a:xfrm>
            <a:off x="758880" y="176472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Échappement Twig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Text 7"/>
          <p:cNvSpPr/>
          <p:nvPr/>
        </p:nvSpPr>
        <p:spPr>
          <a:xfrm>
            <a:off x="758880" y="2240280"/>
            <a:ext cx="3031560" cy="32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Les variables affichées sont automatiquement échappées, ce qui limite les risques d'injection XSS.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Exemple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8"/>
          <p:cNvSpPr/>
          <p:nvPr/>
        </p:nvSpPr>
        <p:spPr>
          <a:xfrm>
            <a:off x="4322880" y="1508760"/>
            <a:ext cx="3543480" cy="420408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3" name="Text 9"/>
          <p:cNvSpPr/>
          <p:nvPr/>
        </p:nvSpPr>
        <p:spPr>
          <a:xfrm>
            <a:off x="4578840" y="176472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Jetons CSRF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 10"/>
          <p:cNvSpPr/>
          <p:nvPr/>
        </p:nvSpPr>
        <p:spPr>
          <a:xfrm>
            <a:off x="4578840" y="2240280"/>
            <a:ext cx="3031560" cy="32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Les formulaires Symfony utilisent une protection CSRF pour limiter les actions envoyées à l’insu de l’utilisateur.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Dans security.yaml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Shape 11"/>
          <p:cNvSpPr/>
          <p:nvPr/>
        </p:nvSpPr>
        <p:spPr>
          <a:xfrm>
            <a:off x="8143200" y="1508760"/>
            <a:ext cx="3543480" cy="420408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6" name="Text 12"/>
          <p:cNvSpPr/>
          <p:nvPr/>
        </p:nvSpPr>
        <p:spPr>
          <a:xfrm>
            <a:off x="8399160" y="176472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Mots de passe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 13"/>
          <p:cNvSpPr/>
          <p:nvPr/>
        </p:nvSpPr>
        <p:spPr>
          <a:xfrm>
            <a:off x="8399160" y="2240280"/>
            <a:ext cx="3031560" cy="32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Les mots de passe ne sont jamais stockés en clair : ils sont hachés avant leur enregistrement en base de données.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Dans security.yaml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38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99" name="Text 77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2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Text 78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Sécurisation des données et des formulaires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 79"/>
          <p:cNvSpPr/>
          <p:nvPr/>
        </p:nvSpPr>
        <p:spPr>
          <a:xfrm>
            <a:off x="9574920" y="695880"/>
            <a:ext cx="1944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Symfony, Twig et security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Rounded Rectangle 19"/>
          <p:cNvSpPr/>
          <p:nvPr/>
        </p:nvSpPr>
        <p:spPr>
          <a:xfrm>
            <a:off x="745200" y="3332160"/>
            <a:ext cx="2962080" cy="69912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{{ recette.titre }}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Rounded Rectangle 20"/>
          <p:cNvSpPr/>
          <p:nvPr/>
        </p:nvSpPr>
        <p:spPr>
          <a:xfrm>
            <a:off x="8413560" y="3332520"/>
            <a:ext cx="2962080" cy="188676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security: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password_hashers: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Symfony\Component\Security\                Core\User\                   PasswordAuthenticatedUserInterface: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algorithm: auto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Rounded Rectangle 31"/>
          <p:cNvSpPr/>
          <p:nvPr/>
        </p:nvSpPr>
        <p:spPr>
          <a:xfrm>
            <a:off x="4597560" y="3332520"/>
            <a:ext cx="2962080" cy="69912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form_login: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enable_csrf: true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2. Conception du Front-end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Shape 5"/>
          <p:cNvSpPr/>
          <p:nvPr/>
        </p:nvSpPr>
        <p:spPr>
          <a:xfrm>
            <a:off x="502920" y="1260000"/>
            <a:ext cx="3543480" cy="521964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7" name="Text 6"/>
          <p:cNvSpPr/>
          <p:nvPr/>
        </p:nvSpPr>
        <p:spPr>
          <a:xfrm>
            <a:off x="758880" y="14338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Prototypage dans Figma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Text 7"/>
          <p:cNvSpPr/>
          <p:nvPr/>
        </p:nvSpPr>
        <p:spPr>
          <a:xfrm>
            <a:off x="758880" y="1909440"/>
            <a:ext cx="3031560" cy="30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Difficulté</a:t>
            </a: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 : Créer une navigation cohérente entre les écrans desktop et mobile.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Solution</a:t>
            </a: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 : Création de composants réutilisables et simulation des parcours utilisateurs dans figma.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Résultat</a:t>
            </a: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 : Un prototype fonctionnel permettant de tester la navigation avant le développement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Shape 8"/>
          <p:cNvSpPr/>
          <p:nvPr/>
        </p:nvSpPr>
        <p:spPr>
          <a:xfrm>
            <a:off x="4322880" y="1260000"/>
            <a:ext cx="3543480" cy="521928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0" name="Text 9"/>
          <p:cNvSpPr/>
          <p:nvPr/>
        </p:nvSpPr>
        <p:spPr>
          <a:xfrm>
            <a:off x="4578840" y="14338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Identité visuelle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 10"/>
          <p:cNvSpPr/>
          <p:nvPr/>
        </p:nvSpPr>
        <p:spPr>
          <a:xfrm>
            <a:off x="4578840" y="1909440"/>
            <a:ext cx="3031560" cy="30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Difficulté :</a:t>
            </a: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 Conserver une identité graphique cohérente malgré les différentes saisons et catégories de produits.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Solution :</a:t>
            </a: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 Création d’une charte commune et déclinaison des éléments visuels selon les saisons.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Cette charte se situe dans </a:t>
            </a:r>
            <a:r>
              <a:rPr b="1" i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variables.css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11"/>
          <p:cNvSpPr/>
          <p:nvPr/>
        </p:nvSpPr>
        <p:spPr>
          <a:xfrm>
            <a:off x="8143200" y="1260000"/>
            <a:ext cx="3543480" cy="521928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3" name="Text 12"/>
          <p:cNvSpPr/>
          <p:nvPr/>
        </p:nvSpPr>
        <p:spPr>
          <a:xfrm>
            <a:off x="8399160" y="14338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Responsive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Text 13"/>
          <p:cNvSpPr/>
          <p:nvPr/>
        </p:nvSpPr>
        <p:spPr>
          <a:xfrm>
            <a:off x="8399160" y="1729440"/>
            <a:ext cx="3031560" cy="30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Difficulté </a:t>
            </a: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: Adapter les cartes, formulaires et la navigation aux différentes tailles d’écran.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Solution : </a:t>
            </a: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Utilisation de CSS Grid et de media queries pour réorganiser les éléments selon la largeur de l’écran.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Résultat</a:t>
            </a: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 : La navigation s’adapte automatiquement à la taille de l’écran pour rester sur desktop et mobile.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Shape 40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16" name="Text 80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2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 81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Contraintes rencontrées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 82"/>
          <p:cNvSpPr/>
          <p:nvPr/>
        </p:nvSpPr>
        <p:spPr>
          <a:xfrm>
            <a:off x="5542920" y="695880"/>
            <a:ext cx="111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Front-end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"/>
          <p:cNvSpPr/>
          <p:nvPr/>
        </p:nvSpPr>
        <p:spPr>
          <a:xfrm>
            <a:off x="4469400" y="4542480"/>
            <a:ext cx="3285000" cy="1684800"/>
          </a:xfrm>
          <a:custGeom>
            <a:avLst/>
            <a:gdLst>
              <a:gd name="textAreaLeft" fmla="*/ 0 w 3285000"/>
              <a:gd name="textAreaRight" fmla="*/ 3285720 w 3285000"/>
              <a:gd name="textAreaTop" fmla="*/ 0 h 1684800"/>
              <a:gd name="textAreaBottom" fmla="*/ 1685520 h 1684800"/>
            </a:gdLst>
            <a:ahLst/>
            <a:rect l="textAreaLeft" t="textAreaTop" r="textAreaRight" b="textAreaBottom"/>
            <a:pathLst>
              <a:path w="9127" h="4682">
                <a:moveTo>
                  <a:pt x="0" y="4682"/>
                </a:moveTo>
                <a:cubicBezTo>
                  <a:pt x="0" y="3121"/>
                  <a:pt x="0" y="1561"/>
                  <a:pt x="0" y="0"/>
                </a:cubicBezTo>
                <a:cubicBezTo>
                  <a:pt x="3042" y="0"/>
                  <a:pt x="6085" y="0"/>
                  <a:pt x="9127" y="0"/>
                </a:cubicBezTo>
                <a:cubicBezTo>
                  <a:pt x="9127" y="1561"/>
                  <a:pt x="9127" y="3121"/>
                  <a:pt x="9127" y="4682"/>
                </a:cubicBezTo>
                <a:cubicBezTo>
                  <a:pt x="6085" y="4682"/>
                  <a:pt x="3042" y="4682"/>
                  <a:pt x="0" y="4682"/>
                </a:cubicBez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0" name="Rounded Rectangle 33"/>
          <p:cNvSpPr/>
          <p:nvPr/>
        </p:nvSpPr>
        <p:spPr>
          <a:xfrm>
            <a:off x="8215200" y="4150440"/>
            <a:ext cx="3376080" cy="117684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.catalogue-season-choice nav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display: grid;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grid-template-columns: repeat(5, minmax(0,       1fr));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gap: 13px;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" name="Rounded Rectangle 34"/>
          <p:cNvSpPr/>
          <p:nvPr/>
        </p:nvSpPr>
        <p:spPr>
          <a:xfrm>
            <a:off x="8215560" y="5230440"/>
            <a:ext cx="3376080" cy="117684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@media (max-width: 600px)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.catalogue-season-choice nav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grid-template-columns: repeat(2,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	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minmax(0, 1fr));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gap: 8px;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f5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Shape 0"/>
          <p:cNvSpPr/>
          <p:nvPr/>
        </p:nvSpPr>
        <p:spPr>
          <a:xfrm>
            <a:off x="9418320" y="-1463040"/>
            <a:ext cx="4204080" cy="4204080"/>
          </a:xfrm>
          <a:prstGeom prst="ellipse">
            <a:avLst/>
          </a:prstGeom>
          <a:solidFill>
            <a:srgbClr val="2e7f32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23" name="Shape 1"/>
          <p:cNvSpPr/>
          <p:nvPr/>
        </p:nvSpPr>
        <p:spPr>
          <a:xfrm>
            <a:off x="10607040" y="-548640"/>
            <a:ext cx="2741040" cy="2741040"/>
          </a:xfrm>
          <a:prstGeom prst="ellipse">
            <a:avLst/>
          </a:prstGeom>
          <a:solidFill>
            <a:srgbClr val="2e7f32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24" name="Text 2"/>
          <p:cNvSpPr/>
          <p:nvPr/>
        </p:nvSpPr>
        <p:spPr>
          <a:xfrm>
            <a:off x="640080" y="233172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3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Text 3"/>
          <p:cNvSpPr/>
          <p:nvPr/>
        </p:nvSpPr>
        <p:spPr>
          <a:xfrm>
            <a:off x="594360" y="2788920"/>
            <a:ext cx="914184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Développer le back-end</a:t>
            </a:r>
            <a:endParaRPr b="0" lang="fr-FR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Text 4"/>
          <p:cNvSpPr/>
          <p:nvPr/>
        </p:nvSpPr>
        <p:spPr>
          <a:xfrm>
            <a:off x="640080" y="3703320"/>
            <a:ext cx="8227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cfe6cf"/>
                </a:solidFill>
                <a:latin typeface="Calibri"/>
                <a:ea typeface="Calibri"/>
              </a:rPr>
              <a:t>Accès aux données, logique métier et sécurité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Text 5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3. Conception du Back-end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30" name="Shape 5"/>
          <p:cNvSpPr/>
          <p:nvPr/>
        </p:nvSpPr>
        <p:spPr>
          <a:xfrm>
            <a:off x="50292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31" name="Text 6"/>
          <p:cNvSpPr/>
          <p:nvPr/>
        </p:nvSpPr>
        <p:spPr>
          <a:xfrm>
            <a:off x="75888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Entity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 7"/>
          <p:cNvSpPr/>
          <p:nvPr/>
        </p:nvSpPr>
        <p:spPr>
          <a:xfrm>
            <a:off x="758880" y="2148840"/>
            <a:ext cx="3031560" cy="33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Les entités PHP représentent les données de l’application et leurs relations : utilisateurs, recettes, produits , saisons, etc, ...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Shape 8"/>
          <p:cNvSpPr/>
          <p:nvPr/>
        </p:nvSpPr>
        <p:spPr>
          <a:xfrm>
            <a:off x="432288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34" name="Text 9"/>
          <p:cNvSpPr/>
          <p:nvPr/>
        </p:nvSpPr>
        <p:spPr>
          <a:xfrm>
            <a:off x="457884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Repository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 10"/>
          <p:cNvSpPr/>
          <p:nvPr/>
        </p:nvSpPr>
        <p:spPr>
          <a:xfrm>
            <a:off x="4578840" y="2148840"/>
            <a:ext cx="3031560" cy="33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Les Repository Doctrine permettent de rechercher et filtrer les données enregistrées en base.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Exemple : récupère toutes les recettes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Exemple : récupère les produits d’une saison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Shape 11"/>
          <p:cNvSpPr/>
          <p:nvPr/>
        </p:nvSpPr>
        <p:spPr>
          <a:xfrm>
            <a:off x="810000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37" name="Text 12"/>
          <p:cNvSpPr/>
          <p:nvPr/>
        </p:nvSpPr>
        <p:spPr>
          <a:xfrm>
            <a:off x="839916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Migrations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 13"/>
          <p:cNvSpPr/>
          <p:nvPr/>
        </p:nvSpPr>
        <p:spPr>
          <a:xfrm>
            <a:off x="8399160" y="2148840"/>
            <a:ext cx="3031560" cy="33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Les migrations permettent de conserver et d’appliquer les modifications de la structure de la base de données.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14"/>
          <p:cNvSpPr/>
          <p:nvPr/>
        </p:nvSpPr>
        <p:spPr>
          <a:xfrm>
            <a:off x="502920" y="594360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40" name="Text 15"/>
          <p:cNvSpPr/>
          <p:nvPr/>
        </p:nvSpPr>
        <p:spPr>
          <a:xfrm>
            <a:off x="777240" y="594360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Doctrine ORM fait le lien entre les objets PHP de l’application et les données stockées dans MySQL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Shape 42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42" name="Text 84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3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Text 85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Couche d’accès aux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Text 86"/>
          <p:cNvSpPr/>
          <p:nvPr/>
        </p:nvSpPr>
        <p:spPr>
          <a:xfrm>
            <a:off x="6298920" y="695880"/>
            <a:ext cx="291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Doctrine ORM, Repository et Entity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5" name="" descr=""/>
          <p:cNvPicPr/>
          <p:nvPr/>
        </p:nvPicPr>
        <p:blipFill>
          <a:blip r:embed="rId1"/>
          <a:stretch/>
        </p:blipFill>
        <p:spPr>
          <a:xfrm>
            <a:off x="559800" y="3240000"/>
            <a:ext cx="3399480" cy="1904040"/>
          </a:xfrm>
          <a:prstGeom prst="rect">
            <a:avLst/>
          </a:prstGeom>
          <a:ln w="0">
            <a:noFill/>
          </a:ln>
        </p:spPr>
      </p:pic>
      <p:sp>
        <p:nvSpPr>
          <p:cNvPr id="446" name="Rounded Rectangle 35"/>
          <p:cNvSpPr/>
          <p:nvPr/>
        </p:nvSpPr>
        <p:spPr>
          <a:xfrm>
            <a:off x="4525200" y="3276000"/>
            <a:ext cx="3142080" cy="5392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ffffff"/>
                </a:solidFill>
                <a:latin typeface="Arial"/>
                <a:ea typeface="DejaVu Sans"/>
              </a:rPr>
              <a:t>$recettes = $recetteRepository-&gt;findAll();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" name="Rounded Rectangle 37"/>
          <p:cNvSpPr/>
          <p:nvPr/>
        </p:nvSpPr>
        <p:spPr>
          <a:xfrm>
            <a:off x="4273560" y="4572360"/>
            <a:ext cx="3616920" cy="5392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ffffff"/>
                </a:solidFill>
                <a:latin typeface="Arial"/>
                <a:ea typeface="DejaVu Sans"/>
              </a:rPr>
              <a:t>$products = $productRepository-&gt;findBySeason($season);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48" name="" descr=""/>
          <p:cNvPicPr/>
          <p:nvPr/>
        </p:nvPicPr>
        <p:blipFill>
          <a:blip r:embed="rId2"/>
          <a:stretch/>
        </p:blipFill>
        <p:spPr>
          <a:xfrm>
            <a:off x="8568000" y="3298320"/>
            <a:ext cx="2532600" cy="1560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Rectangle 1"/>
          <p:cNvSpPr/>
          <p:nvPr/>
        </p:nvSpPr>
        <p:spPr>
          <a:xfrm>
            <a:off x="0" y="0"/>
            <a:ext cx="12190680" cy="711720"/>
          </a:xfrm>
          <a:prstGeom prst="rect">
            <a:avLst/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TextBox 2"/>
          <p:cNvSpPr/>
          <p:nvPr/>
        </p:nvSpPr>
        <p:spPr>
          <a:xfrm>
            <a:off x="411480" y="109800"/>
            <a:ext cx="228744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700" spc="-1" strike="noStrike">
                <a:solidFill>
                  <a:srgbClr val="e08e2c"/>
                </a:solidFill>
                <a:latin typeface="Aptos"/>
                <a:ea typeface="DejaVu Sans"/>
              </a:rPr>
              <a:t>PARTIE 3 — EXEMPLE CONCRET — CODE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TextBox 3"/>
          <p:cNvSpPr/>
          <p:nvPr/>
        </p:nvSpPr>
        <p:spPr>
          <a:xfrm>
            <a:off x="411480" y="255960"/>
            <a:ext cx="795384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ffffff"/>
                </a:solidFill>
                <a:latin typeface="Aptos"/>
                <a:ea typeface="DejaVu Sans"/>
              </a:rPr>
              <a:t>Doctrine — Repository Recette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Box 4"/>
          <p:cNvSpPr/>
          <p:nvPr/>
        </p:nvSpPr>
        <p:spPr>
          <a:xfrm>
            <a:off x="8412480" y="274320"/>
            <a:ext cx="319896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Compétences 5 et 6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Box 5"/>
          <p:cNvSpPr/>
          <p:nvPr/>
        </p:nvSpPr>
        <p:spPr>
          <a:xfrm>
            <a:off x="411480" y="6565320"/>
            <a:ext cx="27417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600" spc="-1" strike="noStrike">
                <a:solidFill>
                  <a:srgbClr val="267837"/>
                </a:solidFill>
                <a:latin typeface="Aptos"/>
                <a:ea typeface="DejaVu Sans"/>
              </a:rPr>
              <a:t>AU FIL DES SAISONS  •  DWWM 2026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Rounded Rectangle 6"/>
          <p:cNvSpPr/>
          <p:nvPr/>
        </p:nvSpPr>
        <p:spPr>
          <a:xfrm>
            <a:off x="457200" y="179676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TextBox 7"/>
          <p:cNvSpPr/>
          <p:nvPr/>
        </p:nvSpPr>
        <p:spPr>
          <a:xfrm>
            <a:off x="530280" y="1847160"/>
            <a:ext cx="177264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EXTRAIT DE CODE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Rounded Rectangle 8"/>
          <p:cNvSpPr/>
          <p:nvPr/>
        </p:nvSpPr>
        <p:spPr>
          <a:xfrm>
            <a:off x="457200" y="2252160"/>
            <a:ext cx="5622120" cy="287892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4f7f2"/>
                </a:solidFill>
                <a:latin typeface="Arial"/>
                <a:ea typeface="DejaVu Sans"/>
              </a:rPr>
              <a:t>public function findByProduit(int $id): array</a:t>
            </a:r>
            <a:br>
              <a:rPr sz="1200"/>
            </a:br>
            <a:r>
              <a:rPr b="0" lang="fr-FR" sz="1200" spc="-1" strike="noStrike">
                <a:solidFill>
                  <a:srgbClr val="f4f7f2"/>
                </a:solidFill>
                <a:latin typeface="Arial"/>
                <a:ea typeface="DejaVu Sans"/>
              </a:rPr>
              <a:t>{</a:t>
            </a:r>
            <a:br>
              <a:rPr sz="1200"/>
            </a:br>
            <a:r>
              <a:rPr b="0" lang="fr-FR" sz="1200" spc="-1" strike="noStrike">
                <a:solidFill>
                  <a:srgbClr val="f4f7f2"/>
                </a:solidFill>
                <a:latin typeface="Arial"/>
                <a:ea typeface="DejaVu Sans"/>
              </a:rPr>
              <a:t>  return $this-&gt;createQueryBuilder('r')</a:t>
            </a:r>
            <a:br>
              <a:rPr sz="1200"/>
            </a:br>
            <a:r>
              <a:rPr b="0" lang="fr-FR" sz="1200" spc="-1" strike="noStrike">
                <a:solidFill>
                  <a:srgbClr val="f4f7f2"/>
                </a:solidFill>
                <a:latin typeface="Arial"/>
                <a:ea typeface="DejaVu Sans"/>
              </a:rPr>
              <a:t>    -&gt;join('r.produits', 'p')</a:t>
            </a:r>
            <a:br>
              <a:rPr sz="1200"/>
            </a:br>
            <a:r>
              <a:rPr b="0" lang="fr-FR" sz="1200" spc="-1" strike="noStrike">
                <a:solidFill>
                  <a:srgbClr val="f4f7f2"/>
                </a:solidFill>
                <a:latin typeface="Arial"/>
                <a:ea typeface="DejaVu Sans"/>
              </a:rPr>
              <a:t>    -&gt;where('p.id = :id')</a:t>
            </a:r>
            <a:br>
              <a:rPr sz="1200"/>
            </a:br>
            <a:r>
              <a:rPr b="0" lang="fr-FR" sz="1200" spc="-1" strike="noStrike">
                <a:solidFill>
                  <a:srgbClr val="f4f7f2"/>
                </a:solidFill>
                <a:latin typeface="Arial"/>
                <a:ea typeface="DejaVu Sans"/>
              </a:rPr>
              <a:t>    -&gt;setParameter('id', $id)</a:t>
            </a:r>
            <a:br>
              <a:rPr sz="1200"/>
            </a:br>
            <a:r>
              <a:rPr b="0" lang="fr-FR" sz="1200" spc="-1" strike="noStrike">
                <a:solidFill>
                  <a:srgbClr val="f4f7f2"/>
                </a:solidFill>
                <a:latin typeface="Arial"/>
                <a:ea typeface="DejaVu Sans"/>
              </a:rPr>
              <a:t>    -&gt;getQuery()</a:t>
            </a:r>
            <a:br>
              <a:rPr sz="1200"/>
            </a:br>
            <a:r>
              <a:rPr b="0" lang="fr-FR" sz="1200" spc="-1" strike="noStrike">
                <a:solidFill>
                  <a:srgbClr val="f4f7f2"/>
                </a:solidFill>
                <a:latin typeface="Arial"/>
                <a:ea typeface="DejaVu Sans"/>
              </a:rPr>
              <a:t>    -&gt;getResult();</a:t>
            </a:r>
            <a:br>
              <a:rPr sz="1200"/>
            </a:br>
            <a:r>
              <a:rPr b="0" lang="fr-FR" sz="1200" spc="-1" strike="noStrike">
                <a:solidFill>
                  <a:srgbClr val="f4f7f2"/>
                </a:solidFill>
                <a:latin typeface="Arial"/>
                <a:ea typeface="DejaVu Sans"/>
              </a:rPr>
              <a:t>}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Rounded Rectangle 9"/>
          <p:cNvSpPr/>
          <p:nvPr/>
        </p:nvSpPr>
        <p:spPr>
          <a:xfrm>
            <a:off x="6355080" y="1796760"/>
            <a:ext cx="2010240" cy="291240"/>
          </a:xfrm>
          <a:prstGeom prst="roundRect">
            <a:avLst>
              <a:gd name="adj" fmla="val 16667"/>
            </a:avLst>
          </a:prstGeom>
          <a:solidFill>
            <a:srgbClr val="e08e2c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TextBox 10"/>
          <p:cNvSpPr/>
          <p:nvPr/>
        </p:nvSpPr>
        <p:spPr>
          <a:xfrm>
            <a:off x="6428160" y="1847160"/>
            <a:ext cx="18640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ÇA PROUVE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Rounded Rectangle 11"/>
          <p:cNvSpPr/>
          <p:nvPr/>
        </p:nvSpPr>
        <p:spPr>
          <a:xfrm>
            <a:off x="6355080" y="2144160"/>
            <a:ext cx="5375160" cy="132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TextBox 12"/>
          <p:cNvSpPr/>
          <p:nvPr/>
        </p:nvSpPr>
        <p:spPr>
          <a:xfrm>
            <a:off x="6537960" y="2345400"/>
            <a:ext cx="4982040" cy="81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La requête filtre les recettes par produit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Le paramètre nommé évite la concaténation SQL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Doctrine retourne une collection d’objets Recette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Rounded Rectangle 13"/>
          <p:cNvSpPr/>
          <p:nvPr/>
        </p:nvSpPr>
        <p:spPr>
          <a:xfrm>
            <a:off x="6355080" y="368028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TextBox 14"/>
          <p:cNvSpPr/>
          <p:nvPr/>
        </p:nvSpPr>
        <p:spPr>
          <a:xfrm>
            <a:off x="6428160" y="3730680"/>
            <a:ext cx="177264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CA DIT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Rounded Rectangle 15"/>
          <p:cNvSpPr/>
          <p:nvPr/>
        </p:nvSpPr>
        <p:spPr>
          <a:xfrm>
            <a:off x="6355080" y="4027680"/>
            <a:ext cx="5375160" cy="1507320"/>
          </a:xfrm>
          <a:prstGeom prst="roundRect">
            <a:avLst>
              <a:gd name="adj" fmla="val 16667"/>
            </a:avLst>
          </a:prstGeom>
          <a:solidFill>
            <a:srgbClr val="f7faf4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TextBox 16"/>
          <p:cNvSpPr/>
          <p:nvPr/>
        </p:nvSpPr>
        <p:spPr>
          <a:xfrm>
            <a:off x="6565320" y="4247280"/>
            <a:ext cx="491796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« Cette méthode permet de retrouver toutes les recettes associées à un produit. Par exemple, si l’utilisateur sélectionne une tomate, le Repository recherche les recettes qui utilisent ce produit. Doctrine construit et exécute la requête puis me retourne les recettes trouvées. »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Rounded Rectangle 4"/>
          <p:cNvSpPr/>
          <p:nvPr/>
        </p:nvSpPr>
        <p:spPr>
          <a:xfrm>
            <a:off x="411480" y="1300680"/>
            <a:ext cx="6765480" cy="516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466" name="TextBox 6"/>
          <p:cNvSpPr/>
          <p:nvPr/>
        </p:nvSpPr>
        <p:spPr>
          <a:xfrm>
            <a:off x="1312920" y="5940720"/>
            <a:ext cx="1792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fr-FR" sz="900" spc="-1" strike="noStrike">
                <a:solidFill>
                  <a:srgbClr val="1d211d"/>
                </a:solidFill>
                <a:latin typeface="Arial"/>
                <a:ea typeface="DejaVu Sans"/>
              </a:rPr>
              <a:t>Flux de suggestions de recettes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Rounded Rectangle 7"/>
          <p:cNvSpPr/>
          <p:nvPr/>
        </p:nvSpPr>
        <p:spPr>
          <a:xfrm>
            <a:off x="7356960" y="1350000"/>
            <a:ext cx="4342320" cy="246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468" name="TextBox 8"/>
          <p:cNvSpPr/>
          <p:nvPr/>
        </p:nvSpPr>
        <p:spPr>
          <a:xfrm>
            <a:off x="8844480" y="1617840"/>
            <a:ext cx="1466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1d6332"/>
                </a:solidFill>
                <a:latin typeface="Arial"/>
                <a:ea typeface="DejaVu Sans"/>
              </a:rPr>
              <a:t>Choix fonctionnel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Box 9"/>
          <p:cNvSpPr/>
          <p:nvPr/>
        </p:nvSpPr>
        <p:spPr>
          <a:xfrm>
            <a:off x="7553160" y="2010960"/>
            <a:ext cx="4057920" cy="128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Recherche par ville plutôt que par GPS.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1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OpenWeather</a:t>
            </a:r>
            <a:r>
              <a:rPr b="0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 fournit la température et les conditions météo.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1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WeatherService</a:t>
            </a:r>
            <a:r>
              <a:rPr b="0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 extrait les données utiles.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•</a:t>
            </a:r>
            <a:r>
              <a:rPr b="1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RecipeSuggestionService </a:t>
            </a:r>
            <a:r>
              <a:rPr b="0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utilise la météo pour adapter 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les suggestions de recettes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Shape 47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71" name="Text 83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3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 93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API météo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 94"/>
          <p:cNvSpPr/>
          <p:nvPr/>
        </p:nvSpPr>
        <p:spPr>
          <a:xfrm>
            <a:off x="2770920" y="695880"/>
            <a:ext cx="471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WeatherService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Rounded Rectangle 38"/>
          <p:cNvSpPr/>
          <p:nvPr/>
        </p:nvSpPr>
        <p:spPr>
          <a:xfrm>
            <a:off x="3960000" y="1548360"/>
            <a:ext cx="2879280" cy="431892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$temperature = $weather['temperature'] ?? null;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$temperatureMax = $weather['temperatureMax'] ?? $temperature;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$condition = $weather['condition'] ?? '';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$coldOrWet = null !== $temperature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&amp;&amp; (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$temperature &lt; 10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|| in_array(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$condition,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['Rain', 'Drizzle', 'Thunderstorm',         'Snow'],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true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) 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$hot = null !== $temperatureMax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&amp;&amp; $temperatureMax &gt;= 25;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TextBox 36"/>
          <p:cNvSpPr/>
          <p:nvPr/>
        </p:nvSpPr>
        <p:spPr>
          <a:xfrm>
            <a:off x="3997080" y="5940720"/>
            <a:ext cx="2491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fr-FR" sz="900" spc="-1" strike="noStrike">
                <a:solidFill>
                  <a:srgbClr val="1d211d"/>
                </a:solidFill>
                <a:latin typeface="Arial"/>
                <a:ea typeface="DejaVu Sans"/>
              </a:rPr>
              <a:t>Dans recipeSuggestionService.php 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fr-FR" sz="900" spc="-1" strike="noStrike">
                <a:solidFill>
                  <a:srgbClr val="1d211d"/>
                </a:solidFill>
                <a:latin typeface="Arial"/>
                <a:ea typeface="DejaVu Sans"/>
              </a:rPr>
              <a:t>extrait principal qui détermine les suggestions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6" name="" descr=""/>
          <p:cNvPicPr/>
          <p:nvPr/>
        </p:nvPicPr>
        <p:blipFill>
          <a:blip r:embed="rId1"/>
          <a:stretch/>
        </p:blipFill>
        <p:spPr>
          <a:xfrm>
            <a:off x="900000" y="1562040"/>
            <a:ext cx="2699280" cy="4377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8" name="Shape 11"/>
          <p:cNvSpPr/>
          <p:nvPr/>
        </p:nvSpPr>
        <p:spPr>
          <a:xfrm>
            <a:off x="7747200" y="1463040"/>
            <a:ext cx="3543480" cy="424980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8075160" y="1722240"/>
            <a:ext cx="3031560" cy="331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5c6b5e"/>
                </a:solidFill>
                <a:latin typeface="Calibri"/>
                <a:ea typeface="Calibri"/>
              </a:rPr>
              <a:t>Entrée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Météo simulée : 29° et temps clair.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2 recettes disponibles : Salade de melon et plat mijoté.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5c6b5e"/>
                </a:solidFill>
                <a:latin typeface="Calibri"/>
                <a:ea typeface="Calibri"/>
              </a:rPr>
              <a:t>Résultat attendu :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Par temps chaud, l’application doit donner la priorité à une recette fraîche plutôt qu’à un plat chaud nécessitant le four.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5c6b5e"/>
                </a:solidFill>
                <a:latin typeface="Calibri"/>
                <a:ea typeface="Calibri"/>
              </a:rPr>
              <a:t>Résultat obtenu :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Test réussi : Salade de melon est placée en première position dans les suggestions.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Shape 14"/>
          <p:cNvSpPr/>
          <p:nvPr/>
        </p:nvSpPr>
        <p:spPr>
          <a:xfrm>
            <a:off x="502920" y="589788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81" name="Text 15"/>
          <p:cNvSpPr/>
          <p:nvPr/>
        </p:nvSpPr>
        <p:spPr>
          <a:xfrm>
            <a:off x="777240" y="589788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Le jeu d’essai vérifie qu’une règle métier donne le résultat attendu à partir de données connues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Shape 44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83" name="Text 90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3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Text 91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Jeu d’essai et test unitaire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Text 92"/>
          <p:cNvSpPr/>
          <p:nvPr/>
        </p:nvSpPr>
        <p:spPr>
          <a:xfrm>
            <a:off x="5902920" y="695880"/>
            <a:ext cx="579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Test unitaire et démonstration d’un jeu d’essai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86" name="" descr=""/>
          <p:cNvPicPr/>
          <p:nvPr/>
        </p:nvPicPr>
        <p:blipFill>
          <a:blip r:embed="rId1"/>
          <a:stretch/>
        </p:blipFill>
        <p:spPr>
          <a:xfrm>
            <a:off x="360000" y="1540800"/>
            <a:ext cx="7243560" cy="4074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Rectangle 2"/>
          <p:cNvSpPr/>
          <p:nvPr/>
        </p:nvSpPr>
        <p:spPr>
          <a:xfrm>
            <a:off x="0" y="0"/>
            <a:ext cx="12190680" cy="711720"/>
          </a:xfrm>
          <a:prstGeom prst="rect">
            <a:avLst/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TextBox 42"/>
          <p:cNvSpPr/>
          <p:nvPr/>
        </p:nvSpPr>
        <p:spPr>
          <a:xfrm>
            <a:off x="411480" y="109800"/>
            <a:ext cx="228744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700" spc="-1" strike="noStrike">
                <a:solidFill>
                  <a:srgbClr val="e08e2c"/>
                </a:solidFill>
                <a:latin typeface="Aptos"/>
                <a:ea typeface="DejaVu Sans"/>
              </a:rPr>
              <a:t>PARTIE 3 — EXEMPLE CONCRET — CODE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TextBox 43"/>
          <p:cNvSpPr/>
          <p:nvPr/>
        </p:nvSpPr>
        <p:spPr>
          <a:xfrm>
            <a:off x="411480" y="255960"/>
            <a:ext cx="795384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ffffff"/>
                </a:solidFill>
                <a:latin typeface="Aptos"/>
                <a:ea typeface="DejaVu Sans"/>
              </a:rPr>
              <a:t>Tests — Suggestions selon la météo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57"/>
          <p:cNvSpPr/>
          <p:nvPr/>
        </p:nvSpPr>
        <p:spPr>
          <a:xfrm>
            <a:off x="8412480" y="274320"/>
            <a:ext cx="319896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Compétences 5 et 6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TextBox 58"/>
          <p:cNvSpPr/>
          <p:nvPr/>
        </p:nvSpPr>
        <p:spPr>
          <a:xfrm>
            <a:off x="411480" y="6565320"/>
            <a:ext cx="27417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600" spc="-1" strike="noStrike">
                <a:solidFill>
                  <a:srgbClr val="267837"/>
                </a:solidFill>
                <a:latin typeface="Aptos"/>
                <a:ea typeface="DejaVu Sans"/>
              </a:rPr>
              <a:t>AU FIL DES SAISONS  •  DWWM 2026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Rounded Rectangle 45"/>
          <p:cNvSpPr/>
          <p:nvPr/>
        </p:nvSpPr>
        <p:spPr>
          <a:xfrm>
            <a:off x="457200" y="179676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TextBox 59"/>
          <p:cNvSpPr/>
          <p:nvPr/>
        </p:nvSpPr>
        <p:spPr>
          <a:xfrm>
            <a:off x="530280" y="1847160"/>
            <a:ext cx="177264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EXTRAIT DE CODE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Rounded Rectangle 46"/>
          <p:cNvSpPr/>
          <p:nvPr/>
        </p:nvSpPr>
        <p:spPr>
          <a:xfrm>
            <a:off x="457200" y="2252160"/>
            <a:ext cx="5622120" cy="350712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$repository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       </a:t>
            </a: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-&gt;method('findPublishedForSuggestions')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       </a:t>
            </a: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-&gt;willReturn([$stew, $salad]);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$suggestions = (new RecipeSuggestionService($repository))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       </a:t>
            </a: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-&gt;getSuggestions([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              </a:t>
            </a: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'temperature' =&gt; 29,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              </a:t>
            </a: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'condition' =&gt; 'Clear'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], []);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self::assertSame($salad, $suggestions[0]);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Rounded Rectangle 47"/>
          <p:cNvSpPr/>
          <p:nvPr/>
        </p:nvSpPr>
        <p:spPr>
          <a:xfrm>
            <a:off x="6355080" y="1796760"/>
            <a:ext cx="2010240" cy="291240"/>
          </a:xfrm>
          <a:prstGeom prst="roundRect">
            <a:avLst>
              <a:gd name="adj" fmla="val 16667"/>
            </a:avLst>
          </a:prstGeom>
          <a:solidFill>
            <a:srgbClr val="e08e2c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TextBox 60"/>
          <p:cNvSpPr/>
          <p:nvPr/>
        </p:nvSpPr>
        <p:spPr>
          <a:xfrm>
            <a:off x="6428160" y="1847160"/>
            <a:ext cx="18640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ÇA PROUVE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Rounded Rectangle 49"/>
          <p:cNvSpPr/>
          <p:nvPr/>
        </p:nvSpPr>
        <p:spPr>
          <a:xfrm>
            <a:off x="6355080" y="2144160"/>
            <a:ext cx="5375160" cy="132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TextBox 61"/>
          <p:cNvSpPr/>
          <p:nvPr/>
        </p:nvSpPr>
        <p:spPr>
          <a:xfrm>
            <a:off x="6537960" y="2345400"/>
            <a:ext cx="49820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000000"/>
                </a:solidFill>
                <a:latin typeface="Aptos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000000"/>
                </a:solidFill>
                <a:latin typeface="Aptos"/>
                <a:ea typeface="DejaVu Sans"/>
              </a:rPr>
              <a:t>La météo peut être simulée dans le test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000000"/>
                </a:solidFill>
                <a:latin typeface="Aptos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000000"/>
                </a:solidFill>
                <a:latin typeface="Aptos"/>
                <a:ea typeface="DejaVu Sans"/>
              </a:rPr>
              <a:t>Le service classe les recettes selon les conditions météo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000000"/>
                </a:solidFill>
                <a:latin typeface="Aptos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000000"/>
                </a:solidFill>
                <a:latin typeface="Aptos"/>
                <a:ea typeface="DejaVu Sans"/>
              </a:rPr>
              <a:t>A 29°C, une recette fraîche est prioritaire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000000"/>
                </a:solidFill>
                <a:latin typeface="Aptos"/>
                <a:ea typeface="DejaVu Sans"/>
              </a:rPr>
              <a:t>• </a:t>
            </a:r>
            <a:r>
              <a:rPr b="1" lang="fr-FR" sz="1100" spc="-1" strike="noStrike">
                <a:solidFill>
                  <a:srgbClr val="000000"/>
                </a:solidFill>
                <a:latin typeface="Aptos"/>
                <a:ea typeface="DejaVu Sans"/>
              </a:rPr>
              <a:t>assertSame()</a:t>
            </a:r>
            <a:r>
              <a:rPr b="0" lang="fr-FR" sz="1100" spc="-1" strike="noStrike">
                <a:solidFill>
                  <a:srgbClr val="000000"/>
                </a:solidFill>
                <a:latin typeface="Aptos"/>
                <a:ea typeface="DejaVu Sans"/>
              </a:rPr>
              <a:t> vérifie que le résultat obtenu est bien celui attendu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Rounded Rectangle 50"/>
          <p:cNvSpPr/>
          <p:nvPr/>
        </p:nvSpPr>
        <p:spPr>
          <a:xfrm>
            <a:off x="6355080" y="368028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TextBox 62"/>
          <p:cNvSpPr/>
          <p:nvPr/>
        </p:nvSpPr>
        <p:spPr>
          <a:xfrm>
            <a:off x="6428160" y="3730680"/>
            <a:ext cx="177264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CA DIT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Rounded Rectangle 51"/>
          <p:cNvSpPr/>
          <p:nvPr/>
        </p:nvSpPr>
        <p:spPr>
          <a:xfrm>
            <a:off x="6355080" y="4027680"/>
            <a:ext cx="5375160" cy="1507320"/>
          </a:xfrm>
          <a:prstGeom prst="roundRect">
            <a:avLst>
              <a:gd name="adj" fmla="val 16667"/>
            </a:avLst>
          </a:prstGeom>
          <a:solidFill>
            <a:srgbClr val="f7faf4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TextBox 63"/>
          <p:cNvSpPr/>
          <p:nvPr/>
        </p:nvSpPr>
        <p:spPr>
          <a:xfrm>
            <a:off x="6565320" y="4247280"/>
            <a:ext cx="491796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«Dans ce test, je simule une météo chaude avec 29  degrés et un ciel clair. Le Repository fournit deux recettes : une salade de melon et un plat mijoté. Je vérifie ensuite que RecipeSuggestionService place bien la salade en première position.»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Text 42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04" name="Shape 22"/>
          <p:cNvSpPr/>
          <p:nvPr/>
        </p:nvSpPr>
        <p:spPr>
          <a:xfrm>
            <a:off x="4140000" y="1882800"/>
            <a:ext cx="7150680" cy="405684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endParaRPr b="1" lang="en-US" sz="1200" spc="-1" strike="noStrike">
              <a:solidFill>
                <a:srgbClr val="5c6b5e"/>
              </a:solidFill>
              <a:latin typeface="Calibri"/>
              <a:ea typeface="Calibri"/>
            </a:endParaRPr>
          </a:p>
        </p:txBody>
      </p:sp>
      <p:sp>
        <p:nvSpPr>
          <p:cNvPr id="505" name="Text 43"/>
          <p:cNvSpPr/>
          <p:nvPr/>
        </p:nvSpPr>
        <p:spPr>
          <a:xfrm>
            <a:off x="4547160" y="2080080"/>
            <a:ext cx="6432480" cy="331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spcBef>
                <a:spcPts val="624"/>
              </a:spcBef>
              <a:spcAft>
                <a:spcPts val="425"/>
              </a:spcAft>
              <a:tabLst>
                <a:tab algn="l" pos="0"/>
              </a:tabLst>
            </a:pPr>
            <a:r>
              <a:rPr b="1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PERFORMANCE : 96/100 🟢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Très bonnes performances générales.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La page se charge et s’affiche rapidement.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spcBef>
                <a:spcPts val="624"/>
              </a:spcBef>
              <a:spcAft>
                <a:spcPts val="425"/>
              </a:spcAft>
              <a:tabLst>
                <a:tab algn="l" pos="0"/>
              </a:tabLst>
            </a:pPr>
            <a:r>
              <a:rPr b="1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ACCESSIBILITE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 </a:t>
            </a:r>
            <a:r>
              <a:rPr b="0" lang="fr-FR" sz="1000" spc="-1" strike="noStrike">
                <a:solidFill>
                  <a:srgbClr val="000000"/>
                </a:solidFill>
                <a:latin typeface="Arial"/>
                <a:ea typeface="DejaVu Sans"/>
              </a:rPr>
              <a:t>:</a:t>
            </a:r>
            <a:r>
              <a:rPr b="1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 90/100</a:t>
            </a:r>
            <a:r>
              <a:rPr b="0" lang="fr-FR" sz="10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 </a:t>
            </a:r>
            <a:r>
              <a:rPr b="1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🟢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Bon niveau d’accessibilité automatisé.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Des vérifications manuelles ont également été réalisées, sans constituer un RGAA complet.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tabLst>
                <a:tab algn="l" pos="0"/>
              </a:tabLst>
            </a:pPr>
            <a:r>
              <a:rPr b="1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BONNES PRATIQUES : 96/100 🟢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L’application respecte la majorité des bonnes pratiques techniques contrôlées par Lighthouse.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1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SEO : 45/100</a:t>
            </a:r>
            <a:r>
              <a:rPr b="0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 🔴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Le référencement constitue le principal axe d’amélioration identifié par l’audit.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Shape 52"/>
          <p:cNvSpPr/>
          <p:nvPr/>
        </p:nvSpPr>
        <p:spPr>
          <a:xfrm>
            <a:off x="502920" y="607788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07" name="Text 105"/>
          <p:cNvSpPr/>
          <p:nvPr/>
        </p:nvSpPr>
        <p:spPr>
          <a:xfrm>
            <a:off x="777240" y="607788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L’audit Lighthouse met en évidence de bonnes performances techniques et permet d’identifier les axes d’amélioration de l’application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Shape 55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09" name="Text 108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3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Text 109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Lighthouse,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Text 110"/>
          <p:cNvSpPr/>
          <p:nvPr/>
        </p:nvSpPr>
        <p:spPr>
          <a:xfrm>
            <a:off x="3022920" y="695880"/>
            <a:ext cx="579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Audit de l’application sur la page d’accueil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Rounded Rectangle 1"/>
          <p:cNvSpPr/>
          <p:nvPr/>
        </p:nvSpPr>
        <p:spPr>
          <a:xfrm>
            <a:off x="4200840" y="1296000"/>
            <a:ext cx="209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TextBox 13"/>
          <p:cNvSpPr/>
          <p:nvPr/>
        </p:nvSpPr>
        <p:spPr>
          <a:xfrm>
            <a:off x="4237920" y="1310400"/>
            <a:ext cx="22057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400" spc="-1" strike="noStrike">
                <a:solidFill>
                  <a:srgbClr val="ffffff"/>
                </a:solidFill>
                <a:latin typeface="Aptos"/>
                <a:ea typeface="DejaVu Sans"/>
              </a:rPr>
              <a:t>RESULTAT DE L’AUDIT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14" name="" descr=""/>
          <p:cNvPicPr/>
          <p:nvPr/>
        </p:nvPicPr>
        <p:blipFill>
          <a:blip r:embed="rId1"/>
          <a:stretch/>
        </p:blipFill>
        <p:spPr>
          <a:xfrm>
            <a:off x="540000" y="1141560"/>
            <a:ext cx="2802240" cy="4870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3. Conception du Back-end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aphicFrame>
        <p:nvGraphicFramePr>
          <p:cNvPr id="517" name="Table 0"/>
          <p:cNvGraphicFramePr/>
          <p:nvPr/>
        </p:nvGraphicFramePr>
        <p:xfrm>
          <a:off x="502920" y="1224000"/>
          <a:ext cx="11185200" cy="2925720"/>
        </p:xfrm>
        <a:graphic>
          <a:graphicData uri="http://schemas.openxmlformats.org/drawingml/2006/table">
            <a:tbl>
              <a:tblPr/>
              <a:tblGrid>
                <a:gridCol w="2926080"/>
                <a:gridCol w="8259480"/>
              </a:tblGrid>
              <a:tr h="7315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0301f"/>
                          </a:solidFill>
                          <a:latin typeface="Calibri"/>
                          <a:ea typeface="Calibri"/>
                        </a:rPr>
                        <a:t>Rôle</a:t>
                      </a:r>
                      <a:endParaRPr b="0" lang="fr-F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3e8d5"/>
                      </a:solidFill>
                      <a:prstDash val="solid"/>
                    </a:lnL>
                    <a:lnR w="12240">
                      <a:solidFill>
                        <a:srgbClr val="d3e8d5"/>
                      </a:solidFill>
                      <a:prstDash val="solid"/>
                    </a:lnR>
                    <a:lnT w="12240">
                      <a:solidFill>
                        <a:srgbClr val="d3e8d5"/>
                      </a:solidFill>
                      <a:prstDash val="solid"/>
                    </a:lnT>
                    <a:lnB w="12240">
                      <a:solidFill>
                        <a:srgbClr val="d3e8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0301f"/>
                          </a:solidFill>
                          <a:latin typeface="Calibri"/>
                          <a:ea typeface="Calibri"/>
                        </a:rPr>
                        <a:t>Droits associés</a:t>
                      </a:r>
                      <a:endParaRPr b="0" lang="fr-F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3e8d5"/>
                      </a:solidFill>
                      <a:prstDash val="solid"/>
                    </a:lnL>
                    <a:lnR w="12240">
                      <a:solidFill>
                        <a:srgbClr val="d3e8d5"/>
                      </a:solidFill>
                      <a:prstDash val="solid"/>
                    </a:lnR>
                    <a:lnT w="12240">
                      <a:solidFill>
                        <a:srgbClr val="d3e8d5"/>
                      </a:solidFill>
                      <a:prstDash val="solid"/>
                    </a:lnT>
                    <a:lnB w="12240">
                      <a:solidFill>
                        <a:srgbClr val="d3e8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0301f"/>
                          </a:solidFill>
                          <a:latin typeface="Calibri"/>
                          <a:ea typeface="Calibri"/>
                        </a:rPr>
                        <a:t>Visiteur</a:t>
                      </a:r>
                      <a:endParaRPr b="0" lang="fr-F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3e8d5"/>
                      </a:solidFill>
                      <a:prstDash val="solid"/>
                    </a:lnL>
                    <a:lnR w="12240">
                      <a:solidFill>
                        <a:srgbClr val="d3e8d5"/>
                      </a:solidFill>
                      <a:prstDash val="solid"/>
                    </a:lnR>
                    <a:lnT w="12240">
                      <a:solidFill>
                        <a:srgbClr val="d3e8d5"/>
                      </a:solidFill>
                      <a:prstDash val="solid"/>
                    </a:lnT>
                    <a:lnB w="12240">
                      <a:solidFill>
                        <a:srgbClr val="d3e8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0301f"/>
                          </a:solidFill>
                          <a:latin typeface="Calibri"/>
                          <a:ea typeface="Calibri"/>
                        </a:rPr>
                        <a:t>Consultation des produits de saison, de la météo et des suggestions de recette du jour</a:t>
                      </a:r>
                      <a:endParaRPr b="0" lang="fr-F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3e8d5"/>
                      </a:solidFill>
                      <a:prstDash val="solid"/>
                    </a:lnL>
                    <a:lnR w="12240">
                      <a:solidFill>
                        <a:srgbClr val="d3e8d5"/>
                      </a:solidFill>
                      <a:prstDash val="solid"/>
                    </a:lnR>
                    <a:lnT w="12240">
                      <a:solidFill>
                        <a:srgbClr val="d3e8d5"/>
                      </a:solidFill>
                      <a:prstDash val="solid"/>
                    </a:lnT>
                    <a:lnB w="12240">
                      <a:solidFill>
                        <a:srgbClr val="d3e8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0301f"/>
                          </a:solidFill>
                          <a:latin typeface="Calibri"/>
                          <a:ea typeface="Calibri"/>
                        </a:rPr>
                        <a:t>Utilisateur connecté</a:t>
                      </a:r>
                      <a:endParaRPr b="0" lang="fr-F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3e8d5"/>
                      </a:solidFill>
                      <a:prstDash val="solid"/>
                    </a:lnL>
                    <a:lnR w="12240">
                      <a:solidFill>
                        <a:srgbClr val="d3e8d5"/>
                      </a:solidFill>
                      <a:prstDash val="solid"/>
                    </a:lnR>
                    <a:lnT w="12240">
                      <a:solidFill>
                        <a:srgbClr val="d3e8d5"/>
                      </a:solidFill>
                      <a:prstDash val="solid"/>
                    </a:lnT>
                    <a:lnB w="12240">
                      <a:solidFill>
                        <a:srgbClr val="d3e8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0301f"/>
                          </a:solidFill>
                          <a:latin typeface="Calibri"/>
                          <a:ea typeface="Calibri"/>
                        </a:rPr>
                        <a:t>Créer, consulter, modifier, et supprimer ses propres recettes; gérer ses favoris, notes et commentaires</a:t>
                      </a:r>
                      <a:endParaRPr b="0" lang="fr-F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3e8d5"/>
                      </a:solidFill>
                      <a:prstDash val="solid"/>
                    </a:lnL>
                    <a:lnR w="12240">
                      <a:solidFill>
                        <a:srgbClr val="d3e8d5"/>
                      </a:solidFill>
                      <a:prstDash val="solid"/>
                    </a:lnR>
                    <a:lnT w="12240">
                      <a:solidFill>
                        <a:srgbClr val="d3e8d5"/>
                      </a:solidFill>
                      <a:prstDash val="solid"/>
                    </a:lnT>
                    <a:lnB w="12240">
                      <a:solidFill>
                        <a:srgbClr val="d3e8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0301f"/>
                          </a:solidFill>
                          <a:latin typeface="Calibri"/>
                          <a:ea typeface="Calibri"/>
                        </a:rPr>
                        <a:t>Administrateur</a:t>
                      </a:r>
                      <a:endParaRPr b="0" lang="fr-F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3e8d5"/>
                      </a:solidFill>
                      <a:prstDash val="solid"/>
                    </a:lnL>
                    <a:lnR w="12240">
                      <a:solidFill>
                        <a:srgbClr val="d3e8d5"/>
                      </a:solidFill>
                      <a:prstDash val="solid"/>
                    </a:lnR>
                    <a:lnT w="12240">
                      <a:solidFill>
                        <a:srgbClr val="d3e8d5"/>
                      </a:solidFill>
                      <a:prstDash val="solid"/>
                    </a:lnT>
                    <a:lnB w="12240">
                      <a:solidFill>
                        <a:srgbClr val="d3e8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0301f"/>
                          </a:solidFill>
                          <a:latin typeface="Calibri"/>
                          <a:ea typeface="Calibri"/>
                        </a:rPr>
                        <a:t>Gestion des produits, des recettes et des comptes utilisateurs ; modération des recettes et des commentaires</a:t>
                      </a:r>
                      <a:endParaRPr b="0" lang="fr-F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3e8d5"/>
                      </a:solidFill>
                      <a:prstDash val="solid"/>
                    </a:lnL>
                    <a:lnR w="12240">
                      <a:solidFill>
                        <a:srgbClr val="d3e8d5"/>
                      </a:solidFill>
                      <a:prstDash val="solid"/>
                    </a:lnR>
                    <a:lnT w="12240">
                      <a:solidFill>
                        <a:srgbClr val="d3e8d5"/>
                      </a:solidFill>
                      <a:prstDash val="solid"/>
                    </a:lnT>
                    <a:lnB w="12240">
                      <a:solidFill>
                        <a:srgbClr val="d3e8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8" name="Shape 5"/>
          <p:cNvSpPr/>
          <p:nvPr/>
        </p:nvSpPr>
        <p:spPr>
          <a:xfrm>
            <a:off x="502920" y="574632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19" name="Text 6"/>
          <p:cNvSpPr/>
          <p:nvPr/>
        </p:nvSpPr>
        <p:spPr>
          <a:xfrm>
            <a:off x="777240" y="574632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Les droits sont vérifiés avant toute modification ou suppression d’un contenu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Shape 23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21" name="Text 45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3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Text 46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Contrôle d’accès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Text 47"/>
          <p:cNvSpPr/>
          <p:nvPr/>
        </p:nvSpPr>
        <p:spPr>
          <a:xfrm>
            <a:off x="3922920" y="695880"/>
            <a:ext cx="453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Table des rôles 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24" name="" descr=""/>
          <p:cNvPicPr/>
          <p:nvPr/>
        </p:nvPicPr>
        <p:blipFill>
          <a:blip r:embed="rId1"/>
          <a:stretch/>
        </p:blipFill>
        <p:spPr>
          <a:xfrm>
            <a:off x="553680" y="4320360"/>
            <a:ext cx="8625600" cy="1258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Shape 45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26" name="Text 95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3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 96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Sécurité du Back-end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ounded Rectangle 434"/>
          <p:cNvSpPr/>
          <p:nvPr/>
        </p:nvSpPr>
        <p:spPr>
          <a:xfrm>
            <a:off x="411480" y="1255680"/>
            <a:ext cx="5485320" cy="229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Protection CSRF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Les formulaires Symfony sont automatiquement protégés. Pour les formulaires HTML manuels, Twig génère un jeton que le contrôleur vérifie avant d’exécuter l’action.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Exemple de suppression d’un produit :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Création d’un jeton                                 Vérification du jeton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product/index.html.twig 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        et          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ProductController.php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TextBox 436"/>
          <p:cNvSpPr/>
          <p:nvPr/>
        </p:nvSpPr>
        <p:spPr>
          <a:xfrm>
            <a:off x="3034800" y="6300720"/>
            <a:ext cx="2383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30" name="Rounded Rectangle 437"/>
          <p:cNvSpPr/>
          <p:nvPr/>
        </p:nvSpPr>
        <p:spPr>
          <a:xfrm>
            <a:off x="6126480" y="1224000"/>
            <a:ext cx="5622480" cy="2330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Validation serveur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Les données sont contrôlées côté serveur avant leur enregistrement en base.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Exemple avant validation d’une recette :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Règles de validation                                Enregistre le formulaire s’il est valide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Dans 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Entity/Recette.php   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      et         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 RecetteController.php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Shape 43"/>
          <p:cNvSpPr/>
          <p:nvPr/>
        </p:nvSpPr>
        <p:spPr>
          <a:xfrm>
            <a:off x="502920" y="621432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32" name="Text 50"/>
          <p:cNvSpPr/>
          <p:nvPr/>
        </p:nvSpPr>
        <p:spPr>
          <a:xfrm>
            <a:off x="777240" y="621432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La sécurité est appliquée à plusieurs niveaux : formulaires, données reçues, accès à la base et authentification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Rounded Rectangle 41"/>
          <p:cNvSpPr/>
          <p:nvPr/>
        </p:nvSpPr>
        <p:spPr>
          <a:xfrm>
            <a:off x="432000" y="3555000"/>
            <a:ext cx="2627280" cy="25642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&lt;input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type="hidden"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name="_token"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value="{{ csrf_token('delete_product_' ~ product.id) }}"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&gt;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Rounded Rectangle 39"/>
          <p:cNvSpPr/>
          <p:nvPr/>
        </p:nvSpPr>
        <p:spPr>
          <a:xfrm>
            <a:off x="3240360" y="3555000"/>
            <a:ext cx="2627280" cy="25642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if (!$this-&gt;isCsrfTokenValid(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'delete_product_'.$product-       &gt;getId(),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(string) $request→request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-&gt;get('_token')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)) {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throw $this-         &gt;createAccessDeniedException(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'Jeton de sécurité         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invalide.'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);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}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" name="Rounded Rectangle 40"/>
          <p:cNvSpPr/>
          <p:nvPr/>
        </p:nvSpPr>
        <p:spPr>
          <a:xfrm>
            <a:off x="6192360" y="3555000"/>
            <a:ext cx="2627280" cy="25642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#[Assert\NotBlank(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message: 'Veuillez donner        un nom à votre recette.'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)]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#[Assert\Length(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max: 150,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maxMessage: 'Le nom de la     recette ne peut pas             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dépasser {{ limit }}        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caractères.'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)]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private string $titre = '';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" name="Rounded Rectangle 43"/>
          <p:cNvSpPr/>
          <p:nvPr/>
        </p:nvSpPr>
        <p:spPr>
          <a:xfrm>
            <a:off x="9000720" y="3555000"/>
            <a:ext cx="2627280" cy="25642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if ($form-&gt;isSubmitted() &amp;&amp;     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$form-&gt;isValid()) {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$entityManager-     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&gt;persist($recette);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$entityManager-&gt;flush();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}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Shape 49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38" name="Text 87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3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 88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Sécurité du Back-end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Rounded Rectangle 44"/>
          <p:cNvSpPr/>
          <p:nvPr/>
        </p:nvSpPr>
        <p:spPr>
          <a:xfrm>
            <a:off x="411480" y="1255680"/>
            <a:ext cx="5485320" cy="229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Protection contre les Injections SQL et XSS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Doctrine transmet les valeurs comme paramètre de requête au lieu de les concaténer directement dans SQL. Twig échappe automatiquement les données affichées contre les attaques XSS.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Exemple :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Doctrine – requête paramétrée                    Twig – affichage échappé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Dans 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RecetteRepository.php  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       et        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  recette/index.html.twig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TextBox 37"/>
          <p:cNvSpPr/>
          <p:nvPr/>
        </p:nvSpPr>
        <p:spPr>
          <a:xfrm>
            <a:off x="3034800" y="6300720"/>
            <a:ext cx="2383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42" name="Rounded Rectangle 52"/>
          <p:cNvSpPr/>
          <p:nvPr/>
        </p:nvSpPr>
        <p:spPr>
          <a:xfrm>
            <a:off x="6126480" y="1224000"/>
            <a:ext cx="5622480" cy="2330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Mots de passe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Les mots de passe ne sont jamais stockés en clair. Le composant PasswordHasher de Symfony génère leur empreinte avant l’enregistrement.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Exemple inscription d’un utilisateur :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Hachage du mot de passe                          configuration    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Dans 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RegistrationController.php   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  et    dans 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security.yaml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Shape 50"/>
          <p:cNvSpPr/>
          <p:nvPr/>
        </p:nvSpPr>
        <p:spPr>
          <a:xfrm>
            <a:off x="502920" y="621432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44" name="Text 89"/>
          <p:cNvSpPr/>
          <p:nvPr/>
        </p:nvSpPr>
        <p:spPr>
          <a:xfrm>
            <a:off x="777240" y="621432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La sécurité est appliquée à plusieurs niveaux : formulaires, données reçues, accès à la base et authentification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Rounded Rectangle 53"/>
          <p:cNvSpPr/>
          <p:nvPr/>
        </p:nvSpPr>
        <p:spPr>
          <a:xfrm>
            <a:off x="432000" y="3555000"/>
            <a:ext cx="2627280" cy="25642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return $this-&gt;createQueryBuilder('recette')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-&gt;andWhere('recette.statut =     :status')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-&gt;andWhere('recette.isPublic    = :isPublic')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-&gt;setParameter('status',      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RecetteStatut::PUBLIEE)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-&gt;setParameter('isPublic',    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true)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-&gt;getQuery()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-&gt;getResult();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Rounded Rectangle 54"/>
          <p:cNvSpPr/>
          <p:nvPr/>
        </p:nvSpPr>
        <p:spPr>
          <a:xfrm>
            <a:off x="3240360" y="3555000"/>
            <a:ext cx="2627280" cy="25642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{{ recette.titre }}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Rounded Rectangle 55"/>
          <p:cNvSpPr/>
          <p:nvPr/>
        </p:nvSpPr>
        <p:spPr>
          <a:xfrm>
            <a:off x="6192360" y="3555000"/>
            <a:ext cx="2627280" cy="25642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$plainPassword = $form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-&gt;get('plainPassword')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-&gt;getData();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$user-&gt;setPassword(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$passwordHasher-&gt;    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hashPassword(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$user,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$plainPassword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);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" name="Rounded Rectangle 56"/>
          <p:cNvSpPr/>
          <p:nvPr/>
        </p:nvSpPr>
        <p:spPr>
          <a:xfrm>
            <a:off x="9000720" y="3555000"/>
            <a:ext cx="2627280" cy="25642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security: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password_hashers: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Symfony\Component\    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Security\Core\User\    PasswordAuthenticatedUserInterface: 'auto'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Rectangle 1"/>
          <p:cNvSpPr/>
          <p:nvPr/>
        </p:nvSpPr>
        <p:spPr>
          <a:xfrm>
            <a:off x="0" y="0"/>
            <a:ext cx="12190680" cy="711720"/>
          </a:xfrm>
          <a:prstGeom prst="rect">
            <a:avLst/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TextBox 2"/>
          <p:cNvSpPr/>
          <p:nvPr/>
        </p:nvSpPr>
        <p:spPr>
          <a:xfrm>
            <a:off x="411480" y="109800"/>
            <a:ext cx="210744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700" spc="-1" strike="noStrike">
                <a:solidFill>
                  <a:srgbClr val="e08e2c"/>
                </a:solidFill>
                <a:latin typeface="Aptos"/>
                <a:ea typeface="DejaVu Sans"/>
              </a:rPr>
              <a:t>PARTIE 3 — EXEMPLE CONCRET — SÉCURITÉ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TextBox 3"/>
          <p:cNvSpPr/>
          <p:nvPr/>
        </p:nvSpPr>
        <p:spPr>
          <a:xfrm>
            <a:off x="411480" y="255960"/>
            <a:ext cx="795384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ffffff"/>
                </a:solidFill>
                <a:latin typeface="Aptos"/>
                <a:ea typeface="DejaVu Sans"/>
              </a:rPr>
              <a:t>Sécurité — authentification et autorisation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TextBox 4"/>
          <p:cNvSpPr/>
          <p:nvPr/>
        </p:nvSpPr>
        <p:spPr>
          <a:xfrm>
            <a:off x="8412480" y="274320"/>
            <a:ext cx="319896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Compétence 7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5"/>
          <p:cNvSpPr/>
          <p:nvPr/>
        </p:nvSpPr>
        <p:spPr>
          <a:xfrm>
            <a:off x="411480" y="6565320"/>
            <a:ext cx="27417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600" spc="-1" strike="noStrike">
                <a:solidFill>
                  <a:srgbClr val="267837"/>
                </a:solidFill>
                <a:latin typeface="Aptos"/>
                <a:ea typeface="DejaVu Sans"/>
              </a:rPr>
              <a:t>AU FIL DES SAISONS  •  DWWM 2026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ounded Rectangle 6"/>
          <p:cNvSpPr/>
          <p:nvPr/>
        </p:nvSpPr>
        <p:spPr>
          <a:xfrm>
            <a:off x="457200" y="154476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TextBox 7"/>
          <p:cNvSpPr/>
          <p:nvPr/>
        </p:nvSpPr>
        <p:spPr>
          <a:xfrm>
            <a:off x="530280" y="1595160"/>
            <a:ext cx="177264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EXTRAIT DE CODE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Rounded Rectangle 8"/>
          <p:cNvSpPr/>
          <p:nvPr/>
        </p:nvSpPr>
        <p:spPr>
          <a:xfrm>
            <a:off x="457200" y="1892160"/>
            <a:ext cx="5622120" cy="287892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br>
              <a:rPr sz="1100"/>
            </a:br>
            <a:r>
              <a:rPr b="0" lang="fr-FR" sz="1100" spc="-1" strike="noStrike">
                <a:solidFill>
                  <a:srgbClr val="f4f7f2"/>
                </a:solidFill>
                <a:latin typeface="Arial"/>
                <a:ea typeface="DejaVu Sans"/>
              </a:rPr>
              <a:t>  </a:t>
            </a:r>
            <a:r>
              <a:rPr b="0" lang="fr-FR" sz="1100" spc="-1" strike="noStrike">
                <a:solidFill>
                  <a:srgbClr val="f4f7f2"/>
                </a:solidFill>
                <a:latin typeface="Arial"/>
                <a:ea typeface="DejaVu Sans"/>
              </a:rPr>
              <a:t>access_control:</a:t>
            </a:r>
            <a:br>
              <a:rPr sz="1100"/>
            </a:br>
            <a:r>
              <a:rPr b="0" lang="fr-FR" sz="1100" spc="-1" strike="noStrike">
                <a:solidFill>
                  <a:srgbClr val="f4f7f2"/>
                </a:solidFill>
                <a:latin typeface="Arial"/>
                <a:ea typeface="DejaVu Sans"/>
              </a:rPr>
              <a:t>    - { path: ^/admin, roles: ROLE_ADMIN }</a:t>
            </a:r>
            <a:br>
              <a:rPr sz="1100"/>
            </a:br>
            <a:r>
              <a:rPr b="0" lang="fr-FR" sz="1100" spc="-1" strike="noStrike">
                <a:solidFill>
                  <a:srgbClr val="f4f7f2"/>
                </a:solidFill>
                <a:latin typeface="Arial"/>
                <a:ea typeface="DejaVu Sans"/>
              </a:rPr>
              <a:t>    - { path: ^/recettes, roles: ROLE_USER }</a:t>
            </a:r>
            <a:br>
              <a:rPr sz="1100"/>
            </a:br>
            <a:r>
              <a:rPr b="0" lang="fr-FR" sz="1100" spc="-1" strike="noStrike">
                <a:solidFill>
                  <a:srgbClr val="f4f7f2"/>
                </a:solidFill>
                <a:latin typeface="Arial"/>
                <a:ea typeface="DejaVu Sans"/>
              </a:rPr>
              <a:t>    - { path: ^/profile, roles : ROLE_USER 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Rounded Rectangle 9"/>
          <p:cNvSpPr/>
          <p:nvPr/>
        </p:nvSpPr>
        <p:spPr>
          <a:xfrm>
            <a:off x="6355080" y="1544760"/>
            <a:ext cx="2010240" cy="291240"/>
          </a:xfrm>
          <a:prstGeom prst="roundRect">
            <a:avLst>
              <a:gd name="adj" fmla="val 16667"/>
            </a:avLst>
          </a:prstGeom>
          <a:solidFill>
            <a:srgbClr val="e08e2c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TextBox 10"/>
          <p:cNvSpPr/>
          <p:nvPr/>
        </p:nvSpPr>
        <p:spPr>
          <a:xfrm>
            <a:off x="6428160" y="1595160"/>
            <a:ext cx="18640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ÇA PROUVE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Rounded Rectangle 11"/>
          <p:cNvSpPr/>
          <p:nvPr/>
        </p:nvSpPr>
        <p:spPr>
          <a:xfrm>
            <a:off x="6355080" y="1964160"/>
            <a:ext cx="5375160" cy="132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TextBox 12"/>
          <p:cNvSpPr/>
          <p:nvPr/>
        </p:nvSpPr>
        <p:spPr>
          <a:xfrm>
            <a:off x="6537960" y="2165400"/>
            <a:ext cx="4982040" cy="81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Symfony Security gère la connexion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CSRF protège le formulaire de connexion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Les zones sensibles sont limitées par rôle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Rounded Rectangle 13"/>
          <p:cNvSpPr/>
          <p:nvPr/>
        </p:nvSpPr>
        <p:spPr>
          <a:xfrm>
            <a:off x="6355080" y="342828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TextBox 14"/>
          <p:cNvSpPr/>
          <p:nvPr/>
        </p:nvSpPr>
        <p:spPr>
          <a:xfrm>
            <a:off x="6428160" y="3478680"/>
            <a:ext cx="177264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CA DIT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Rounded Rectangle 15"/>
          <p:cNvSpPr/>
          <p:nvPr/>
        </p:nvSpPr>
        <p:spPr>
          <a:xfrm>
            <a:off x="6355080" y="3847680"/>
            <a:ext cx="5375160" cy="1507320"/>
          </a:xfrm>
          <a:prstGeom prst="roundRect">
            <a:avLst>
              <a:gd name="adj" fmla="val 16667"/>
            </a:avLst>
          </a:prstGeom>
          <a:solidFill>
            <a:srgbClr val="f7faf4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TextBox 16"/>
          <p:cNvSpPr/>
          <p:nvPr/>
        </p:nvSpPr>
        <p:spPr>
          <a:xfrm>
            <a:off x="6565320" y="4067280"/>
            <a:ext cx="491796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« Je sépare authentification et autorisation : d’abord je vérifie qui est connecté, puis je vérifie ce qu’il a le droit de faire. Par exemple, un utilisateur connecté peut accéder à son profil et aux recettes, alors que l’espace administrateur nécessite le rôle ROLE_ADMIN.»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66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67" name="Shape 5"/>
          <p:cNvSpPr/>
          <p:nvPr/>
        </p:nvSpPr>
        <p:spPr>
          <a:xfrm>
            <a:off x="502920" y="1645920"/>
            <a:ext cx="3543480" cy="402120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68" name="Text 6"/>
          <p:cNvSpPr/>
          <p:nvPr/>
        </p:nvSpPr>
        <p:spPr>
          <a:xfrm>
            <a:off x="758880" y="19018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Modèle de données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Text 7"/>
          <p:cNvSpPr/>
          <p:nvPr/>
        </p:nvSpPr>
        <p:spPr>
          <a:xfrm>
            <a:off x="758880" y="2377440"/>
            <a:ext cx="3031560" cy="30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Difficultés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Relations initiales mal définies et tables de liaison manquantes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Solution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Correction des relations et ajout des tables de liaison.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Résultat :</a:t>
            </a: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 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Modèle relationnel plus cohérent.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Shape 8"/>
          <p:cNvSpPr/>
          <p:nvPr/>
        </p:nvSpPr>
        <p:spPr>
          <a:xfrm>
            <a:off x="4322880" y="1645920"/>
            <a:ext cx="3543480" cy="402120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71" name="Text 9"/>
          <p:cNvSpPr/>
          <p:nvPr/>
        </p:nvSpPr>
        <p:spPr>
          <a:xfrm>
            <a:off x="4578840" y="19018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Table Avis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Text 10"/>
          <p:cNvSpPr/>
          <p:nvPr/>
        </p:nvSpPr>
        <p:spPr>
          <a:xfrm>
            <a:off x="4578840" y="2377440"/>
            <a:ext cx="3031560" cy="30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Difficultés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Permettre à plusieurs utilisateurs de noter et commenter une recette.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Solution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Création d’une entité Avis reliant User et Recette.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Résultat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Notes et commentaires associés à leur auteur et à leur recette.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Shape 11"/>
          <p:cNvSpPr/>
          <p:nvPr/>
        </p:nvSpPr>
        <p:spPr>
          <a:xfrm>
            <a:off x="8143200" y="1645920"/>
            <a:ext cx="3543480" cy="402120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74" name="Text 12"/>
          <p:cNvSpPr/>
          <p:nvPr/>
        </p:nvSpPr>
        <p:spPr>
          <a:xfrm>
            <a:off x="8399160" y="19018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Mise en cohérence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Text 13"/>
          <p:cNvSpPr/>
          <p:nvPr/>
        </p:nvSpPr>
        <p:spPr>
          <a:xfrm>
            <a:off x="8399160" y="2377440"/>
            <a:ext cx="3031560" cy="30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Difficulté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Faire correspondre le modèle, ORM Doctrine et MySQL.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Solution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Vérification des schémas et adaptation des entités Doctrine.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Résultat : 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Schéma final cohérent avec la base réelle.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Shape 46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77" name="Text 98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3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Text 99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Contraintes rencontrées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 100"/>
          <p:cNvSpPr/>
          <p:nvPr/>
        </p:nvSpPr>
        <p:spPr>
          <a:xfrm>
            <a:off x="5542920" y="695880"/>
            <a:ext cx="273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Conception du Back-end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Shape 51"/>
          <p:cNvSpPr/>
          <p:nvPr/>
        </p:nvSpPr>
        <p:spPr>
          <a:xfrm>
            <a:off x="502920" y="574632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81" name="Text 107"/>
          <p:cNvSpPr/>
          <p:nvPr/>
        </p:nvSpPr>
        <p:spPr>
          <a:xfrm>
            <a:off x="777240" y="574632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Les difficultés rencontrées ont conduit à faire évoluer le modèle de données avant sa mise en oeuvre définitive avec Doctrine et MySQL.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Rounded Rectangle 57"/>
          <p:cNvSpPr/>
          <p:nvPr/>
        </p:nvSpPr>
        <p:spPr>
          <a:xfrm>
            <a:off x="237960" y="3708000"/>
            <a:ext cx="5485320" cy="125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83" name="Rounded Rectangle 7"/>
          <p:cNvSpPr/>
          <p:nvPr/>
        </p:nvSpPr>
        <p:spPr>
          <a:xfrm>
            <a:off x="273960" y="1152000"/>
            <a:ext cx="5485320" cy="125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Modèle de données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Difficulté : Le modèle initial ne prévoyait pas les avis ni les signalements.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Solution : Ajout de la table Avis pour gérer les notes et les commentaires, puis l’ajout du système de signalement pour les recettes, les commentaires et les utilisateurs.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TextBox 9"/>
          <p:cNvSpPr/>
          <p:nvPr/>
        </p:nvSpPr>
        <p:spPr>
          <a:xfrm>
            <a:off x="224640" y="3787560"/>
            <a:ext cx="5541120" cy="136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Docker 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Difficulté : Reproduire le même environnement de développement.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Solution : Conteneurisation de PHP, MySQL et Adminer avec Docker Compose.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Rectangle 4"/>
          <p:cNvSpPr/>
          <p:nvPr/>
        </p:nvSpPr>
        <p:spPr>
          <a:xfrm>
            <a:off x="0" y="0"/>
            <a:ext cx="12190680" cy="711720"/>
          </a:xfrm>
          <a:prstGeom prst="rect">
            <a:avLst/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TextBox 48"/>
          <p:cNvSpPr/>
          <p:nvPr/>
        </p:nvSpPr>
        <p:spPr>
          <a:xfrm>
            <a:off x="411480" y="109800"/>
            <a:ext cx="228744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700" spc="-1" strike="noStrike">
                <a:solidFill>
                  <a:srgbClr val="e08e2c"/>
                </a:solidFill>
                <a:latin typeface="Aptos"/>
                <a:ea typeface="DejaVu Sans"/>
              </a:rPr>
              <a:t>PARTIE 3 — EXEMPLE CONCRET — CODE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TextBox 49"/>
          <p:cNvSpPr/>
          <p:nvPr/>
        </p:nvSpPr>
        <p:spPr>
          <a:xfrm>
            <a:off x="411480" y="255960"/>
            <a:ext cx="795384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ffffff"/>
                </a:solidFill>
                <a:latin typeface="Aptos"/>
                <a:ea typeface="DejaVu Sans"/>
              </a:rPr>
              <a:t>Difficultés &amp; résolution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88" name="" descr=""/>
          <p:cNvPicPr/>
          <p:nvPr/>
        </p:nvPicPr>
        <p:blipFill>
          <a:blip r:embed="rId1"/>
          <a:stretch/>
        </p:blipFill>
        <p:spPr>
          <a:xfrm>
            <a:off x="260640" y="5091840"/>
            <a:ext cx="10800360" cy="1351440"/>
          </a:xfrm>
          <a:prstGeom prst="rect">
            <a:avLst/>
          </a:prstGeom>
          <a:ln w="0">
            <a:noFill/>
          </a:ln>
        </p:spPr>
      </p:pic>
      <p:grpSp>
        <p:nvGrpSpPr>
          <p:cNvPr id="589" name=""/>
          <p:cNvGrpSpPr/>
          <p:nvPr/>
        </p:nvGrpSpPr>
        <p:grpSpPr>
          <a:xfrm>
            <a:off x="6175080" y="836640"/>
            <a:ext cx="5633280" cy="3820320"/>
            <a:chOff x="6175080" y="836640"/>
            <a:chExt cx="5633280" cy="3820320"/>
          </a:xfrm>
        </p:grpSpPr>
        <p:pic>
          <p:nvPicPr>
            <p:cNvPr id="590" name="" descr=""/>
            <p:cNvPicPr/>
            <p:nvPr/>
          </p:nvPicPr>
          <p:blipFill>
            <a:blip r:embed="rId2"/>
            <a:stretch/>
          </p:blipFill>
          <p:spPr>
            <a:xfrm>
              <a:off x="6175080" y="1410120"/>
              <a:ext cx="3923280" cy="32468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591" name="" descr=""/>
            <p:cNvPicPr/>
            <p:nvPr/>
          </p:nvPicPr>
          <p:blipFill>
            <a:blip r:embed="rId3"/>
            <a:stretch/>
          </p:blipFill>
          <p:spPr>
            <a:xfrm>
              <a:off x="8047080" y="836640"/>
              <a:ext cx="3761280" cy="2380320"/>
            </a:xfrm>
            <a:prstGeom prst="rect">
              <a:avLst/>
            </a:prstGeom>
            <a:ln w="0">
              <a:noFill/>
            </a:ln>
          </p:spPr>
        </p:pic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Shape 48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93" name="Text 102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3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Text 103"/>
          <p:cNvSpPr/>
          <p:nvPr/>
        </p:nvSpPr>
        <p:spPr>
          <a:xfrm>
            <a:off x="502920" y="395640"/>
            <a:ext cx="1101636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Conteneurisation et préparation au déploiement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Rounded Rectangle 485"/>
          <p:cNvSpPr/>
          <p:nvPr/>
        </p:nvSpPr>
        <p:spPr>
          <a:xfrm>
            <a:off x="7040880" y="1336680"/>
            <a:ext cx="4708080" cy="35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96" name="TextBox 486"/>
          <p:cNvSpPr/>
          <p:nvPr/>
        </p:nvSpPr>
        <p:spPr>
          <a:xfrm>
            <a:off x="7712280" y="1473840"/>
            <a:ext cx="3366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800" spc="-1" strike="noStrike">
                <a:solidFill>
                  <a:srgbClr val="1d6332"/>
                </a:solidFill>
                <a:latin typeface="Arial"/>
                <a:ea typeface="DejaVu Sans"/>
              </a:rPr>
              <a:t>Environnement reproductible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TextBox 487"/>
          <p:cNvSpPr/>
          <p:nvPr/>
        </p:nvSpPr>
        <p:spPr>
          <a:xfrm>
            <a:off x="7225560" y="2190960"/>
            <a:ext cx="4339440" cy="19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PHP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 fournit l’environnement d’exécution de Symfony.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MySQL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assure le stockage persistant des données.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Adminer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permet d’administrer la base de données.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Docker Compose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 définit et démarre les services ensemble.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98" name="" descr=""/>
          <p:cNvPicPr/>
          <p:nvPr/>
        </p:nvPicPr>
        <p:blipFill>
          <a:blip r:embed="rId1"/>
          <a:stretch/>
        </p:blipFill>
        <p:spPr>
          <a:xfrm>
            <a:off x="1728000" y="4212000"/>
            <a:ext cx="3511440" cy="1384920"/>
          </a:xfrm>
          <a:prstGeom prst="rect">
            <a:avLst/>
          </a:prstGeom>
          <a:ln w="0">
            <a:noFill/>
          </a:ln>
        </p:spPr>
      </p:pic>
      <p:sp>
        <p:nvSpPr>
          <p:cNvPr id="599" name="Rounded Rectangle 58"/>
          <p:cNvSpPr/>
          <p:nvPr/>
        </p:nvSpPr>
        <p:spPr>
          <a:xfrm>
            <a:off x="817200" y="140076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TextBox 54"/>
          <p:cNvSpPr/>
          <p:nvPr/>
        </p:nvSpPr>
        <p:spPr>
          <a:xfrm>
            <a:off x="890280" y="1451160"/>
            <a:ext cx="17726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01" name="TextBox 55"/>
          <p:cNvSpPr/>
          <p:nvPr/>
        </p:nvSpPr>
        <p:spPr>
          <a:xfrm>
            <a:off x="890280" y="1451160"/>
            <a:ext cx="18090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CA DIT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Rounded Rectangle 59"/>
          <p:cNvSpPr/>
          <p:nvPr/>
        </p:nvSpPr>
        <p:spPr>
          <a:xfrm>
            <a:off x="744120" y="1980000"/>
            <a:ext cx="5375160" cy="1799280"/>
          </a:xfrm>
          <a:prstGeom prst="roundRect">
            <a:avLst>
              <a:gd name="adj" fmla="val 16667"/>
            </a:avLst>
          </a:prstGeom>
          <a:solidFill>
            <a:srgbClr val="f7faf4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Calibri"/>
                <a:ea typeface="DejaVu Sans"/>
              </a:rPr>
              <a:t>« J’ai conteneurisé mon environnement avec Docker. Docker Compose me permet de démarrer ensemble trois services : PHP pour exécuter Symfony, MySQL pour stocker les données et adminer pour administrer la base.  L’intérêt est de pouvoir recréer plus facilement le même environnement sur une autre machine. »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ectangle 1"/>
          <p:cNvSpPr/>
          <p:nvPr/>
        </p:nvSpPr>
        <p:spPr>
          <a:xfrm>
            <a:off x="0" y="0"/>
            <a:ext cx="12190680" cy="711720"/>
          </a:xfrm>
          <a:prstGeom prst="rect">
            <a:avLst/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TextBox 2"/>
          <p:cNvSpPr/>
          <p:nvPr/>
        </p:nvSpPr>
        <p:spPr>
          <a:xfrm>
            <a:off x="411480" y="109800"/>
            <a:ext cx="246744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700" spc="-1" strike="noStrike">
                <a:solidFill>
                  <a:srgbClr val="e08e2c"/>
                </a:solidFill>
                <a:latin typeface="Aptos"/>
                <a:ea typeface="DejaVu Sans"/>
              </a:rPr>
              <a:t>PARTIE 3 — EXEMPLE CONCRET — ENVIRONNEMENT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3"/>
          <p:cNvSpPr/>
          <p:nvPr/>
        </p:nvSpPr>
        <p:spPr>
          <a:xfrm>
            <a:off x="411480" y="255960"/>
            <a:ext cx="795384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ffffff"/>
                </a:solidFill>
                <a:latin typeface="Aptos"/>
                <a:ea typeface="DejaVu Sans"/>
              </a:rPr>
              <a:t>Docker — environnement reproductible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TextBox 4"/>
          <p:cNvSpPr/>
          <p:nvPr/>
        </p:nvSpPr>
        <p:spPr>
          <a:xfrm>
            <a:off x="8412480" y="274320"/>
            <a:ext cx="319896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Compétences 1 et 8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TextBox 5"/>
          <p:cNvSpPr/>
          <p:nvPr/>
        </p:nvSpPr>
        <p:spPr>
          <a:xfrm>
            <a:off x="411480" y="6565320"/>
            <a:ext cx="27417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600" spc="-1" strike="noStrike">
                <a:solidFill>
                  <a:srgbClr val="267837"/>
                </a:solidFill>
                <a:latin typeface="Aptos"/>
                <a:ea typeface="DejaVu Sans"/>
              </a:rPr>
              <a:t>AU FIL DES SAISONS  •  DWWM 2026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Rounded Rectangle 6"/>
          <p:cNvSpPr/>
          <p:nvPr/>
        </p:nvSpPr>
        <p:spPr>
          <a:xfrm>
            <a:off x="457200" y="176076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TextBox 7"/>
          <p:cNvSpPr/>
          <p:nvPr/>
        </p:nvSpPr>
        <p:spPr>
          <a:xfrm>
            <a:off x="530280" y="1811160"/>
            <a:ext cx="177264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EXTRAIT DE CODE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Rounded Rectangle 8"/>
          <p:cNvSpPr/>
          <p:nvPr/>
        </p:nvSpPr>
        <p:spPr>
          <a:xfrm>
            <a:off x="457200" y="2108160"/>
            <a:ext cx="5622120" cy="287892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services:</a:t>
            </a:r>
            <a:br>
              <a:rPr sz="1200"/>
            </a:br>
            <a:r>
              <a:rPr b="0" lang="fr-FR" sz="12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  php:</a:t>
            </a:r>
            <a:br>
              <a:rPr sz="1200"/>
            </a:br>
            <a:r>
              <a:rPr b="0" lang="fr-FR" sz="12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    build: .</a:t>
            </a:r>
            <a:br>
              <a:rPr sz="1200"/>
            </a:br>
            <a:r>
              <a:rPr b="0" lang="fr-FR" sz="12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    ports: ['2345:80']</a:t>
            </a:r>
            <a:br>
              <a:rPr sz="1200"/>
            </a:br>
            <a:br>
              <a:rPr sz="1200"/>
            </a:br>
            <a:r>
              <a:rPr b="0" lang="fr-FR" sz="12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  mysql:</a:t>
            </a:r>
            <a:br>
              <a:rPr sz="1200"/>
            </a:br>
            <a:r>
              <a:rPr b="0" lang="fr-FR" sz="12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    image: mysql:8.4</a:t>
            </a:r>
            <a:br>
              <a:rPr sz="1200"/>
            </a:br>
            <a:br>
              <a:rPr sz="1200"/>
            </a:br>
            <a:r>
              <a:rPr b="0" lang="fr-FR" sz="12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  adminer:</a:t>
            </a:r>
            <a:br>
              <a:rPr sz="1200"/>
            </a:br>
            <a:r>
              <a:rPr b="0" lang="fr-FR" sz="12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    image: adminer</a:t>
            </a:r>
            <a:br>
              <a:rPr sz="1200"/>
            </a:br>
            <a:r>
              <a:rPr b="0" lang="fr-FR" sz="12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    ports: ['8080:8080']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Rounded Rectangle 9"/>
          <p:cNvSpPr/>
          <p:nvPr/>
        </p:nvSpPr>
        <p:spPr>
          <a:xfrm>
            <a:off x="6355080" y="1760760"/>
            <a:ext cx="2010240" cy="291240"/>
          </a:xfrm>
          <a:prstGeom prst="roundRect">
            <a:avLst>
              <a:gd name="adj" fmla="val 16667"/>
            </a:avLst>
          </a:prstGeom>
          <a:solidFill>
            <a:srgbClr val="e08e2c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TextBox 10"/>
          <p:cNvSpPr/>
          <p:nvPr/>
        </p:nvSpPr>
        <p:spPr>
          <a:xfrm>
            <a:off x="6428160" y="1811160"/>
            <a:ext cx="186408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ÇA PROUVE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Rounded Rectangle 11"/>
          <p:cNvSpPr/>
          <p:nvPr/>
        </p:nvSpPr>
        <p:spPr>
          <a:xfrm>
            <a:off x="6355080" y="2108160"/>
            <a:ext cx="5375160" cy="132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TextBox 12"/>
          <p:cNvSpPr/>
          <p:nvPr/>
        </p:nvSpPr>
        <p:spPr>
          <a:xfrm>
            <a:off x="6537960" y="2309400"/>
            <a:ext cx="4982040" cy="81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PHP, MySQL et Adminer sont isolés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La configuration peut être reproduite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Les ports rendent les services accessibles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Rounded Rectangle 13"/>
          <p:cNvSpPr/>
          <p:nvPr/>
        </p:nvSpPr>
        <p:spPr>
          <a:xfrm>
            <a:off x="6355080" y="364428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TextBox 14"/>
          <p:cNvSpPr/>
          <p:nvPr/>
        </p:nvSpPr>
        <p:spPr>
          <a:xfrm>
            <a:off x="6428160" y="3694680"/>
            <a:ext cx="177264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CA DIT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Rounded Rectangle 15"/>
          <p:cNvSpPr/>
          <p:nvPr/>
        </p:nvSpPr>
        <p:spPr>
          <a:xfrm>
            <a:off x="6355080" y="3991680"/>
            <a:ext cx="5375160" cy="1507320"/>
          </a:xfrm>
          <a:prstGeom prst="roundRect">
            <a:avLst>
              <a:gd name="adj" fmla="val 16667"/>
            </a:avLst>
          </a:prstGeom>
          <a:solidFill>
            <a:srgbClr val="f7faf4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TextBox 16"/>
          <p:cNvSpPr/>
          <p:nvPr/>
        </p:nvSpPr>
        <p:spPr>
          <a:xfrm>
            <a:off x="6565320" y="4211280"/>
            <a:ext cx="49179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« Docker me permet de retrouver le même environnement de travail et de documenter précisément comment lancer l’application. »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Shape 0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620" name="Text 1"/>
          <p:cNvSpPr/>
          <p:nvPr/>
        </p:nvSpPr>
        <p:spPr>
          <a:xfrm>
            <a:off x="502920" y="12816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Conclusion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Text 2"/>
          <p:cNvSpPr/>
          <p:nvPr/>
        </p:nvSpPr>
        <p:spPr>
          <a:xfrm>
            <a:off x="2806920" y="479880"/>
            <a:ext cx="107989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Au fil des saisons : un projet complet DWWM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AU FIL DES SAISONS  •  DWWM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24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Shape 5"/>
          <p:cNvSpPr/>
          <p:nvPr/>
        </p:nvSpPr>
        <p:spPr>
          <a:xfrm>
            <a:off x="502920" y="1417320"/>
            <a:ext cx="3543480" cy="319824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25" name="Text 6"/>
          <p:cNvSpPr/>
          <p:nvPr/>
        </p:nvSpPr>
        <p:spPr>
          <a:xfrm>
            <a:off x="75888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Acquis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Text 7"/>
          <p:cNvSpPr/>
          <p:nvPr/>
        </p:nvSpPr>
        <p:spPr>
          <a:xfrm>
            <a:off x="758880" y="2148840"/>
            <a:ext cx="3031560" cy="22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Conception d’une application complète avec Symfony : interfaces, base de données relationnelle, logique métier, sécurité, tests et conteneurisation avec Docker;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Shape 8"/>
          <p:cNvSpPr/>
          <p:nvPr/>
        </p:nvSpPr>
        <p:spPr>
          <a:xfrm>
            <a:off x="4322880" y="1417320"/>
            <a:ext cx="3543480" cy="319824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28" name="Text 9"/>
          <p:cNvSpPr/>
          <p:nvPr/>
        </p:nvSpPr>
        <p:spPr>
          <a:xfrm>
            <a:off x="457884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MVP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Text 10"/>
          <p:cNvSpPr/>
          <p:nvPr/>
        </p:nvSpPr>
        <p:spPr>
          <a:xfrm>
            <a:off x="4578840" y="2148840"/>
            <a:ext cx="3031560" cy="22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Une application permettant de consulter les produits de saison, découvrir des recettes, créer et partager ses propres recettes et obtenir des suggestions adaptées à la météo.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Shape 11"/>
          <p:cNvSpPr/>
          <p:nvPr/>
        </p:nvSpPr>
        <p:spPr>
          <a:xfrm>
            <a:off x="8143200" y="1440000"/>
            <a:ext cx="3543480" cy="319824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dist="25560" dir="5400000" blurRad="7632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endParaRPr b="0" lang="en-US" sz="1150" spc="-1" strike="noStrike">
              <a:solidFill>
                <a:srgbClr val="5c6b5e"/>
              </a:solidFill>
              <a:latin typeface="Calibri"/>
              <a:ea typeface="Calibri"/>
            </a:endParaRPr>
          </a:p>
        </p:txBody>
      </p:sp>
      <p:sp>
        <p:nvSpPr>
          <p:cNvPr id="631" name="Text 12"/>
          <p:cNvSpPr/>
          <p:nvPr/>
        </p:nvSpPr>
        <p:spPr>
          <a:xfrm>
            <a:off x="839916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Évolutions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 13"/>
          <p:cNvSpPr/>
          <p:nvPr/>
        </p:nvSpPr>
        <p:spPr>
          <a:xfrm>
            <a:off x="8388000" y="2160000"/>
            <a:ext cx="3131280" cy="22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b="0" lang="en-US" sz="1100" spc="-1" strike="noStrike">
                <a:solidFill>
                  <a:srgbClr val="5c6b5e"/>
                </a:solidFill>
                <a:latin typeface="Calibri"/>
                <a:ea typeface="Calibri"/>
              </a:rPr>
              <a:t>• </a:t>
            </a:r>
            <a:r>
              <a:rPr b="0" lang="en-US" sz="1100" spc="-1" strike="noStrike">
                <a:solidFill>
                  <a:srgbClr val="5c6b5e"/>
                </a:solidFill>
                <a:latin typeface="Calibri"/>
                <a:ea typeface="Calibri"/>
              </a:rPr>
              <a:t>Etendre la saisonnalité à d’autres pays.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b="0" lang="en-US" sz="1100" spc="-1" strike="noStrike">
                <a:solidFill>
                  <a:srgbClr val="5c6b5e"/>
                </a:solidFill>
                <a:latin typeface="Calibri"/>
                <a:ea typeface="Calibri"/>
              </a:rPr>
              <a:t>• </a:t>
            </a:r>
            <a:r>
              <a:rPr b="0" lang="en-US" sz="1100" spc="-1" strike="noStrike">
                <a:solidFill>
                  <a:srgbClr val="5c6b5e"/>
                </a:solidFill>
                <a:latin typeface="Calibri"/>
                <a:ea typeface="Calibri"/>
              </a:rPr>
              <a:t>Enrichir les recommandations de recettes.</a:t>
            </a:r>
            <a:r>
              <a:rPr b="1" lang="en-US" sz="1100" spc="-1" strike="noStrike">
                <a:solidFill>
                  <a:srgbClr val="5c6b5e"/>
                </a:solidFill>
                <a:latin typeface="Calibri"/>
                <a:ea typeface="Calibri"/>
              </a:rPr>
              <a:t> 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b="0" lang="en-US" sz="1100" spc="-1" strike="noStrike">
                <a:solidFill>
                  <a:srgbClr val="5c6b5e"/>
                </a:solidFill>
                <a:latin typeface="Calibri"/>
                <a:ea typeface="Calibri"/>
              </a:rPr>
              <a:t>• </a:t>
            </a:r>
            <a:r>
              <a:rPr b="0" lang="en-US" sz="1100" spc="-1" strike="noStrike">
                <a:solidFill>
                  <a:srgbClr val="5c6b5e"/>
                </a:solidFill>
                <a:latin typeface="Calibri"/>
                <a:ea typeface="Calibri"/>
              </a:rPr>
              <a:t>Améliorer l’accessibilité et réaliser un audit         RGAA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b="0" lang="en-US" sz="1100" spc="-1" strike="noStrike">
                <a:solidFill>
                  <a:srgbClr val="5c6b5e"/>
                </a:solidFill>
                <a:latin typeface="Calibri"/>
                <a:ea typeface="Calibri"/>
              </a:rPr>
              <a:t>• </a:t>
            </a:r>
            <a:r>
              <a:rPr b="0" lang="en-US" sz="1100" spc="-1" strike="noStrike">
                <a:solidFill>
                  <a:srgbClr val="5c6b5e"/>
                </a:solidFill>
                <a:latin typeface="Calibri"/>
                <a:ea typeface="Calibri"/>
              </a:rPr>
              <a:t>Préparer un déploiement en production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Shape 14"/>
          <p:cNvSpPr/>
          <p:nvPr/>
        </p:nvSpPr>
        <p:spPr>
          <a:xfrm>
            <a:off x="502920" y="4892040"/>
            <a:ext cx="11183760" cy="1049400"/>
          </a:xfrm>
          <a:prstGeom prst="roundRect">
            <a:avLst>
              <a:gd name="adj" fmla="val 6957"/>
            </a:avLst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634" name="Text 15"/>
          <p:cNvSpPr/>
          <p:nvPr/>
        </p:nvSpPr>
        <p:spPr>
          <a:xfrm>
            <a:off x="777240" y="5001840"/>
            <a:ext cx="10635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Au fil des saisons répond à un besoin simple : mieux connaître les produits de saison et faciliter leur utilisation au quotidien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Text 16"/>
          <p:cNvSpPr/>
          <p:nvPr/>
        </p:nvSpPr>
        <p:spPr>
          <a:xfrm>
            <a:off x="777240" y="5440680"/>
            <a:ext cx="1063512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d9822b"/>
                </a:solidFill>
                <a:latin typeface="Calibri"/>
                <a:ea typeface="Calibri"/>
              </a:rPr>
              <a:t>Merci pour votre attention !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1247</TotalTime>
  <Application>LibreOffice/24.2.7.2$Linux_X86_64 LibreOffice_project/420$Build-2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2026-08-25T11:22:02Z</dcterms:created>
  <dc:creator>PptxGenJS</dc:creator>
  <dc:description/>
  <dc:language>fr-FR</dc:language>
  <cp:lastModifiedBy/>
  <dcterms:modified xsi:type="dcterms:W3CDTF">2026-09-07T14:10:16Z</dcterms:modified>
  <cp:revision>20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24</vt:r8>
  </property>
  <property fmtid="{D5CDD505-2E9C-101B-9397-08002B2CF9AE}" pid="3" name="PresentationFormat">
    <vt:lpwstr>On-screen Show (16:9)</vt:lpwstr>
  </property>
  <property fmtid="{D5CDD505-2E9C-101B-9397-08002B2CF9AE}" pid="4" name="Slides">
    <vt:r8>24</vt:r8>
  </property>
</Properties>
</file>