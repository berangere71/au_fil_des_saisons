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12.png" ContentType="image/png"/>
  <Override PartName="/ppt/media/image3.png" ContentType="image/png"/>
  <Override PartName="/ppt/media/image1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2.png" ContentType="image/png"/>
  <Override PartName="/ppt/media/image11.png" ContentType="image/png"/>
  <Override PartName="/ppt/media/image17.png" ContentType="image/png"/>
  <Override PartName="/ppt/media/image8.png" ContentType="image/png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35.xml" ContentType="application/vnd.openxmlformats-officedocument.presentationml.slide+xml"/>
  <Override PartName="/ppt/slides/slide24.xml" ContentType="application/vnd.openxmlformats-officedocument.presentationml.slide+xml"/>
  <Override PartName="/ppt/slides/slide36.xml" ContentType="application/vnd.openxmlformats-officedocument.presentationml.slide+xml"/>
  <Override PartName="/ppt/slides/slide25.xml" ContentType="application/vnd.openxmlformats-officedocument.presentationml.slide+xml"/>
  <Override PartName="/ppt/slides/slide37.xml" ContentType="application/vnd.openxmlformats-officedocument.presentationml.slide+xml"/>
  <Override PartName="/ppt/slides/_rels/slide16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7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35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37.xml.rels" ContentType="application/vnd.openxmlformats-package.relationships+xml"/>
  <Override PartName="/ppt/slides/_rels/slide2.xml.rels" ContentType="application/vnd.openxmlformats-package.relationships+xml"/>
  <Override PartName="/ppt/slides/_rels/slide38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slide38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notesSlides/_rels/notesSlide2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sldRg st="1" end="38"/>
  </p:showPr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déplacer la diapo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Cliquez pour modifier le format des notes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&lt;en-tête&gt;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01CE704-3D6E-418B-8621-4851D208C222}" type="slidenum"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38C73AF-0509-454E-ADD6-86B587D7B61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A51C81E-6ACC-442D-B5CF-DC8216374DD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B69D25-281B-4623-A10F-2158E005B32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7CF6C50-CA24-42DB-A01F-9C1B68E9251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F14D057-B970-42E4-9FF6-4E1AB9A1D20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FAEEB06-373D-4AD8-AD33-2CECCC65324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F6AB541-B05B-47CC-8A99-B4E8A0E52EE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4217BCE-1631-4F6A-95B0-29B080CA9BA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ACE1C13-B094-449C-9C0D-DD7B8B377CC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24941EB-C74D-4910-B0F7-25BA72EB595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DE6FC1B-174C-40E8-8351-8896C34AC9D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B82F3A2-B8EB-43E9-B593-1E6267A3253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25E61C6-0A87-4234-BE74-6CA300C125B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C4DAD6F-6D9D-4938-8188-FD663533366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59D465B-7A1D-481B-85D1-FC474A78BF9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31E13C2-4FAF-42C5-9089-32550EFE8D5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FCCDC59-50FB-4B48-8541-7C5A7A7D040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D69658E-9F5B-4F64-8FE0-477BE47D1A9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C751529-8E60-4374-B787-148BF1FB6BA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ABFB13E-6394-4E49-AC82-9252392F21F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AD22E89-2D3F-4245-B4C1-86814D70C1E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216FD86-BA5E-4CC4-B568-48E2AAAC324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2B9F054-3726-41F4-832B-78E578542F3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DF7B822-C165-402E-A44F-8EBAD38B52E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E1C50E0-97FB-4B59-8F2A-1E55567E886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6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5ACB5B2-3BAE-4D50-85A7-39C9D09567E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7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8524ADD-3B60-499D-8299-E6E01EE1572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  <p:sldLayoutId id="2147483652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5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0"/>
          <p:cNvSpPr/>
          <p:nvPr/>
        </p:nvSpPr>
        <p:spPr>
          <a:xfrm>
            <a:off x="9509760" y="-1645920"/>
            <a:ext cx="4570200" cy="4570200"/>
          </a:xfrm>
          <a:prstGeom prst="ellipse">
            <a:avLst/>
          </a:prstGeom>
          <a:solidFill>
            <a:srgbClr val="2e7f32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8" name="Shape 1"/>
          <p:cNvSpPr/>
          <p:nvPr/>
        </p:nvSpPr>
        <p:spPr>
          <a:xfrm>
            <a:off x="10789920" y="-640080"/>
            <a:ext cx="2924280" cy="2924280"/>
          </a:xfrm>
          <a:prstGeom prst="ellipse">
            <a:avLst/>
          </a:prstGeom>
          <a:solidFill>
            <a:srgbClr val="2e7f32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9" name="Text 2"/>
          <p:cNvSpPr/>
          <p:nvPr/>
        </p:nvSpPr>
        <p:spPr>
          <a:xfrm>
            <a:off x="640080" y="1371600"/>
            <a:ext cx="959940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rgbClr val="ffffff"/>
                </a:solidFill>
                <a:latin typeface="Cormorant Garamond"/>
                <a:ea typeface="Cormorant Garamond"/>
              </a:rPr>
              <a:t>Au fil </a:t>
            </a:r>
            <a:r>
              <a:rPr b="1" lang="en-US" sz="6000" spc="-1" strike="noStrike">
                <a:solidFill>
                  <a:srgbClr val="ffffff"/>
                </a:solidFill>
                <a:latin typeface="Cormorant Garamond"/>
                <a:ea typeface="Cormorant Garamond"/>
              </a:rPr>
              <a:t>des </a:t>
            </a:r>
            <a:r>
              <a:rPr b="1" lang="en-US" sz="6000" spc="-1" strike="noStrike">
                <a:solidFill>
                  <a:srgbClr val="ffffff"/>
                </a:solidFill>
                <a:latin typeface="Cormorant Garamond"/>
                <a:ea typeface="Cormorant Garamond"/>
              </a:rPr>
              <a:t>saisons</a:t>
            </a:r>
            <a:endParaRPr b="0" lang="fr-FR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3"/>
          <p:cNvSpPr/>
          <p:nvPr/>
        </p:nvSpPr>
        <p:spPr>
          <a:xfrm>
            <a:off x="658440" y="2880360"/>
            <a:ext cx="86850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d8ecd8"/>
                </a:solidFill>
                <a:latin typeface="Calibri"/>
                <a:ea typeface="Calibri"/>
              </a:rPr>
              <a:t>Plateforme de découverte des </a:t>
            </a:r>
            <a:r>
              <a:rPr b="0" lang="en-US" sz="1600" spc="-1" strike="noStrike">
                <a:solidFill>
                  <a:srgbClr val="d8ecd8"/>
                </a:solidFill>
                <a:latin typeface="Calibri"/>
                <a:ea typeface="Calibri"/>
              </a:rPr>
              <a:t>produits de saison et de </a:t>
            </a:r>
            <a:r>
              <a:rPr b="0" lang="en-US" sz="1600" spc="-1" strike="noStrike">
                <a:solidFill>
                  <a:srgbClr val="d8ecd8"/>
                </a:solidFill>
                <a:latin typeface="Calibri"/>
                <a:ea typeface="Calibri"/>
              </a:rPr>
              <a:t>recettes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d8ecd8"/>
                </a:solidFill>
                <a:latin typeface="Calibri"/>
                <a:ea typeface="Calibri"/>
              </a:rPr>
              <a:t>pour une meilleure </a:t>
            </a:r>
            <a:r>
              <a:rPr b="0" lang="en-US" sz="1600" spc="-1" strike="noStrike">
                <a:solidFill>
                  <a:srgbClr val="d8ecd8"/>
                </a:solidFill>
                <a:latin typeface="Calibri"/>
                <a:ea typeface="Calibri"/>
              </a:rPr>
              <a:t>alimentation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4"/>
          <p:cNvSpPr/>
          <p:nvPr/>
        </p:nvSpPr>
        <p:spPr>
          <a:xfrm>
            <a:off x="658080" y="5120640"/>
            <a:ext cx="1005840" cy="360"/>
          </a:xfrm>
          <a:prstGeom prst="line">
            <a:avLst/>
          </a:prstGeom>
          <a:ln w="25560">
            <a:solidFill>
              <a:srgbClr val="d982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2" name="Text 5"/>
          <p:cNvSpPr/>
          <p:nvPr/>
        </p:nvSpPr>
        <p:spPr>
          <a:xfrm>
            <a:off x="658440" y="5257800"/>
            <a:ext cx="73134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Bérangère Brunat  ·  Développeuse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web et web mobile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6"/>
          <p:cNvSpPr/>
          <p:nvPr/>
        </p:nvSpPr>
        <p:spPr>
          <a:xfrm>
            <a:off x="658440" y="5577840"/>
            <a:ext cx="73134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afcbae"/>
                </a:solidFill>
                <a:latin typeface="Calibri"/>
                <a:ea typeface="Calibri"/>
              </a:rPr>
              <a:t>Soutenance de projet  ·  9 et 10 septembre 2026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0" y="0"/>
            <a:ext cx="12189960" cy="1049760"/>
          </a:xfrm>
          <a:prstGeom prst="rect">
            <a:avLst/>
          </a:prstGeom>
          <a:solidFill>
            <a:srgbClr val="1f5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5" name="Text 1"/>
          <p:cNvSpPr/>
          <p:nvPr/>
        </p:nvSpPr>
        <p:spPr>
          <a:xfrm>
            <a:off x="502920" y="128160"/>
            <a:ext cx="944676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ormorant Garamond"/>
                <a:ea typeface="Cormorant Garamond"/>
              </a:rPr>
              <a:t>Introduct</a:t>
            </a:r>
            <a:r>
              <a:rPr b="1" lang="en-US" sz="3200" spc="-1" strike="noStrike">
                <a:solidFill>
                  <a:srgbClr val="ffffff"/>
                </a:solidFill>
                <a:latin typeface="Cormorant Garamond"/>
                <a:ea typeface="Cormorant Garamond"/>
              </a:rPr>
              <a:t>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2"/>
          <p:cNvSpPr/>
          <p:nvPr/>
        </p:nvSpPr>
        <p:spPr>
          <a:xfrm>
            <a:off x="3166920" y="407880"/>
            <a:ext cx="56167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cfe6cf"/>
                </a:solidFill>
                <a:latin typeface="Calibri"/>
                <a:ea typeface="Calibri"/>
              </a:rPr>
              <a:t>Résumé, objectif et </a:t>
            </a:r>
            <a:r>
              <a:rPr b="0" i="1" lang="en-US" sz="1300" spc="-1" strike="noStrike">
                <a:solidFill>
                  <a:srgbClr val="cfe6cf"/>
                </a:solidFill>
                <a:latin typeface="Calibri"/>
                <a:ea typeface="Calibri"/>
              </a:rPr>
              <a:t>fonctionnalité clé du </a:t>
            </a:r>
            <a:r>
              <a:rPr b="0" i="1" lang="en-US" sz="1300" spc="-1" strike="noStrike">
                <a:solidFill>
                  <a:srgbClr val="cfe6cf"/>
                </a:solidFill>
                <a:latin typeface="Calibri"/>
                <a:ea typeface="Calibri"/>
              </a:rPr>
              <a:t>projet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3"/>
          <p:cNvSpPr/>
          <p:nvPr/>
        </p:nvSpPr>
        <p:spPr>
          <a:xfrm>
            <a:off x="457200" y="647388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2e7f32"/>
                </a:solidFill>
                <a:latin typeface="Calibri"/>
                <a:ea typeface="Calibri"/>
              </a:rPr>
              <a:t>AU </a:t>
            </a:r>
            <a:r>
              <a:rPr b="0" lang="en-US" sz="900" spc="-1" strike="noStrike">
                <a:solidFill>
                  <a:srgbClr val="2e7f32"/>
                </a:solidFill>
                <a:latin typeface="Calibri"/>
                <a:ea typeface="Calibri"/>
              </a:rPr>
              <a:t>FIL </a:t>
            </a:r>
            <a:r>
              <a:rPr b="0" lang="en-US" sz="900" spc="-1" strike="noStrike">
                <a:solidFill>
                  <a:srgbClr val="2e7f32"/>
                </a:solidFill>
                <a:latin typeface="Calibri"/>
                <a:ea typeface="Calibri"/>
              </a:rPr>
              <a:t>DE</a:t>
            </a:r>
            <a:r>
              <a:rPr b="0" lang="en-US" sz="900" spc="-1" strike="noStrike">
                <a:solidFill>
                  <a:srgbClr val="2e7f32"/>
                </a:solidFill>
                <a:latin typeface="Calibri"/>
                <a:ea typeface="Calibri"/>
              </a:rPr>
              <a:t>S </a:t>
            </a:r>
            <a:r>
              <a:rPr b="0" lang="en-US" sz="900" spc="-1" strike="noStrike">
                <a:solidFill>
                  <a:srgbClr val="2e7f32"/>
                </a:solidFill>
                <a:latin typeface="Calibri"/>
                <a:ea typeface="Calibri"/>
              </a:rPr>
              <a:t>SAI</a:t>
            </a:r>
            <a:r>
              <a:rPr b="0" lang="en-US" sz="900" spc="-1" strike="noStrike">
                <a:solidFill>
                  <a:srgbClr val="2e7f32"/>
                </a:solidFill>
                <a:latin typeface="Calibri"/>
                <a:ea typeface="Calibri"/>
              </a:rPr>
              <a:t>SO</a:t>
            </a:r>
            <a:r>
              <a:rPr b="0" lang="en-US" sz="900" spc="-1" strike="noStrike">
                <a:solidFill>
                  <a:srgbClr val="2e7f32"/>
                </a:solidFill>
                <a:latin typeface="Calibri"/>
                <a:ea typeface="Calibri"/>
              </a:rPr>
              <a:t>NS  </a:t>
            </a:r>
            <a:r>
              <a:rPr b="0" lang="en-US" sz="900" spc="-1" strike="noStrike">
                <a:solidFill>
                  <a:srgbClr val="2e7f32"/>
                </a:solidFill>
                <a:latin typeface="Calibri"/>
                <a:ea typeface="Calibri"/>
              </a:rPr>
              <a:t>•  </a:t>
            </a:r>
            <a:r>
              <a:rPr b="0" lang="en-US" sz="900" spc="-1" strike="noStrike">
                <a:solidFill>
                  <a:srgbClr val="2e7f32"/>
                </a:solidFill>
                <a:latin typeface="Calibri"/>
                <a:ea typeface="Calibri"/>
              </a:rPr>
              <a:t>DW</a:t>
            </a:r>
            <a:r>
              <a:rPr b="0" lang="en-US" sz="900" spc="-1" strike="noStrike">
                <a:solidFill>
                  <a:srgbClr val="2e7f32"/>
                </a:solidFill>
                <a:latin typeface="Calibri"/>
                <a:ea typeface="Calibri"/>
              </a:rPr>
              <a:t>W</a:t>
            </a:r>
            <a:r>
              <a:rPr b="0" lang="en-US" sz="900" spc="-1" strike="noStrike">
                <a:solidFill>
                  <a:srgbClr val="2e7f32"/>
                </a:solidFill>
                <a:latin typeface="Calibri"/>
                <a:ea typeface="Calibri"/>
              </a:rPr>
              <a:t>M </a:t>
            </a:r>
            <a:r>
              <a:rPr b="0" lang="en-US" sz="900" spc="-1" strike="noStrike">
                <a:solidFill>
                  <a:srgbClr val="2e7f32"/>
                </a:solidFill>
                <a:latin typeface="Calibri"/>
                <a:ea typeface="Calibri"/>
              </a:rPr>
              <a:t>202</a:t>
            </a:r>
            <a:r>
              <a:rPr b="0" lang="en-US" sz="900" spc="-1" strike="noStrike">
                <a:solidFill>
                  <a:srgbClr val="2e7f32"/>
                </a:solidFill>
                <a:latin typeface="Calibri"/>
                <a:ea typeface="Calibri"/>
              </a:rPr>
              <a:t>6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4"/>
          <p:cNvSpPr/>
          <p:nvPr/>
        </p:nvSpPr>
        <p:spPr>
          <a:xfrm>
            <a:off x="11277360" y="647388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5"/>
          <p:cNvSpPr/>
          <p:nvPr/>
        </p:nvSpPr>
        <p:spPr>
          <a:xfrm>
            <a:off x="502920" y="1371600"/>
            <a:ext cx="11184120" cy="1049760"/>
          </a:xfrm>
          <a:prstGeom prst="roundRect">
            <a:avLst>
              <a:gd name="adj" fmla="val 6957"/>
            </a:avLst>
          </a:prstGeom>
          <a:solidFill>
            <a:srgbClr val="e8f3e9"/>
          </a:solidFill>
          <a:ln w="12600">
            <a:solidFill>
              <a:srgbClr val="d3e8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" name="Text 6"/>
          <p:cNvSpPr/>
          <p:nvPr/>
        </p:nvSpPr>
        <p:spPr>
          <a:xfrm>
            <a:off x="822960" y="1371600"/>
            <a:ext cx="10544040" cy="10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20301f"/>
                </a:solidFill>
                <a:latin typeface="Calibri"/>
                <a:ea typeface="Calibri"/>
              </a:rPr>
              <a:t>«Il n’est pas </a:t>
            </a:r>
            <a:r>
              <a:rPr b="0" i="1" lang="en-US" sz="1600" spc="-1" strike="noStrike">
                <a:solidFill>
                  <a:srgbClr val="20301f"/>
                </a:solidFill>
                <a:latin typeface="Calibri"/>
                <a:ea typeface="Calibri"/>
              </a:rPr>
              <a:t>toujours facile de </a:t>
            </a:r>
            <a:r>
              <a:rPr b="0" i="1" lang="en-US" sz="1600" spc="-1" strike="noStrike">
                <a:solidFill>
                  <a:srgbClr val="20301f"/>
                </a:solidFill>
                <a:latin typeface="Calibri"/>
                <a:ea typeface="Calibri"/>
              </a:rPr>
              <a:t>savoir quels </a:t>
            </a:r>
            <a:r>
              <a:rPr b="0" i="1" lang="en-US" sz="1600" spc="-1" strike="noStrike">
                <a:solidFill>
                  <a:srgbClr val="20301f"/>
                </a:solidFill>
                <a:latin typeface="Calibri"/>
                <a:ea typeface="Calibri"/>
              </a:rPr>
              <a:t>produits </a:t>
            </a:r>
            <a:r>
              <a:rPr b="0" i="1" lang="en-US" sz="1600" spc="-1" strike="noStrike">
                <a:solidFill>
                  <a:srgbClr val="20301f"/>
                </a:solidFill>
                <a:latin typeface="Calibri"/>
                <a:ea typeface="Calibri"/>
              </a:rPr>
              <a:t>consommer </a:t>
            </a:r>
            <a:r>
              <a:rPr b="0" i="1" lang="en-US" sz="1600" spc="-1" strike="noStrike">
                <a:solidFill>
                  <a:srgbClr val="20301f"/>
                </a:solidFill>
                <a:latin typeface="Calibri"/>
                <a:ea typeface="Calibri"/>
              </a:rPr>
              <a:t>selon la saison et </a:t>
            </a:r>
            <a:r>
              <a:rPr b="0" i="1" lang="en-US" sz="1600" spc="-1" strike="noStrike">
                <a:solidFill>
                  <a:srgbClr val="20301f"/>
                </a:solidFill>
                <a:latin typeface="Calibri"/>
                <a:ea typeface="Calibri"/>
              </a:rPr>
              <a:t>comment les </a:t>
            </a:r>
            <a:r>
              <a:rPr b="0" i="1" lang="en-US" sz="1600" spc="-1" strike="noStrike">
                <a:solidFill>
                  <a:srgbClr val="20301f"/>
                </a:solidFill>
                <a:latin typeface="Calibri"/>
                <a:ea typeface="Calibri"/>
              </a:rPr>
              <a:t>cuisiner »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7"/>
          <p:cNvSpPr/>
          <p:nvPr/>
        </p:nvSpPr>
        <p:spPr>
          <a:xfrm>
            <a:off x="502920" y="2651760"/>
            <a:ext cx="3543840" cy="19641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" name="Text 8"/>
          <p:cNvSpPr/>
          <p:nvPr/>
        </p:nvSpPr>
        <p:spPr>
          <a:xfrm>
            <a:off x="758880" y="2907720"/>
            <a:ext cx="30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Méconnaissance des </a:t>
            </a: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saisons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9"/>
          <p:cNvSpPr/>
          <p:nvPr/>
        </p:nvSpPr>
        <p:spPr>
          <a:xfrm>
            <a:off x="758880" y="3383280"/>
            <a:ext cx="3031920" cy="10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Difficulté à identifier les fruits, 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légumes, viandes et poissons 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disponibles selon la saison.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10"/>
          <p:cNvSpPr/>
          <p:nvPr/>
        </p:nvSpPr>
        <p:spPr>
          <a:xfrm>
            <a:off x="4322880" y="2651760"/>
            <a:ext cx="3543840" cy="19641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5" name="Text 11"/>
          <p:cNvSpPr/>
          <p:nvPr/>
        </p:nvSpPr>
        <p:spPr>
          <a:xfrm>
            <a:off x="4542840" y="2907720"/>
            <a:ext cx="3160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S</a:t>
            </a: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u</a:t>
            </a: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g</a:t>
            </a: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g</a:t>
            </a: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es</a:t>
            </a: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ti</a:t>
            </a: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o</a:t>
            </a: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n</a:t>
            </a: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s </a:t>
            </a: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p</a:t>
            </a: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e</a:t>
            </a: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u </a:t>
            </a: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c</a:t>
            </a: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o</a:t>
            </a: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nt</a:t>
            </a: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e</a:t>
            </a: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xt</a:t>
            </a: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u</a:t>
            </a: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al</a:t>
            </a: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is</a:t>
            </a: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é</a:t>
            </a: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es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2"/>
          <p:cNvSpPr/>
          <p:nvPr/>
        </p:nvSpPr>
        <p:spPr>
          <a:xfrm>
            <a:off x="4578840" y="3383280"/>
            <a:ext cx="3031920" cy="10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Les suggestions de recettes 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ne prennent pas toujours en 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compte la saison et les 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conditions météorologiques 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locales.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13"/>
          <p:cNvSpPr/>
          <p:nvPr/>
        </p:nvSpPr>
        <p:spPr>
          <a:xfrm>
            <a:off x="8143200" y="2651760"/>
            <a:ext cx="3543840" cy="19641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8" name="Text 14"/>
          <p:cNvSpPr/>
          <p:nvPr/>
        </p:nvSpPr>
        <p:spPr>
          <a:xfrm>
            <a:off x="8399160" y="2907720"/>
            <a:ext cx="30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Manque </a:t>
            </a: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d’inspiration </a:t>
            </a: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culinaire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5"/>
          <p:cNvSpPr/>
          <p:nvPr/>
        </p:nvSpPr>
        <p:spPr>
          <a:xfrm>
            <a:off x="8399160" y="3383280"/>
            <a:ext cx="3031920" cy="10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Dif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fic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ult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é à 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tro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uv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er 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ra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pi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de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m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en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t 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de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s 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idé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es 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de 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rec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ett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es 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uti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lis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an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t 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de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s 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pr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od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uit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s 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de 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sai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so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n.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16"/>
          <p:cNvSpPr/>
          <p:nvPr/>
        </p:nvSpPr>
        <p:spPr>
          <a:xfrm>
            <a:off x="502920" y="4846320"/>
            <a:ext cx="11184120" cy="1049760"/>
          </a:xfrm>
          <a:prstGeom prst="roundRect">
            <a:avLst>
              <a:gd name="adj" fmla="val 6957"/>
            </a:avLst>
          </a:prstGeom>
          <a:solidFill>
            <a:srgbClr val="1f5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1" name="Text 17"/>
          <p:cNvSpPr/>
          <p:nvPr/>
        </p:nvSpPr>
        <p:spPr>
          <a:xfrm>
            <a:off x="777240" y="4956120"/>
            <a:ext cx="2741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d9822b"/>
                </a:solidFill>
                <a:latin typeface="Calibri"/>
                <a:ea typeface="Calibri"/>
              </a:rPr>
              <a:t>Fonctionnalité clé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18"/>
          <p:cNvSpPr/>
          <p:nvPr/>
        </p:nvSpPr>
        <p:spPr>
          <a:xfrm>
            <a:off x="777240" y="5285160"/>
            <a:ext cx="106354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Un catalogue de </a:t>
            </a:r>
            <a:r>
              <a:rPr b="0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produits de saison </a:t>
            </a:r>
            <a:r>
              <a:rPr b="0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relié à des recettes </a:t>
            </a:r>
            <a:r>
              <a:rPr b="0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associées, avec des </a:t>
            </a:r>
            <a:r>
              <a:rPr b="0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suggestions selon </a:t>
            </a:r>
            <a:r>
              <a:rPr b="0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la météo locale.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1"/>
          <p:cNvSpPr/>
          <p:nvPr/>
        </p:nvSpPr>
        <p:spPr>
          <a:xfrm>
            <a:off x="0" y="0"/>
            <a:ext cx="12191040" cy="712080"/>
          </a:xfrm>
          <a:prstGeom prst="rect">
            <a:avLst/>
          </a:prstGeom>
          <a:solidFill>
            <a:srgbClr val="1c6031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" name="TextBox 2"/>
          <p:cNvSpPr/>
          <p:nvPr/>
        </p:nvSpPr>
        <p:spPr>
          <a:xfrm>
            <a:off x="411480" y="109800"/>
            <a:ext cx="174780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700" spc="-1" strike="noStrike">
                <a:solidFill>
                  <a:srgbClr val="e08e2c"/>
                </a:solidFill>
                <a:latin typeface="Aptos"/>
                <a:ea typeface="DejaVu Sans"/>
              </a:rPr>
              <a:t>SYNTHÈSE — REPÈRE JURY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Box 3"/>
          <p:cNvSpPr/>
          <p:nvPr/>
        </p:nvSpPr>
        <p:spPr>
          <a:xfrm>
            <a:off x="411480" y="255960"/>
            <a:ext cx="795420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2200" spc="-1" strike="noStrike">
                <a:solidFill>
                  <a:srgbClr val="ffffff"/>
                </a:solidFill>
                <a:latin typeface="Aptos"/>
                <a:ea typeface="DejaVu Sans"/>
              </a:rPr>
              <a:t>Les 8 </a:t>
            </a:r>
            <a:r>
              <a:rPr b="1" lang="fr-FR" sz="2200" spc="-1" strike="noStrike">
                <a:solidFill>
                  <a:srgbClr val="ffffff"/>
                </a:solidFill>
                <a:latin typeface="Aptos"/>
                <a:ea typeface="DejaVu Sans"/>
              </a:rPr>
              <a:t>compétences </a:t>
            </a:r>
            <a:r>
              <a:rPr b="1" lang="fr-FR" sz="2200" spc="-1" strike="noStrike">
                <a:solidFill>
                  <a:srgbClr val="ffffff"/>
                </a:solidFill>
                <a:latin typeface="Aptos"/>
                <a:ea typeface="DejaVu Sans"/>
              </a:rPr>
              <a:t>DWWM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Box 4"/>
          <p:cNvSpPr/>
          <p:nvPr/>
        </p:nvSpPr>
        <p:spPr>
          <a:xfrm>
            <a:off x="8412480" y="274320"/>
            <a:ext cx="319932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Où les démontrer dans la </a:t>
            </a:r>
            <a:r>
              <a:rPr b="0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soutenance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Box 5"/>
          <p:cNvSpPr/>
          <p:nvPr/>
        </p:nvSpPr>
        <p:spPr>
          <a:xfrm>
            <a:off x="411480" y="6565320"/>
            <a:ext cx="27421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600" spc="-1" strike="noStrike">
                <a:solidFill>
                  <a:srgbClr val="267837"/>
                </a:solidFill>
                <a:latin typeface="Aptos"/>
                <a:ea typeface="DejaVu Sans"/>
              </a:rPr>
              <a:t>AU </a:t>
            </a:r>
            <a:r>
              <a:rPr b="0" lang="fr-FR" sz="600" spc="-1" strike="noStrike">
                <a:solidFill>
                  <a:srgbClr val="267837"/>
                </a:solidFill>
                <a:latin typeface="Aptos"/>
                <a:ea typeface="DejaVu Sans"/>
              </a:rPr>
              <a:t>FIL </a:t>
            </a:r>
            <a:r>
              <a:rPr b="0" lang="fr-FR" sz="600" spc="-1" strike="noStrike">
                <a:solidFill>
                  <a:srgbClr val="267837"/>
                </a:solidFill>
                <a:latin typeface="Aptos"/>
                <a:ea typeface="DejaVu Sans"/>
              </a:rPr>
              <a:t>DES </a:t>
            </a:r>
            <a:r>
              <a:rPr b="0" lang="fr-FR" sz="600" spc="-1" strike="noStrike">
                <a:solidFill>
                  <a:srgbClr val="267837"/>
                </a:solidFill>
                <a:latin typeface="Aptos"/>
                <a:ea typeface="DejaVu Sans"/>
              </a:rPr>
              <a:t>SAIS</a:t>
            </a:r>
            <a:r>
              <a:rPr b="0" lang="fr-FR" sz="600" spc="-1" strike="noStrike">
                <a:solidFill>
                  <a:srgbClr val="267837"/>
                </a:solidFill>
                <a:latin typeface="Aptos"/>
                <a:ea typeface="DejaVu Sans"/>
              </a:rPr>
              <a:t>ONS  </a:t>
            </a:r>
            <a:r>
              <a:rPr b="0" lang="fr-FR" sz="600" spc="-1" strike="noStrike">
                <a:solidFill>
                  <a:srgbClr val="267837"/>
                </a:solidFill>
                <a:latin typeface="Aptos"/>
                <a:ea typeface="DejaVu Sans"/>
              </a:rPr>
              <a:t>•  </a:t>
            </a:r>
            <a:r>
              <a:rPr b="0" lang="fr-FR" sz="600" spc="-1" strike="noStrike">
                <a:solidFill>
                  <a:srgbClr val="267837"/>
                </a:solidFill>
                <a:latin typeface="Aptos"/>
                <a:ea typeface="DejaVu Sans"/>
              </a:rPr>
              <a:t>DWW</a:t>
            </a:r>
            <a:r>
              <a:rPr b="0" lang="fr-FR" sz="600" spc="-1" strike="noStrike">
                <a:solidFill>
                  <a:srgbClr val="267837"/>
                </a:solidFill>
                <a:latin typeface="Aptos"/>
                <a:ea typeface="DejaVu Sans"/>
              </a:rPr>
              <a:t>M </a:t>
            </a:r>
            <a:r>
              <a:rPr b="0" lang="fr-FR" sz="600" spc="-1" strike="noStrike">
                <a:solidFill>
                  <a:srgbClr val="267837"/>
                </a:solidFill>
                <a:latin typeface="Aptos"/>
                <a:ea typeface="DejaVu Sans"/>
              </a:rPr>
              <a:t>2026</a:t>
            </a:r>
            <a:endParaRPr b="0" lang="fr-FR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Rounded Rectangle 6"/>
          <p:cNvSpPr/>
          <p:nvPr/>
        </p:nvSpPr>
        <p:spPr>
          <a:xfrm>
            <a:off x="502920" y="1143000"/>
            <a:ext cx="2604960" cy="1873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8f1e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" name="Oval 7"/>
          <p:cNvSpPr/>
          <p:nvPr/>
        </p:nvSpPr>
        <p:spPr>
          <a:xfrm>
            <a:off x="667440" y="1307520"/>
            <a:ext cx="383040" cy="383040"/>
          </a:xfrm>
          <a:prstGeom prst="ellipse">
            <a:avLst/>
          </a:prstGeom>
          <a:solidFill>
            <a:srgbClr val="267837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" name="TextBox 8"/>
          <p:cNvSpPr/>
          <p:nvPr/>
        </p:nvSpPr>
        <p:spPr>
          <a:xfrm>
            <a:off x="667440" y="1385280"/>
            <a:ext cx="3830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1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Box 9"/>
          <p:cNvSpPr/>
          <p:nvPr/>
        </p:nvSpPr>
        <p:spPr>
          <a:xfrm>
            <a:off x="1161360" y="1307520"/>
            <a:ext cx="17362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100" spc="-1" strike="noStrike">
                <a:solidFill>
                  <a:srgbClr val="232b24"/>
                </a:solidFill>
                <a:latin typeface="Aptos"/>
                <a:ea typeface="DejaVu Sans"/>
              </a:rPr>
              <a:t>Environnement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Box 10"/>
          <p:cNvSpPr/>
          <p:nvPr/>
        </p:nvSpPr>
        <p:spPr>
          <a:xfrm>
            <a:off x="685800" y="1892880"/>
            <a:ext cx="22118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5a665c"/>
                </a:solidFill>
                <a:latin typeface="Aptos"/>
                <a:ea typeface="DejaVu Sans"/>
              </a:rPr>
              <a:t>Docker, Symfony, VS Code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11"/>
          <p:cNvSpPr/>
          <p:nvPr/>
        </p:nvSpPr>
        <p:spPr>
          <a:xfrm>
            <a:off x="685800" y="2587680"/>
            <a:ext cx="22118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800" spc="-1" strike="noStrike">
                <a:solidFill>
                  <a:srgbClr val="e08e2c"/>
                </a:solidFill>
                <a:latin typeface="Aptos"/>
                <a:ea typeface="DejaVu Sans"/>
              </a:rPr>
              <a:t>Preuve à présenter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Rounded Rectangle 12"/>
          <p:cNvSpPr/>
          <p:nvPr/>
        </p:nvSpPr>
        <p:spPr>
          <a:xfrm>
            <a:off x="3383280" y="1143000"/>
            <a:ext cx="2604960" cy="1873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8f1e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5" name="Oval 13"/>
          <p:cNvSpPr/>
          <p:nvPr/>
        </p:nvSpPr>
        <p:spPr>
          <a:xfrm>
            <a:off x="3547800" y="1307520"/>
            <a:ext cx="383040" cy="383040"/>
          </a:xfrm>
          <a:prstGeom prst="ellipse">
            <a:avLst/>
          </a:prstGeom>
          <a:solidFill>
            <a:srgbClr val="267837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" name="TextBox 14"/>
          <p:cNvSpPr/>
          <p:nvPr/>
        </p:nvSpPr>
        <p:spPr>
          <a:xfrm>
            <a:off x="3547800" y="1385280"/>
            <a:ext cx="3830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2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Box 15"/>
          <p:cNvSpPr/>
          <p:nvPr/>
        </p:nvSpPr>
        <p:spPr>
          <a:xfrm>
            <a:off x="4041720" y="1307520"/>
            <a:ext cx="17362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100" spc="-1" strike="noStrike">
                <a:solidFill>
                  <a:srgbClr val="232b24"/>
                </a:solidFill>
                <a:latin typeface="Aptos"/>
                <a:ea typeface="DejaVu Sans"/>
              </a:rPr>
              <a:t>Maquettage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Box 16"/>
          <p:cNvSpPr/>
          <p:nvPr/>
        </p:nvSpPr>
        <p:spPr>
          <a:xfrm>
            <a:off x="3566160" y="1892880"/>
            <a:ext cx="22118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5a665c"/>
                </a:solidFill>
                <a:latin typeface="Aptos"/>
                <a:ea typeface="DejaVu Sans"/>
              </a:rPr>
              <a:t>Figma, responsive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Box 17"/>
          <p:cNvSpPr/>
          <p:nvPr/>
        </p:nvSpPr>
        <p:spPr>
          <a:xfrm>
            <a:off x="3566160" y="2587680"/>
            <a:ext cx="22118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800" spc="-1" strike="noStrike">
                <a:solidFill>
                  <a:srgbClr val="e08e2c"/>
                </a:solidFill>
                <a:latin typeface="Aptos"/>
                <a:ea typeface="DejaVu Sans"/>
              </a:rPr>
              <a:t>Preuve à présenter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Rounded Rectangle 18"/>
          <p:cNvSpPr/>
          <p:nvPr/>
        </p:nvSpPr>
        <p:spPr>
          <a:xfrm>
            <a:off x="6263640" y="1143000"/>
            <a:ext cx="2604960" cy="1873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8f1e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" name="Oval 19"/>
          <p:cNvSpPr/>
          <p:nvPr/>
        </p:nvSpPr>
        <p:spPr>
          <a:xfrm>
            <a:off x="6428160" y="1307520"/>
            <a:ext cx="383040" cy="383040"/>
          </a:xfrm>
          <a:prstGeom prst="ellipse">
            <a:avLst/>
          </a:prstGeom>
          <a:solidFill>
            <a:srgbClr val="267837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2" name="TextBox 20"/>
          <p:cNvSpPr/>
          <p:nvPr/>
        </p:nvSpPr>
        <p:spPr>
          <a:xfrm>
            <a:off x="6428160" y="1385280"/>
            <a:ext cx="3830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3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Box 21"/>
          <p:cNvSpPr/>
          <p:nvPr/>
        </p:nvSpPr>
        <p:spPr>
          <a:xfrm>
            <a:off x="6922080" y="1307520"/>
            <a:ext cx="17362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100" spc="-1" strike="noStrike">
                <a:solidFill>
                  <a:srgbClr val="232b24"/>
                </a:solidFill>
                <a:latin typeface="Aptos"/>
                <a:ea typeface="DejaVu Sans"/>
              </a:rPr>
              <a:t>Interfaces statiques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Box 22"/>
          <p:cNvSpPr/>
          <p:nvPr/>
        </p:nvSpPr>
        <p:spPr>
          <a:xfrm>
            <a:off x="6446520" y="1892880"/>
            <a:ext cx="22118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5a665c"/>
                </a:solidFill>
                <a:latin typeface="Aptos"/>
                <a:ea typeface="DejaVu Sans"/>
              </a:rPr>
              <a:t>HTML, CSS, Twig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Box 23"/>
          <p:cNvSpPr/>
          <p:nvPr/>
        </p:nvSpPr>
        <p:spPr>
          <a:xfrm>
            <a:off x="6446520" y="2587680"/>
            <a:ext cx="22118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800" spc="-1" strike="noStrike">
                <a:solidFill>
                  <a:srgbClr val="e08e2c"/>
                </a:solidFill>
                <a:latin typeface="Aptos"/>
                <a:ea typeface="DejaVu Sans"/>
              </a:rPr>
              <a:t>Preuve à présenter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Rounded Rectangle 24"/>
          <p:cNvSpPr/>
          <p:nvPr/>
        </p:nvSpPr>
        <p:spPr>
          <a:xfrm>
            <a:off x="9144000" y="1143000"/>
            <a:ext cx="2604960" cy="1873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8f1e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7" name="Oval 25"/>
          <p:cNvSpPr/>
          <p:nvPr/>
        </p:nvSpPr>
        <p:spPr>
          <a:xfrm>
            <a:off x="9308520" y="1307520"/>
            <a:ext cx="383040" cy="383040"/>
          </a:xfrm>
          <a:prstGeom prst="ellipse">
            <a:avLst/>
          </a:prstGeom>
          <a:solidFill>
            <a:srgbClr val="267837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8" name="TextBox 26"/>
          <p:cNvSpPr/>
          <p:nvPr/>
        </p:nvSpPr>
        <p:spPr>
          <a:xfrm>
            <a:off x="9308520" y="1385280"/>
            <a:ext cx="3830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4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27"/>
          <p:cNvSpPr/>
          <p:nvPr/>
        </p:nvSpPr>
        <p:spPr>
          <a:xfrm>
            <a:off x="9802440" y="1307520"/>
            <a:ext cx="173628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100" spc="-1" strike="noStrike">
                <a:solidFill>
                  <a:srgbClr val="232b24"/>
                </a:solidFill>
                <a:latin typeface="Aptos"/>
                <a:ea typeface="DejaVu Sans"/>
              </a:rPr>
              <a:t>Interfaces dynamiques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28"/>
          <p:cNvSpPr/>
          <p:nvPr/>
        </p:nvSpPr>
        <p:spPr>
          <a:xfrm>
            <a:off x="9326880" y="1892880"/>
            <a:ext cx="22118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5a665c"/>
                </a:solidFill>
                <a:latin typeface="Aptos"/>
                <a:ea typeface="DejaVu Sans"/>
              </a:rPr>
              <a:t>Formulaires, profil, saisons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29"/>
          <p:cNvSpPr/>
          <p:nvPr/>
        </p:nvSpPr>
        <p:spPr>
          <a:xfrm>
            <a:off x="9326880" y="2587680"/>
            <a:ext cx="22118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800" spc="-1" strike="noStrike">
                <a:solidFill>
                  <a:srgbClr val="e08e2c"/>
                </a:solidFill>
                <a:latin typeface="Aptos"/>
                <a:ea typeface="DejaVu Sans"/>
              </a:rPr>
              <a:t>Preuve à présenter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Rounded Rectangle 30"/>
          <p:cNvSpPr/>
          <p:nvPr/>
        </p:nvSpPr>
        <p:spPr>
          <a:xfrm>
            <a:off x="502920" y="3474720"/>
            <a:ext cx="2604960" cy="1873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8f1e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3" name="Oval 31"/>
          <p:cNvSpPr/>
          <p:nvPr/>
        </p:nvSpPr>
        <p:spPr>
          <a:xfrm>
            <a:off x="667440" y="3639240"/>
            <a:ext cx="383040" cy="383040"/>
          </a:xfrm>
          <a:prstGeom prst="ellipse">
            <a:avLst/>
          </a:prstGeom>
          <a:solidFill>
            <a:srgbClr val="267837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" name="TextBox 32"/>
          <p:cNvSpPr/>
          <p:nvPr/>
        </p:nvSpPr>
        <p:spPr>
          <a:xfrm>
            <a:off x="667440" y="3717000"/>
            <a:ext cx="3830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5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33"/>
          <p:cNvSpPr/>
          <p:nvPr/>
        </p:nvSpPr>
        <p:spPr>
          <a:xfrm>
            <a:off x="1161360" y="3639240"/>
            <a:ext cx="17362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100" spc="-1" strike="noStrike">
                <a:solidFill>
                  <a:srgbClr val="232b24"/>
                </a:solidFill>
                <a:latin typeface="Aptos"/>
                <a:ea typeface="DejaVu Sans"/>
              </a:rPr>
              <a:t>Base relationnelle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34"/>
          <p:cNvSpPr/>
          <p:nvPr/>
        </p:nvSpPr>
        <p:spPr>
          <a:xfrm>
            <a:off x="685800" y="4224600"/>
            <a:ext cx="22118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5a665c"/>
                </a:solidFill>
                <a:latin typeface="Aptos"/>
                <a:ea typeface="DejaVu Sans"/>
              </a:rPr>
              <a:t>MCD → MLD → MPD, MySQL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35"/>
          <p:cNvSpPr/>
          <p:nvPr/>
        </p:nvSpPr>
        <p:spPr>
          <a:xfrm>
            <a:off x="685800" y="4919400"/>
            <a:ext cx="22118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800" spc="-1" strike="noStrike">
                <a:solidFill>
                  <a:srgbClr val="e08e2c"/>
                </a:solidFill>
                <a:latin typeface="Aptos"/>
                <a:ea typeface="DejaVu Sans"/>
              </a:rPr>
              <a:t>Preuve à présenter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ounded Rectangle 36"/>
          <p:cNvSpPr/>
          <p:nvPr/>
        </p:nvSpPr>
        <p:spPr>
          <a:xfrm>
            <a:off x="3383280" y="3474720"/>
            <a:ext cx="2604960" cy="1873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8f1e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" name="Oval 37"/>
          <p:cNvSpPr/>
          <p:nvPr/>
        </p:nvSpPr>
        <p:spPr>
          <a:xfrm>
            <a:off x="3547800" y="3639240"/>
            <a:ext cx="383040" cy="383040"/>
          </a:xfrm>
          <a:prstGeom prst="ellipse">
            <a:avLst/>
          </a:prstGeom>
          <a:solidFill>
            <a:srgbClr val="267837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0" name="TextBox 38"/>
          <p:cNvSpPr/>
          <p:nvPr/>
        </p:nvSpPr>
        <p:spPr>
          <a:xfrm>
            <a:off x="3547800" y="3717000"/>
            <a:ext cx="3830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6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39"/>
          <p:cNvSpPr/>
          <p:nvPr/>
        </p:nvSpPr>
        <p:spPr>
          <a:xfrm>
            <a:off x="4041720" y="3639240"/>
            <a:ext cx="17362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100" spc="-1" strike="noStrike">
                <a:solidFill>
                  <a:srgbClr val="232b24"/>
                </a:solidFill>
                <a:latin typeface="Aptos"/>
                <a:ea typeface="DejaVu Sans"/>
              </a:rPr>
              <a:t>Accès aux données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40"/>
          <p:cNvSpPr/>
          <p:nvPr/>
        </p:nvSpPr>
        <p:spPr>
          <a:xfrm>
            <a:off x="3566160" y="4224600"/>
            <a:ext cx="22118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5a665c"/>
                </a:solidFill>
                <a:latin typeface="Aptos"/>
                <a:ea typeface="DejaVu Sans"/>
              </a:rPr>
              <a:t>Doctrine, Repository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41"/>
          <p:cNvSpPr/>
          <p:nvPr/>
        </p:nvSpPr>
        <p:spPr>
          <a:xfrm>
            <a:off x="3566160" y="4919400"/>
            <a:ext cx="22118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800" spc="-1" strike="noStrike">
                <a:solidFill>
                  <a:srgbClr val="e08e2c"/>
                </a:solidFill>
                <a:latin typeface="Aptos"/>
                <a:ea typeface="DejaVu Sans"/>
              </a:rPr>
              <a:t>Preuve à présenter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Rounded Rectangle 42"/>
          <p:cNvSpPr/>
          <p:nvPr/>
        </p:nvSpPr>
        <p:spPr>
          <a:xfrm>
            <a:off x="6263640" y="3474720"/>
            <a:ext cx="2604960" cy="1873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8f1e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5" name="Oval 43"/>
          <p:cNvSpPr/>
          <p:nvPr/>
        </p:nvSpPr>
        <p:spPr>
          <a:xfrm>
            <a:off x="6428160" y="3639240"/>
            <a:ext cx="383040" cy="383040"/>
          </a:xfrm>
          <a:prstGeom prst="ellipse">
            <a:avLst/>
          </a:prstGeom>
          <a:solidFill>
            <a:srgbClr val="267837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6" name="TextBox 44"/>
          <p:cNvSpPr/>
          <p:nvPr/>
        </p:nvSpPr>
        <p:spPr>
          <a:xfrm>
            <a:off x="6428160" y="3717000"/>
            <a:ext cx="3830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7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45"/>
          <p:cNvSpPr/>
          <p:nvPr/>
        </p:nvSpPr>
        <p:spPr>
          <a:xfrm>
            <a:off x="6922080" y="3639240"/>
            <a:ext cx="17362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100" spc="-1" strike="noStrike">
                <a:solidFill>
                  <a:srgbClr val="232b24"/>
                </a:solidFill>
                <a:latin typeface="Aptos"/>
                <a:ea typeface="DejaVu Sans"/>
              </a:rPr>
              <a:t>Métier serveur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46"/>
          <p:cNvSpPr/>
          <p:nvPr/>
        </p:nvSpPr>
        <p:spPr>
          <a:xfrm>
            <a:off x="6446520" y="4224600"/>
            <a:ext cx="22118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5a665c"/>
                </a:solidFill>
                <a:latin typeface="Aptos"/>
                <a:ea typeface="DejaVu Sans"/>
              </a:rPr>
              <a:t>Contrôleurs, sécurité, recettes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47"/>
          <p:cNvSpPr/>
          <p:nvPr/>
        </p:nvSpPr>
        <p:spPr>
          <a:xfrm>
            <a:off x="6446520" y="4919400"/>
            <a:ext cx="22118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800" spc="-1" strike="noStrike">
                <a:solidFill>
                  <a:srgbClr val="e08e2c"/>
                </a:solidFill>
                <a:latin typeface="Aptos"/>
                <a:ea typeface="DejaVu Sans"/>
              </a:rPr>
              <a:t>Preuve à présenter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ounded Rectangle 48"/>
          <p:cNvSpPr/>
          <p:nvPr/>
        </p:nvSpPr>
        <p:spPr>
          <a:xfrm>
            <a:off x="9144000" y="3474720"/>
            <a:ext cx="2604960" cy="1873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8f1e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1" name="Oval 49"/>
          <p:cNvSpPr/>
          <p:nvPr/>
        </p:nvSpPr>
        <p:spPr>
          <a:xfrm>
            <a:off x="9308520" y="3639240"/>
            <a:ext cx="383040" cy="383040"/>
          </a:xfrm>
          <a:prstGeom prst="ellipse">
            <a:avLst/>
          </a:prstGeom>
          <a:solidFill>
            <a:srgbClr val="267837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2" name="TextBox 50"/>
          <p:cNvSpPr/>
          <p:nvPr/>
        </p:nvSpPr>
        <p:spPr>
          <a:xfrm>
            <a:off x="9308520" y="3717000"/>
            <a:ext cx="3830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8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51"/>
          <p:cNvSpPr/>
          <p:nvPr/>
        </p:nvSpPr>
        <p:spPr>
          <a:xfrm>
            <a:off x="9802440" y="3639240"/>
            <a:ext cx="17362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100" spc="-1" strike="noStrike">
                <a:solidFill>
                  <a:srgbClr val="232b24"/>
                </a:solidFill>
                <a:latin typeface="Aptos"/>
                <a:ea typeface="DejaVu Sans"/>
              </a:rPr>
              <a:t>Déploiement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52"/>
          <p:cNvSpPr/>
          <p:nvPr/>
        </p:nvSpPr>
        <p:spPr>
          <a:xfrm>
            <a:off x="9326880" y="4224600"/>
            <a:ext cx="22118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5a665c"/>
                </a:solidFill>
                <a:latin typeface="Aptos"/>
                <a:ea typeface="DejaVu Sans"/>
              </a:rPr>
              <a:t>Docker, variables, migrations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53"/>
          <p:cNvSpPr/>
          <p:nvPr/>
        </p:nvSpPr>
        <p:spPr>
          <a:xfrm>
            <a:off x="9326880" y="4919400"/>
            <a:ext cx="22118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800" spc="-1" strike="noStrike">
                <a:solidFill>
                  <a:srgbClr val="e08e2c"/>
                </a:solidFill>
                <a:latin typeface="Aptos"/>
                <a:ea typeface="DejaVu Sans"/>
              </a:rPr>
              <a:t>Preuve à présenter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5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3"/>
          <p:cNvSpPr/>
          <p:nvPr/>
        </p:nvSpPr>
        <p:spPr>
          <a:xfrm>
            <a:off x="9418320" y="-1463040"/>
            <a:ext cx="4204440" cy="4204440"/>
          </a:xfrm>
          <a:prstGeom prst="ellipse">
            <a:avLst/>
          </a:prstGeom>
          <a:solidFill>
            <a:srgbClr val="2e7f32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7" name="Shape 9"/>
          <p:cNvSpPr/>
          <p:nvPr/>
        </p:nvSpPr>
        <p:spPr>
          <a:xfrm>
            <a:off x="10607040" y="-548640"/>
            <a:ext cx="2741400" cy="2741400"/>
          </a:xfrm>
          <a:prstGeom prst="ellipse">
            <a:avLst/>
          </a:prstGeom>
          <a:solidFill>
            <a:srgbClr val="2e7f32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8" name="Text 20"/>
          <p:cNvSpPr/>
          <p:nvPr/>
        </p:nvSpPr>
        <p:spPr>
          <a:xfrm>
            <a:off x="640080" y="2331720"/>
            <a:ext cx="36558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287" strike="noStrike">
                <a:solidFill>
                  <a:srgbClr val="d9822b"/>
                </a:solidFill>
                <a:latin typeface="Calibri"/>
                <a:ea typeface="Calibri"/>
              </a:rPr>
              <a:t>PARTIE 1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26"/>
          <p:cNvSpPr/>
          <p:nvPr/>
        </p:nvSpPr>
        <p:spPr>
          <a:xfrm>
            <a:off x="594360" y="2788920"/>
            <a:ext cx="914220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ormorant Garamond"/>
                <a:ea typeface="Cormorant Garamond"/>
              </a:rPr>
              <a:t>Concev</a:t>
            </a:r>
            <a:r>
              <a:rPr b="1" lang="en-US" sz="4800" spc="-1" strike="noStrike">
                <a:solidFill>
                  <a:srgbClr val="ffffff"/>
                </a:solidFill>
                <a:latin typeface="Cormorant Garamond"/>
                <a:ea typeface="Cormorant Garamond"/>
              </a:rPr>
              <a:t>oir le </a:t>
            </a:r>
            <a:r>
              <a:rPr b="1" lang="en-US" sz="4800" spc="-1" strike="noStrike">
                <a:solidFill>
                  <a:srgbClr val="ffffff"/>
                </a:solidFill>
                <a:latin typeface="Cormorant Garamond"/>
                <a:ea typeface="Cormorant Garamond"/>
              </a:rPr>
              <a:t>projet</a:t>
            </a:r>
            <a:endParaRPr b="0" lang="fr-FR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27"/>
          <p:cNvSpPr/>
          <p:nvPr/>
        </p:nvSpPr>
        <p:spPr>
          <a:xfrm>
            <a:off x="640080" y="3703320"/>
            <a:ext cx="8227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cfe6cf"/>
                </a:solidFill>
                <a:latin typeface="Calibri"/>
                <a:ea typeface="Calibri"/>
              </a:rPr>
              <a:t>Analyse fonctionnelle, </a:t>
            </a:r>
            <a:r>
              <a:rPr b="0" i="1" lang="en-US" sz="1500" spc="-1" strike="noStrike">
                <a:solidFill>
                  <a:srgbClr val="cfe6cf"/>
                </a:solidFill>
                <a:latin typeface="Calibri"/>
                <a:ea typeface="Calibri"/>
              </a:rPr>
              <a:t>méthode agile, conception </a:t>
            </a:r>
            <a:r>
              <a:rPr b="0" i="1" lang="en-US" sz="1500" spc="-1" strike="noStrike">
                <a:solidFill>
                  <a:srgbClr val="cfe6cf"/>
                </a:solidFill>
                <a:latin typeface="Calibri"/>
                <a:ea typeface="Calibri"/>
              </a:rPr>
              <a:t>Merise, maquettage et </a:t>
            </a:r>
            <a:r>
              <a:rPr b="0" i="1" lang="en-US" sz="1500" spc="-1" strike="noStrike">
                <a:solidFill>
                  <a:srgbClr val="cfe6cf"/>
                </a:solidFill>
                <a:latin typeface="Calibri"/>
                <a:ea typeface="Calibri"/>
              </a:rPr>
              <a:t>stack technique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28"/>
          <p:cNvSpPr/>
          <p:nvPr/>
        </p:nvSpPr>
        <p:spPr>
          <a:xfrm>
            <a:off x="11277360" y="647388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0"/>
          <p:cNvSpPr/>
          <p:nvPr/>
        </p:nvSpPr>
        <p:spPr>
          <a:xfrm>
            <a:off x="0" y="0"/>
            <a:ext cx="12189960" cy="1049760"/>
          </a:xfrm>
          <a:prstGeom prst="rect">
            <a:avLst/>
          </a:prstGeom>
          <a:solidFill>
            <a:srgbClr val="1f5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3" name="Text 1"/>
          <p:cNvSpPr/>
          <p:nvPr/>
        </p:nvSpPr>
        <p:spPr>
          <a:xfrm>
            <a:off x="502920" y="380160"/>
            <a:ext cx="944676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ormorant Garamond"/>
                <a:ea typeface="Cormorant Garamond"/>
              </a:rPr>
              <a:t>Analyse fonctionnelle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2"/>
          <p:cNvSpPr/>
          <p:nvPr/>
        </p:nvSpPr>
        <p:spPr>
          <a:xfrm>
            <a:off x="5002920" y="695880"/>
            <a:ext cx="57967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cfe6cf"/>
                </a:solidFill>
                <a:latin typeface="Calibri"/>
                <a:ea typeface="Calibri"/>
              </a:rPr>
              <a:t>Personas, besoins utilisateurs et rôle administrateur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3"/>
          <p:cNvSpPr/>
          <p:nvPr/>
        </p:nvSpPr>
        <p:spPr>
          <a:xfrm>
            <a:off x="457200" y="647388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2e7f32"/>
                </a:solidFill>
                <a:latin typeface="Calibri"/>
                <a:ea typeface="Calibri"/>
              </a:rPr>
              <a:t>AU FIL DES SAISONS  •  DWWM 2026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4"/>
          <p:cNvSpPr/>
          <p:nvPr/>
        </p:nvSpPr>
        <p:spPr>
          <a:xfrm>
            <a:off x="11277360" y="647388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5"/>
          <p:cNvSpPr/>
          <p:nvPr/>
        </p:nvSpPr>
        <p:spPr>
          <a:xfrm>
            <a:off x="502920" y="1371600"/>
            <a:ext cx="2623320" cy="2832840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8" name="Shape 6"/>
          <p:cNvSpPr/>
          <p:nvPr/>
        </p:nvSpPr>
        <p:spPr>
          <a:xfrm>
            <a:off x="502920" y="1371600"/>
            <a:ext cx="2623320" cy="501120"/>
          </a:xfrm>
          <a:prstGeom prst="roundRect">
            <a:avLst>
              <a:gd name="adj" fmla="val 18182"/>
            </a:avLst>
          </a:prstGeom>
          <a:solidFill>
            <a:srgbClr val="1f5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9" name="Shape 7"/>
          <p:cNvSpPr/>
          <p:nvPr/>
        </p:nvSpPr>
        <p:spPr>
          <a:xfrm>
            <a:off x="502920" y="1645920"/>
            <a:ext cx="2623320" cy="226800"/>
          </a:xfrm>
          <a:prstGeom prst="rect">
            <a:avLst/>
          </a:prstGeom>
          <a:solidFill>
            <a:srgbClr val="1f5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0" name="Text 8"/>
          <p:cNvSpPr/>
          <p:nvPr/>
        </p:nvSpPr>
        <p:spPr>
          <a:xfrm>
            <a:off x="667440" y="1371600"/>
            <a:ext cx="22939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Sophie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9"/>
          <p:cNvSpPr/>
          <p:nvPr/>
        </p:nvSpPr>
        <p:spPr>
          <a:xfrm>
            <a:off x="667440" y="1993320"/>
            <a:ext cx="22939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c6b5e"/>
                </a:solidFill>
                <a:latin typeface="Calibri"/>
                <a:ea typeface="Calibri"/>
              </a:rPr>
              <a:t>34 ans · Enseignante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0"/>
          <p:cNvSpPr/>
          <p:nvPr/>
        </p:nvSpPr>
        <p:spPr>
          <a:xfrm>
            <a:off x="667440" y="2395800"/>
            <a:ext cx="2293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e7f32"/>
                </a:solidFill>
                <a:latin typeface="Calibri"/>
                <a:ea typeface="Calibri"/>
              </a:rPr>
              <a:t>Objectif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1"/>
          <p:cNvSpPr/>
          <p:nvPr/>
        </p:nvSpPr>
        <p:spPr>
          <a:xfrm>
            <a:off x="667440" y="2670120"/>
            <a:ext cx="229392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0301f"/>
                </a:solidFill>
                <a:latin typeface="Calibri"/>
                <a:ea typeface="Calibri"/>
              </a:rPr>
              <a:t>Manger plus sainement en privilégiant les produits de saison.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12"/>
          <p:cNvSpPr/>
          <p:nvPr/>
        </p:nvSpPr>
        <p:spPr>
          <a:xfrm>
            <a:off x="3356640" y="1371600"/>
            <a:ext cx="2623320" cy="2832840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5" name="Shape 13"/>
          <p:cNvSpPr/>
          <p:nvPr/>
        </p:nvSpPr>
        <p:spPr>
          <a:xfrm>
            <a:off x="3356640" y="1371600"/>
            <a:ext cx="2623320" cy="501120"/>
          </a:xfrm>
          <a:prstGeom prst="roundRect">
            <a:avLst>
              <a:gd name="adj" fmla="val 18182"/>
            </a:avLst>
          </a:prstGeom>
          <a:solidFill>
            <a:srgbClr val="d982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6" name="Shape 14"/>
          <p:cNvSpPr/>
          <p:nvPr/>
        </p:nvSpPr>
        <p:spPr>
          <a:xfrm>
            <a:off x="3356640" y="1645920"/>
            <a:ext cx="2623320" cy="226800"/>
          </a:xfrm>
          <a:prstGeom prst="rect">
            <a:avLst/>
          </a:prstGeom>
          <a:solidFill>
            <a:srgbClr val="d982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7" name="Text 15"/>
          <p:cNvSpPr/>
          <p:nvPr/>
        </p:nvSpPr>
        <p:spPr>
          <a:xfrm>
            <a:off x="3521160" y="1371600"/>
            <a:ext cx="22939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Lucas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16"/>
          <p:cNvSpPr/>
          <p:nvPr/>
        </p:nvSpPr>
        <p:spPr>
          <a:xfrm>
            <a:off x="3521160" y="1993320"/>
            <a:ext cx="22939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c6b5e"/>
                </a:solidFill>
                <a:latin typeface="Calibri"/>
                <a:ea typeface="Calibri"/>
              </a:rPr>
              <a:t>22 ans · Étudiant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17"/>
          <p:cNvSpPr/>
          <p:nvPr/>
        </p:nvSpPr>
        <p:spPr>
          <a:xfrm>
            <a:off x="3521160" y="2395800"/>
            <a:ext cx="2293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d9822b"/>
                </a:solidFill>
                <a:latin typeface="Calibri"/>
                <a:ea typeface="Calibri"/>
              </a:rPr>
              <a:t>Objectif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18"/>
          <p:cNvSpPr/>
          <p:nvPr/>
        </p:nvSpPr>
        <p:spPr>
          <a:xfrm>
            <a:off x="3521160" y="2670120"/>
            <a:ext cx="229392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0301f"/>
                </a:solidFill>
                <a:latin typeface="Calibri"/>
                <a:ea typeface="Calibri"/>
              </a:rPr>
              <a:t>Trouver des recettes simples à partir de produits de saison.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19"/>
          <p:cNvSpPr/>
          <p:nvPr/>
        </p:nvSpPr>
        <p:spPr>
          <a:xfrm>
            <a:off x="6210000" y="1371600"/>
            <a:ext cx="2623320" cy="2832840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2" name="Shape 20"/>
          <p:cNvSpPr/>
          <p:nvPr/>
        </p:nvSpPr>
        <p:spPr>
          <a:xfrm>
            <a:off x="6210000" y="1371600"/>
            <a:ext cx="2623320" cy="501120"/>
          </a:xfrm>
          <a:prstGeom prst="roundRect">
            <a:avLst>
              <a:gd name="adj" fmla="val 18182"/>
            </a:avLst>
          </a:prstGeom>
          <a:solidFill>
            <a:srgbClr val="1f5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3" name="Shape 21"/>
          <p:cNvSpPr/>
          <p:nvPr/>
        </p:nvSpPr>
        <p:spPr>
          <a:xfrm>
            <a:off x="6210000" y="1645920"/>
            <a:ext cx="2623320" cy="226800"/>
          </a:xfrm>
          <a:prstGeom prst="rect">
            <a:avLst/>
          </a:prstGeom>
          <a:solidFill>
            <a:srgbClr val="1f5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4" name="Text 22"/>
          <p:cNvSpPr/>
          <p:nvPr/>
        </p:nvSpPr>
        <p:spPr>
          <a:xfrm>
            <a:off x="6374880" y="1371600"/>
            <a:ext cx="22939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Claire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23"/>
          <p:cNvSpPr/>
          <p:nvPr/>
        </p:nvSpPr>
        <p:spPr>
          <a:xfrm>
            <a:off x="6374880" y="1993320"/>
            <a:ext cx="22939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c6b5e"/>
                </a:solidFill>
                <a:latin typeface="Calibri"/>
                <a:ea typeface="Calibri"/>
              </a:rPr>
              <a:t>45 ans · Passionnée de cuisine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24"/>
          <p:cNvSpPr/>
          <p:nvPr/>
        </p:nvSpPr>
        <p:spPr>
          <a:xfrm>
            <a:off x="6374880" y="2395800"/>
            <a:ext cx="2293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e7f32"/>
                </a:solidFill>
                <a:latin typeface="Calibri"/>
                <a:ea typeface="Calibri"/>
              </a:rPr>
              <a:t>Objectif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25"/>
          <p:cNvSpPr/>
          <p:nvPr/>
        </p:nvSpPr>
        <p:spPr>
          <a:xfrm>
            <a:off x="6374880" y="2670120"/>
            <a:ext cx="229392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0301f"/>
                </a:solidFill>
                <a:latin typeface="Calibri"/>
                <a:ea typeface="Calibri"/>
              </a:rPr>
              <a:t>Découvrir, créer et partager ses propres recettes avec la communauté.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26"/>
          <p:cNvSpPr/>
          <p:nvPr/>
        </p:nvSpPr>
        <p:spPr>
          <a:xfrm>
            <a:off x="9063720" y="1371600"/>
            <a:ext cx="2623320" cy="2832840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9" name="Shape 27"/>
          <p:cNvSpPr/>
          <p:nvPr/>
        </p:nvSpPr>
        <p:spPr>
          <a:xfrm>
            <a:off x="9063720" y="1371600"/>
            <a:ext cx="2623320" cy="501120"/>
          </a:xfrm>
          <a:prstGeom prst="roundRect">
            <a:avLst>
              <a:gd name="adj" fmla="val 18182"/>
            </a:avLst>
          </a:prstGeom>
          <a:solidFill>
            <a:srgbClr val="d982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0" name="Shape 28"/>
          <p:cNvSpPr/>
          <p:nvPr/>
        </p:nvSpPr>
        <p:spPr>
          <a:xfrm>
            <a:off x="9063720" y="1645920"/>
            <a:ext cx="2623320" cy="226800"/>
          </a:xfrm>
          <a:prstGeom prst="rect">
            <a:avLst/>
          </a:prstGeom>
          <a:solidFill>
            <a:srgbClr val="d982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1" name="Text 29"/>
          <p:cNvSpPr/>
          <p:nvPr/>
        </p:nvSpPr>
        <p:spPr>
          <a:xfrm>
            <a:off x="9228240" y="1371600"/>
            <a:ext cx="22939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Mathias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30"/>
          <p:cNvSpPr/>
          <p:nvPr/>
        </p:nvSpPr>
        <p:spPr>
          <a:xfrm>
            <a:off x="9228240" y="1993320"/>
            <a:ext cx="22939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c6b5e"/>
                </a:solidFill>
                <a:latin typeface="Calibri"/>
                <a:ea typeface="Calibri"/>
              </a:rPr>
              <a:t>34 ans · Professeur de gym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31"/>
          <p:cNvSpPr/>
          <p:nvPr/>
        </p:nvSpPr>
        <p:spPr>
          <a:xfrm>
            <a:off x="9228240" y="2395800"/>
            <a:ext cx="2293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d9822b"/>
                </a:solidFill>
                <a:latin typeface="Calibri"/>
                <a:ea typeface="Calibri"/>
              </a:rPr>
              <a:t>Objectif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32"/>
          <p:cNvSpPr/>
          <p:nvPr/>
        </p:nvSpPr>
        <p:spPr>
          <a:xfrm>
            <a:off x="9228240" y="2670120"/>
            <a:ext cx="229392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0301f"/>
                </a:solidFill>
                <a:latin typeface="Calibri"/>
                <a:ea typeface="Calibri"/>
              </a:rPr>
              <a:t>Manger équilibré et varier ses repas avec des produits de saison.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33"/>
          <p:cNvSpPr/>
          <p:nvPr/>
        </p:nvSpPr>
        <p:spPr>
          <a:xfrm>
            <a:off x="502920" y="4526280"/>
            <a:ext cx="3543840" cy="159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6" name="Text 34"/>
          <p:cNvSpPr/>
          <p:nvPr/>
        </p:nvSpPr>
        <p:spPr>
          <a:xfrm>
            <a:off x="758880" y="4710240"/>
            <a:ext cx="30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Visiteur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35"/>
          <p:cNvSpPr/>
          <p:nvPr/>
        </p:nvSpPr>
        <p:spPr>
          <a:xfrm>
            <a:off x="758880" y="5077800"/>
            <a:ext cx="30319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Consulte les produits de saison, leurs fiches et les suggestions adaptées à la météo. L’inscription est nécessaire pour accéder aux recettes.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36"/>
          <p:cNvSpPr/>
          <p:nvPr/>
        </p:nvSpPr>
        <p:spPr>
          <a:xfrm>
            <a:off x="4322880" y="4526280"/>
            <a:ext cx="3543840" cy="159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9" name="Text 37"/>
          <p:cNvSpPr/>
          <p:nvPr/>
        </p:nvSpPr>
        <p:spPr>
          <a:xfrm>
            <a:off x="4578840" y="4710240"/>
            <a:ext cx="30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Utilisateur connecté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38"/>
          <p:cNvSpPr/>
          <p:nvPr/>
        </p:nvSpPr>
        <p:spPr>
          <a:xfrm>
            <a:off x="4578840" y="5077800"/>
            <a:ext cx="30319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Accéde aux recettes, crée ses propres recettes et peut choisir leur visibilité. Il peut également noter sur 5 et commenter les recettes publiées.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39"/>
          <p:cNvSpPr/>
          <p:nvPr/>
        </p:nvSpPr>
        <p:spPr>
          <a:xfrm>
            <a:off x="8143200" y="4526280"/>
            <a:ext cx="3543840" cy="159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2" name="Text 40"/>
          <p:cNvSpPr/>
          <p:nvPr/>
        </p:nvSpPr>
        <p:spPr>
          <a:xfrm>
            <a:off x="8399160" y="4710240"/>
            <a:ext cx="30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Administrateur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41"/>
          <p:cNvSpPr/>
          <p:nvPr/>
        </p:nvSpPr>
        <p:spPr>
          <a:xfrm>
            <a:off x="8399160" y="5077800"/>
            <a:ext cx="30319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Gère les produits et les recettes, modère les contenus et peut désactiver un compte utilisateur en cas de comportement inapproprié.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33"/>
          <p:cNvSpPr/>
          <p:nvPr/>
        </p:nvSpPr>
        <p:spPr>
          <a:xfrm>
            <a:off x="504000" y="38880"/>
            <a:ext cx="36558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287" strike="noStrike">
                <a:solidFill>
                  <a:srgbClr val="d9822b"/>
                </a:solidFill>
                <a:latin typeface="Calibri"/>
                <a:ea typeface="Calibri"/>
              </a:rPr>
              <a:t>PARTIE 1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1"/>
          <p:cNvSpPr/>
          <p:nvPr/>
        </p:nvSpPr>
        <p:spPr>
          <a:xfrm>
            <a:off x="502920" y="128160"/>
            <a:ext cx="944676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6" name="Text 2"/>
          <p:cNvSpPr/>
          <p:nvPr/>
        </p:nvSpPr>
        <p:spPr>
          <a:xfrm>
            <a:off x="502920" y="839880"/>
            <a:ext cx="1079928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457200" y="647388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2e7f32"/>
                </a:solidFill>
                <a:latin typeface="Calibri"/>
                <a:ea typeface="Calibri"/>
              </a:rPr>
              <a:t>AU FIL DES SAISONS  •  DWWM 2026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11277360" y="647388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5"/>
          <p:cNvSpPr/>
          <p:nvPr/>
        </p:nvSpPr>
        <p:spPr>
          <a:xfrm>
            <a:off x="502920" y="1417320"/>
            <a:ext cx="3543840" cy="429588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0" name="Shape 6"/>
          <p:cNvSpPr/>
          <p:nvPr/>
        </p:nvSpPr>
        <p:spPr>
          <a:xfrm>
            <a:off x="758880" y="1673280"/>
            <a:ext cx="382320" cy="382320"/>
          </a:xfrm>
          <a:prstGeom prst="ellipse">
            <a:avLst/>
          </a:prstGeom>
          <a:solidFill>
            <a:srgbClr val="2e7f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1" name="Text 7"/>
          <p:cNvSpPr/>
          <p:nvPr/>
        </p:nvSpPr>
        <p:spPr>
          <a:xfrm>
            <a:off x="758880" y="1673280"/>
            <a:ext cx="3823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8"/>
          <p:cNvSpPr/>
          <p:nvPr/>
        </p:nvSpPr>
        <p:spPr>
          <a:xfrm>
            <a:off x="758880" y="2240280"/>
            <a:ext cx="30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Besoins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9"/>
          <p:cNvSpPr/>
          <p:nvPr/>
        </p:nvSpPr>
        <p:spPr>
          <a:xfrm>
            <a:off x="758880" y="2715840"/>
            <a:ext cx="3031920" cy="279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Identification des besoins à partir de personas, puis traduction des fonctionnalités en Epics et User Stories.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10"/>
          <p:cNvSpPr/>
          <p:nvPr/>
        </p:nvSpPr>
        <p:spPr>
          <a:xfrm>
            <a:off x="4322880" y="1417320"/>
            <a:ext cx="3543840" cy="429588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5" name="Shape 11"/>
          <p:cNvSpPr/>
          <p:nvPr/>
        </p:nvSpPr>
        <p:spPr>
          <a:xfrm>
            <a:off x="4578840" y="1673280"/>
            <a:ext cx="382320" cy="382320"/>
          </a:xfrm>
          <a:prstGeom prst="ellipse">
            <a:avLst/>
          </a:prstGeom>
          <a:solidFill>
            <a:srgbClr val="2e7f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6" name="Text 12"/>
          <p:cNvSpPr/>
          <p:nvPr/>
        </p:nvSpPr>
        <p:spPr>
          <a:xfrm>
            <a:off x="4578840" y="1673280"/>
            <a:ext cx="3823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3"/>
          <p:cNvSpPr/>
          <p:nvPr/>
        </p:nvSpPr>
        <p:spPr>
          <a:xfrm>
            <a:off x="4578840" y="2240280"/>
            <a:ext cx="30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Organisation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14"/>
          <p:cNvSpPr/>
          <p:nvPr/>
        </p:nvSpPr>
        <p:spPr>
          <a:xfrm>
            <a:off x="4578840" y="2715840"/>
            <a:ext cx="3031920" cy="279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Organisation du backlog dans GitHub Projects avec epics, Issues labels et priorités. Développement réparti en différentes étapes.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15"/>
          <p:cNvSpPr/>
          <p:nvPr/>
        </p:nvSpPr>
        <p:spPr>
          <a:xfrm>
            <a:off x="7975080" y="1417320"/>
            <a:ext cx="3543840" cy="429588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0" name="Shape 16"/>
          <p:cNvSpPr/>
          <p:nvPr/>
        </p:nvSpPr>
        <p:spPr>
          <a:xfrm>
            <a:off x="8399160" y="1673280"/>
            <a:ext cx="382320" cy="382320"/>
          </a:xfrm>
          <a:prstGeom prst="ellipse">
            <a:avLst/>
          </a:prstGeom>
          <a:solidFill>
            <a:srgbClr val="2e7f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1" name="Text 17"/>
          <p:cNvSpPr/>
          <p:nvPr/>
        </p:nvSpPr>
        <p:spPr>
          <a:xfrm>
            <a:off x="8399160" y="1673280"/>
            <a:ext cx="3823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18"/>
          <p:cNvSpPr/>
          <p:nvPr/>
        </p:nvSpPr>
        <p:spPr>
          <a:xfrm>
            <a:off x="8399160" y="2240280"/>
            <a:ext cx="30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MVP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19"/>
          <p:cNvSpPr/>
          <p:nvPr/>
        </p:nvSpPr>
        <p:spPr>
          <a:xfrm>
            <a:off x="8399160" y="2715840"/>
            <a:ext cx="3031920" cy="279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Définition des fonctionnalités indispensables pour obtenir une première version fonctionnelle : produits de saison, recettes, authentification, profil utilisateur et météo.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20"/>
          <p:cNvSpPr/>
          <p:nvPr/>
        </p:nvSpPr>
        <p:spPr>
          <a:xfrm>
            <a:off x="502920" y="5943600"/>
            <a:ext cx="11184120" cy="546840"/>
          </a:xfrm>
          <a:prstGeom prst="roundRect">
            <a:avLst>
              <a:gd name="adj" fmla="val 13333"/>
            </a:avLst>
          </a:prstGeom>
          <a:solidFill>
            <a:srgbClr val="fbeddd"/>
          </a:solidFill>
          <a:ln w="12600">
            <a:solidFill>
              <a:srgbClr val="f0d5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5" name="Text 21"/>
          <p:cNvSpPr/>
          <p:nvPr/>
        </p:nvSpPr>
        <p:spPr>
          <a:xfrm>
            <a:off x="777240" y="5943600"/>
            <a:ext cx="106354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6b4a1e"/>
                </a:solidFill>
                <a:latin typeface="Calibri"/>
                <a:ea typeface="Calibri"/>
              </a:rPr>
              <a:t>Le développement a été réalisé progressivement, fonctionnalité par fonctionnalité, en suivant les priorités du projet.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56"/>
          <p:cNvSpPr/>
          <p:nvPr/>
        </p:nvSpPr>
        <p:spPr>
          <a:xfrm>
            <a:off x="504000" y="38880"/>
            <a:ext cx="36558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7" name="Shape 2"/>
          <p:cNvSpPr/>
          <p:nvPr/>
        </p:nvSpPr>
        <p:spPr>
          <a:xfrm>
            <a:off x="0" y="0"/>
            <a:ext cx="12189960" cy="1049760"/>
          </a:xfrm>
          <a:prstGeom prst="rect">
            <a:avLst/>
          </a:prstGeom>
          <a:solidFill>
            <a:srgbClr val="1f5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8" name="Text 54"/>
          <p:cNvSpPr/>
          <p:nvPr/>
        </p:nvSpPr>
        <p:spPr>
          <a:xfrm>
            <a:off x="502920" y="380160"/>
            <a:ext cx="944676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ormorant Garamond"/>
                <a:ea typeface="Cormorant Garamond"/>
              </a:rPr>
              <a:t>Organisation Agile du projet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55"/>
          <p:cNvSpPr/>
          <p:nvPr/>
        </p:nvSpPr>
        <p:spPr>
          <a:xfrm>
            <a:off x="6370920" y="695880"/>
            <a:ext cx="57967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cfe6cf"/>
                </a:solidFill>
                <a:latin typeface="Calibri"/>
                <a:ea typeface="Calibri"/>
              </a:rPr>
              <a:t>Du besoin utilisateur au MVP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124"/>
          <p:cNvSpPr/>
          <p:nvPr/>
        </p:nvSpPr>
        <p:spPr>
          <a:xfrm>
            <a:off x="504000" y="38880"/>
            <a:ext cx="36558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287" strike="noStrike">
                <a:solidFill>
                  <a:srgbClr val="d9822b"/>
                </a:solidFill>
                <a:latin typeface="Calibri"/>
                <a:ea typeface="Calibri"/>
              </a:rPr>
              <a:t>PARTIE 1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ounded Rectangle 132"/>
          <p:cNvSpPr/>
          <p:nvPr/>
        </p:nvSpPr>
        <p:spPr>
          <a:xfrm>
            <a:off x="180000" y="2592000"/>
            <a:ext cx="5580000" cy="3456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480">
            <a:solidFill>
              <a:srgbClr val="d2dac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172" name="Shape 32"/>
          <p:cNvSpPr/>
          <p:nvPr/>
        </p:nvSpPr>
        <p:spPr>
          <a:xfrm>
            <a:off x="0" y="0"/>
            <a:ext cx="12189960" cy="1049760"/>
          </a:xfrm>
          <a:prstGeom prst="rect">
            <a:avLst/>
          </a:prstGeom>
          <a:solidFill>
            <a:srgbClr val="1f5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3" name="Text 59"/>
          <p:cNvSpPr/>
          <p:nvPr/>
        </p:nvSpPr>
        <p:spPr>
          <a:xfrm>
            <a:off x="504000" y="38880"/>
            <a:ext cx="36558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287" strike="noStrike">
                <a:solidFill>
                  <a:srgbClr val="d9822b"/>
                </a:solidFill>
                <a:latin typeface="Calibri"/>
                <a:ea typeface="Calibri"/>
              </a:rPr>
              <a:t>PARTIE 1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57"/>
          <p:cNvSpPr/>
          <p:nvPr/>
        </p:nvSpPr>
        <p:spPr>
          <a:xfrm>
            <a:off x="502920" y="395640"/>
            <a:ext cx="944676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ormorant Garamond"/>
                <a:ea typeface="Cormorant Garamond"/>
              </a:rPr>
              <a:t>Conception des données — Merise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5" name="" descr=""/>
          <p:cNvPicPr/>
          <p:nvPr/>
        </p:nvPicPr>
        <p:blipFill>
          <a:blip r:embed="rId1"/>
          <a:stretch/>
        </p:blipFill>
        <p:spPr>
          <a:xfrm>
            <a:off x="548280" y="3143160"/>
            <a:ext cx="4901400" cy="2192760"/>
          </a:xfrm>
          <a:prstGeom prst="rect">
            <a:avLst/>
          </a:prstGeom>
          <a:ln w="0">
            <a:noFill/>
          </a:ln>
        </p:spPr>
      </p:pic>
      <p:sp>
        <p:nvSpPr>
          <p:cNvPr id="176" name="Text 104"/>
          <p:cNvSpPr/>
          <p:nvPr/>
        </p:nvSpPr>
        <p:spPr>
          <a:xfrm>
            <a:off x="7522920" y="695880"/>
            <a:ext cx="381708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cfe6cf"/>
                </a:solidFill>
                <a:latin typeface="Calibri"/>
                <a:ea typeface="Calibri"/>
              </a:rPr>
              <a:t>Entités principales et relations métier (MCD, MLD)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Rounded Rectangle 60"/>
          <p:cNvSpPr/>
          <p:nvPr/>
        </p:nvSpPr>
        <p:spPr>
          <a:xfrm>
            <a:off x="5760360" y="2592000"/>
            <a:ext cx="6119640" cy="3419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480">
            <a:solidFill>
              <a:srgbClr val="d2dac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pic>
        <p:nvPicPr>
          <p:cNvPr id="178" name="" descr=""/>
          <p:cNvPicPr/>
          <p:nvPr/>
        </p:nvPicPr>
        <p:blipFill>
          <a:blip r:embed="rId2"/>
          <a:stretch/>
        </p:blipFill>
        <p:spPr>
          <a:xfrm>
            <a:off x="6584040" y="2660760"/>
            <a:ext cx="4517280" cy="3145680"/>
          </a:xfrm>
          <a:prstGeom prst="rect">
            <a:avLst/>
          </a:prstGeom>
          <a:ln w="0">
            <a:noFill/>
          </a:ln>
        </p:spPr>
      </p:pic>
      <p:sp>
        <p:nvSpPr>
          <p:cNvPr id="179" name="Rounded Rectangle 61"/>
          <p:cNvSpPr/>
          <p:nvPr/>
        </p:nvSpPr>
        <p:spPr>
          <a:xfrm>
            <a:off x="2005200" y="1868760"/>
            <a:ext cx="2062800" cy="291600"/>
          </a:xfrm>
          <a:prstGeom prst="roundRect">
            <a:avLst>
              <a:gd name="adj" fmla="val 16667"/>
            </a:avLst>
          </a:prstGeom>
          <a:solidFill>
            <a:srgbClr val="1c6031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0" name="TextBox 56"/>
          <p:cNvSpPr/>
          <p:nvPr/>
        </p:nvSpPr>
        <p:spPr>
          <a:xfrm>
            <a:off x="1872000" y="1811160"/>
            <a:ext cx="234000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MCD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Tables principales et relations métier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Rounded Rectangle 62"/>
          <p:cNvSpPr/>
          <p:nvPr/>
        </p:nvSpPr>
        <p:spPr>
          <a:xfrm>
            <a:off x="7585200" y="1869120"/>
            <a:ext cx="2206800" cy="291600"/>
          </a:xfrm>
          <a:prstGeom prst="roundRect">
            <a:avLst>
              <a:gd name="adj" fmla="val 16667"/>
            </a:avLst>
          </a:prstGeom>
          <a:solidFill>
            <a:srgbClr val="1c6031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2" name="TextBox 64"/>
          <p:cNvSpPr/>
          <p:nvPr/>
        </p:nvSpPr>
        <p:spPr>
          <a:xfrm>
            <a:off x="7524000" y="1847520"/>
            <a:ext cx="234000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MLD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Tables principales et tables de jonction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"/>
          <p:cNvSpPr/>
          <p:nvPr/>
        </p:nvSpPr>
        <p:spPr>
          <a:xfrm>
            <a:off x="0" y="0"/>
            <a:ext cx="12189960" cy="1049760"/>
          </a:xfrm>
          <a:prstGeom prst="rect">
            <a:avLst/>
          </a:prstGeom>
          <a:solidFill>
            <a:srgbClr val="1f5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84" name="Text 36"/>
          <p:cNvSpPr/>
          <p:nvPr/>
        </p:nvSpPr>
        <p:spPr>
          <a:xfrm>
            <a:off x="504000" y="38880"/>
            <a:ext cx="36558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287" strike="noStrike">
                <a:solidFill>
                  <a:srgbClr val="d9822b"/>
                </a:solidFill>
                <a:latin typeface="Calibri"/>
                <a:ea typeface="Calibri"/>
              </a:rPr>
              <a:t>PARTIE 1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39"/>
          <p:cNvSpPr/>
          <p:nvPr/>
        </p:nvSpPr>
        <p:spPr>
          <a:xfrm>
            <a:off x="502920" y="395640"/>
            <a:ext cx="944676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ormorant Garamond"/>
                <a:ea typeface="Cormorant Garamond"/>
              </a:rPr>
              <a:t>Conception des données — Merise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Rounded Rectangle 2"/>
          <p:cNvSpPr/>
          <p:nvPr/>
        </p:nvSpPr>
        <p:spPr>
          <a:xfrm>
            <a:off x="1044000" y="1800000"/>
            <a:ext cx="4319640" cy="4517640"/>
          </a:xfrm>
          <a:prstGeom prst="roundRect">
            <a:avLst>
              <a:gd name="adj" fmla="val 16667"/>
            </a:avLst>
          </a:prstGeom>
          <a:solidFill>
            <a:srgbClr val="1c1c1c"/>
          </a:solidFill>
          <a:ln w="6480">
            <a:solidFill>
              <a:srgbClr val="d2dac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35000"/>
              </a:lnSpc>
              <a:spcBef>
                <a:spcPts val="1001"/>
              </a:spcBef>
              <a:spcAft>
                <a:spcPts val="300"/>
              </a:spcAft>
            </a:pPr>
            <a:r>
              <a:rPr b="0" lang="fr-FR" sz="1100" spc="-1" strike="noStrike">
                <a:solidFill>
                  <a:srgbClr val="ffffff"/>
                </a:solidFill>
                <a:latin typeface="Roboto Mono"/>
                <a:ea typeface="Roboto Mono"/>
              </a:rPr>
              <a:t> </a:t>
            </a:r>
            <a:r>
              <a:rPr b="0" lang="fr-FR" sz="1100" spc="-1" strike="noStrike">
                <a:solidFill>
                  <a:srgbClr val="ffffff"/>
                </a:solidFill>
                <a:latin typeface="Roboto Mono"/>
                <a:ea typeface="Roboto Mono"/>
              </a:rPr>
              <a:t>RECETTE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35000"/>
              </a:lnSpc>
              <a:spcBef>
                <a:spcPts val="1001"/>
              </a:spcBef>
              <a:spcAft>
                <a:spcPts val="300"/>
              </a:spcAft>
            </a:pPr>
            <a:r>
              <a:rPr b="0" lang="fr-FR" sz="1100" spc="-1" strike="noStrike">
                <a:solidFill>
                  <a:srgbClr val="ffffff"/>
                </a:solidFill>
                <a:latin typeface="Roboto Mono"/>
                <a:ea typeface="Roboto Mono"/>
              </a:rPr>
              <a:t>    </a:t>
            </a:r>
            <a:r>
              <a:rPr b="0" lang="fr-FR" sz="1100" spc="-1" strike="noStrike">
                <a:solidFill>
                  <a:srgbClr val="ffffff"/>
                </a:solidFill>
                <a:latin typeface="Roboto Mono"/>
                <a:ea typeface="Roboto Mono"/>
              </a:rPr>
              <a:t>INT id PK AUTO_INCREMENT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35000"/>
              </a:lnSpc>
              <a:spcBef>
                <a:spcPts val="1001"/>
              </a:spcBef>
              <a:spcAft>
                <a:spcPts val="300"/>
              </a:spcAft>
            </a:pPr>
            <a:r>
              <a:rPr b="0" lang="fr-FR" sz="1100" spc="-1" strike="noStrike">
                <a:solidFill>
                  <a:srgbClr val="ffffff"/>
                </a:solidFill>
                <a:latin typeface="Roboto Mono"/>
                <a:ea typeface="Roboto Mono"/>
              </a:rPr>
              <a:t>    </a:t>
            </a:r>
            <a:r>
              <a:rPr b="0" lang="fr-FR" sz="1100" spc="-1" strike="noStrike">
                <a:solidFill>
                  <a:srgbClr val="ffffff"/>
                </a:solidFill>
                <a:latin typeface="Roboto Mono"/>
                <a:ea typeface="Roboto Mono"/>
              </a:rPr>
              <a:t>VARCHAR(150) titre NOT NULL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35000"/>
              </a:lnSpc>
              <a:spcBef>
                <a:spcPts val="1001"/>
              </a:spcBef>
              <a:spcAft>
                <a:spcPts val="300"/>
              </a:spcAft>
            </a:pPr>
            <a:r>
              <a:rPr b="0" lang="fr-FR" sz="1100" spc="-1" strike="noStrike">
                <a:solidFill>
                  <a:srgbClr val="ffffff"/>
                </a:solidFill>
                <a:latin typeface="Roboto Mono"/>
                <a:ea typeface="Roboto Mono"/>
              </a:rPr>
              <a:t>    </a:t>
            </a:r>
            <a:r>
              <a:rPr b="0" lang="fr-FR" sz="1100" spc="-1" strike="noStrike">
                <a:solidFill>
                  <a:srgbClr val="ffffff"/>
                </a:solidFill>
                <a:latin typeface="Roboto Mono"/>
                <a:ea typeface="Roboto Mono"/>
              </a:rPr>
              <a:t>VARCHAR(255) photo NULL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35000"/>
              </a:lnSpc>
              <a:spcBef>
                <a:spcPts val="1001"/>
              </a:spcBef>
              <a:spcAft>
                <a:spcPts val="300"/>
              </a:spcAft>
            </a:pPr>
            <a:r>
              <a:rPr b="0" lang="fr-FR" sz="1100" spc="-1" strike="noStrike">
                <a:solidFill>
                  <a:srgbClr val="ffffff"/>
                </a:solidFill>
                <a:latin typeface="Roboto Mono"/>
                <a:ea typeface="Roboto Mono"/>
              </a:rPr>
              <a:t>    </a:t>
            </a:r>
            <a:r>
              <a:rPr b="0" lang="fr-FR" sz="1100" spc="-1" strike="noStrike">
                <a:solidFill>
                  <a:srgbClr val="ffffff"/>
                </a:solidFill>
                <a:latin typeface="Roboto Mono"/>
                <a:ea typeface="Roboto Mono"/>
              </a:rPr>
              <a:t>INT user_id FK NOT NULL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35000"/>
              </a:lnSpc>
              <a:spcBef>
                <a:spcPts val="1001"/>
              </a:spcBef>
              <a:spcAft>
                <a:spcPts val="300"/>
              </a:spcAft>
            </a:pPr>
            <a:r>
              <a:rPr b="0" lang="fr-FR" sz="1100" spc="-1" strike="noStrike">
                <a:solidFill>
                  <a:srgbClr val="ffffff"/>
                </a:solidFill>
                <a:latin typeface="Roboto Mono"/>
                <a:ea typeface="Roboto Mono"/>
              </a:rPr>
              <a:t>    </a:t>
            </a:r>
            <a:r>
              <a:rPr b="0" lang="fr-FR" sz="1100" spc="-1" strike="noStrike">
                <a:solidFill>
                  <a:srgbClr val="ffffff"/>
                </a:solidFill>
                <a:latin typeface="Roboto Mono"/>
                <a:ea typeface="Roboto Mono"/>
              </a:rPr>
              <a:t>INT nbr_person NOT NULL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35000"/>
              </a:lnSpc>
              <a:spcBef>
                <a:spcPts val="1001"/>
              </a:spcBef>
              <a:spcAft>
                <a:spcPts val="300"/>
              </a:spcAft>
            </a:pPr>
            <a:r>
              <a:rPr b="0" lang="fr-FR" sz="1100" spc="-1" strike="noStrike">
                <a:solidFill>
                  <a:srgbClr val="ffffff"/>
                </a:solidFill>
                <a:latin typeface="Roboto Mono"/>
                <a:ea typeface="Roboto Mono"/>
              </a:rPr>
              <a:t>    </a:t>
            </a:r>
            <a:r>
              <a:rPr b="0" lang="fr-FR" sz="1100" spc="-1" strike="noStrike">
                <a:solidFill>
                  <a:srgbClr val="ffffff"/>
                </a:solidFill>
                <a:latin typeface="Roboto Mono"/>
                <a:ea typeface="Roboto Mono"/>
              </a:rPr>
              <a:t>TEXT ingredient NOT NULL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35000"/>
              </a:lnSpc>
              <a:spcBef>
                <a:spcPts val="1001"/>
              </a:spcBef>
              <a:spcAft>
                <a:spcPts val="300"/>
              </a:spcAft>
            </a:pPr>
            <a:r>
              <a:rPr b="0" lang="fr-FR" sz="1100" spc="-1" strike="noStrike">
                <a:solidFill>
                  <a:srgbClr val="ffffff"/>
                </a:solidFill>
                <a:latin typeface="Roboto Mono"/>
                <a:ea typeface="Roboto Mono"/>
              </a:rPr>
              <a:t>    </a:t>
            </a:r>
            <a:r>
              <a:rPr b="0" lang="fr-FR" sz="1100" spc="-1" strike="noStrike">
                <a:solidFill>
                  <a:srgbClr val="ffffff"/>
                </a:solidFill>
                <a:latin typeface="Roboto Mono"/>
                <a:ea typeface="Roboto Mono"/>
              </a:rPr>
              <a:t>TEXT preparation NOT NULL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35000"/>
              </a:lnSpc>
              <a:spcBef>
                <a:spcPts val="1001"/>
              </a:spcBef>
              <a:spcAft>
                <a:spcPts val="300"/>
              </a:spcAft>
            </a:pPr>
            <a:r>
              <a:rPr b="0" lang="fr-FR" sz="1100" spc="-1" strike="noStrike">
                <a:solidFill>
                  <a:srgbClr val="ffffff"/>
                </a:solidFill>
                <a:latin typeface="Roboto Mono"/>
                <a:ea typeface="Roboto Mono"/>
              </a:rPr>
              <a:t>    </a:t>
            </a:r>
            <a:r>
              <a:rPr b="0" lang="fr-FR" sz="1100" spc="-1" strike="noStrike">
                <a:solidFill>
                  <a:srgbClr val="ffffff"/>
                </a:solidFill>
                <a:latin typeface="Roboto Mono"/>
                <a:ea typeface="Roboto Mono"/>
              </a:rPr>
              <a:t>BOOLEAN is_public NOT NULL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35000"/>
              </a:lnSpc>
              <a:spcBef>
                <a:spcPts val="1001"/>
              </a:spcBef>
              <a:spcAft>
                <a:spcPts val="300"/>
              </a:spcAft>
            </a:pPr>
            <a:r>
              <a:rPr b="0" lang="fr-FR" sz="1100" spc="-1" strike="noStrike">
                <a:solidFill>
                  <a:srgbClr val="ffffff"/>
                </a:solidFill>
                <a:latin typeface="Roboto Mono"/>
                <a:ea typeface="Roboto Mono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106"/>
          <p:cNvSpPr/>
          <p:nvPr/>
        </p:nvSpPr>
        <p:spPr>
          <a:xfrm>
            <a:off x="7592040" y="695880"/>
            <a:ext cx="230760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cfe6cf"/>
                </a:solidFill>
                <a:latin typeface="Calibri"/>
                <a:ea typeface="Calibri"/>
              </a:rPr>
              <a:t>Extrait du MPD / table RECETTE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Box 18"/>
          <p:cNvSpPr/>
          <p:nvPr/>
        </p:nvSpPr>
        <p:spPr>
          <a:xfrm>
            <a:off x="2444400" y="6048000"/>
            <a:ext cx="175212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fr-FR" sz="700" spc="-1" strike="noStrike">
                <a:solidFill>
                  <a:srgbClr val="ffffff"/>
                </a:solidFill>
                <a:latin typeface="Arial"/>
                <a:ea typeface="DejaVu Sans"/>
              </a:rPr>
              <a:t>Fig 1.3 – extrait du MPD / table Recette</a:t>
            </a:r>
            <a:r>
              <a:rPr b="0" lang="fr-FR" sz="700" spc="-1" strike="noStrike">
                <a:solidFill>
                  <a:srgbClr val="1d211d"/>
                </a:solidFill>
                <a:latin typeface="Arial"/>
                <a:ea typeface="DejaVu Sans"/>
              </a:rPr>
              <a:t> 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Rounded Rectangle 3"/>
          <p:cNvSpPr/>
          <p:nvPr/>
        </p:nvSpPr>
        <p:spPr>
          <a:xfrm>
            <a:off x="5760000" y="1944000"/>
            <a:ext cx="3967200" cy="1259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480">
            <a:solidFill>
              <a:srgbClr val="d7ded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INT id PK AUTO_INCREMENT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→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Identifiant unique généré automatiquement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Rounded Rectangle 21"/>
          <p:cNvSpPr/>
          <p:nvPr/>
        </p:nvSpPr>
        <p:spPr>
          <a:xfrm>
            <a:off x="5760000" y="3456000"/>
            <a:ext cx="3967200" cy="1259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480">
            <a:solidFill>
              <a:srgbClr val="d7ded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user_id FK NOT NULL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→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Relie obligatoirement la recette à son auteur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Rounded Rectangle 22"/>
          <p:cNvSpPr/>
          <p:nvPr/>
        </p:nvSpPr>
        <p:spPr>
          <a:xfrm>
            <a:off x="5760000" y="5004360"/>
            <a:ext cx="3967200" cy="1259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480">
            <a:solidFill>
              <a:srgbClr val="d7ded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VARCHAR / INT / TEXT / BOOLEAN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→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Chaque donnée possède un type adapté à son utilisation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Rounded Rectangle 16"/>
          <p:cNvSpPr/>
          <p:nvPr/>
        </p:nvSpPr>
        <p:spPr>
          <a:xfrm>
            <a:off x="8092440" y="1440000"/>
            <a:ext cx="3967200" cy="2879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480">
            <a:solidFill>
              <a:srgbClr val="d7ded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193" name="Shape 25"/>
          <p:cNvSpPr/>
          <p:nvPr/>
        </p:nvSpPr>
        <p:spPr>
          <a:xfrm>
            <a:off x="0" y="0"/>
            <a:ext cx="12189960" cy="1049760"/>
          </a:xfrm>
          <a:prstGeom prst="rect">
            <a:avLst/>
          </a:prstGeom>
          <a:solidFill>
            <a:srgbClr val="1f5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94" name="Text 44"/>
          <p:cNvSpPr/>
          <p:nvPr/>
        </p:nvSpPr>
        <p:spPr>
          <a:xfrm>
            <a:off x="504000" y="38880"/>
            <a:ext cx="36558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287" strike="noStrike">
                <a:solidFill>
                  <a:srgbClr val="d9822b"/>
                </a:solidFill>
                <a:latin typeface="Calibri"/>
                <a:ea typeface="Calibri"/>
              </a:rPr>
              <a:t>PARTIE 1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58"/>
          <p:cNvSpPr/>
          <p:nvPr/>
        </p:nvSpPr>
        <p:spPr>
          <a:xfrm>
            <a:off x="502920" y="395640"/>
            <a:ext cx="944676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ormorant Garamond"/>
                <a:ea typeface="Cormorant Garamond"/>
              </a:rPr>
              <a:t>Maquettage </a:t>
            </a:r>
            <a:r>
              <a:rPr b="1" lang="en-US" sz="2200" spc="-1" strike="noStrike">
                <a:solidFill>
                  <a:srgbClr val="ffffff"/>
                </a:solidFill>
                <a:latin typeface="Cormorant Garamond"/>
                <a:ea typeface="Cormorant Garamond"/>
              </a:rPr>
              <a:t> 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Rounded Rectangle 5"/>
          <p:cNvSpPr/>
          <p:nvPr/>
        </p:nvSpPr>
        <p:spPr>
          <a:xfrm>
            <a:off x="411480" y="1372680"/>
            <a:ext cx="3656880" cy="516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480">
            <a:solidFill>
              <a:srgbClr val="d2dac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197" name="TextBox 19"/>
          <p:cNvSpPr/>
          <p:nvPr/>
        </p:nvSpPr>
        <p:spPr>
          <a:xfrm>
            <a:off x="1706400" y="6300720"/>
            <a:ext cx="106920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fr-FR" sz="700" spc="-1" strike="noStrike">
                <a:solidFill>
                  <a:srgbClr val="1d211d"/>
                </a:solidFill>
                <a:latin typeface="Arial"/>
                <a:ea typeface="DejaVu Sans"/>
              </a:rPr>
              <a:t>Wireframe page Home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Rounded Rectangle 10"/>
          <p:cNvSpPr/>
          <p:nvPr/>
        </p:nvSpPr>
        <p:spPr>
          <a:xfrm>
            <a:off x="4251960" y="1372680"/>
            <a:ext cx="3656880" cy="516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480">
            <a:solidFill>
              <a:srgbClr val="d2dac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199" name="TextBox 24"/>
          <p:cNvSpPr/>
          <p:nvPr/>
        </p:nvSpPr>
        <p:spPr>
          <a:xfrm>
            <a:off x="5532480" y="6156720"/>
            <a:ext cx="109692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fr-FR" sz="700" spc="-1" strike="noStrike">
                <a:solidFill>
                  <a:srgbClr val="1d211d"/>
                </a:solidFill>
                <a:latin typeface="Arial"/>
                <a:ea typeface="DejaVu Sans"/>
              </a:rPr>
              <a:t>Home au format mobile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Rounded Rectangle 14"/>
          <p:cNvSpPr/>
          <p:nvPr/>
        </p:nvSpPr>
        <p:spPr>
          <a:xfrm>
            <a:off x="8092440" y="4468680"/>
            <a:ext cx="3967200" cy="204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480">
            <a:solidFill>
              <a:srgbClr val="d7ded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201" name="TextBox 25"/>
          <p:cNvSpPr/>
          <p:nvPr/>
        </p:nvSpPr>
        <p:spPr>
          <a:xfrm>
            <a:off x="8925840" y="4569840"/>
            <a:ext cx="1991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1d6332"/>
                </a:solidFill>
                <a:latin typeface="Arial"/>
                <a:ea typeface="DejaVu Sans"/>
              </a:rPr>
              <a:t>Démarche de conception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Box 30"/>
          <p:cNvSpPr/>
          <p:nvPr/>
        </p:nvSpPr>
        <p:spPr>
          <a:xfrm>
            <a:off x="8336880" y="5040000"/>
            <a:ext cx="3543120" cy="10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Wireframes réalisés avant le développement.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Déclinaison des interfaces en desktop et mobile.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Conservation d’une identité visuelle commune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Réutilisation des composants graphiques.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3" name="" descr=""/>
          <p:cNvPicPr/>
          <p:nvPr/>
        </p:nvPicPr>
        <p:blipFill>
          <a:blip r:embed="rId1"/>
          <a:stretch/>
        </p:blipFill>
        <p:spPr>
          <a:xfrm>
            <a:off x="1130400" y="1504080"/>
            <a:ext cx="2184120" cy="4750200"/>
          </a:xfrm>
          <a:prstGeom prst="rect">
            <a:avLst/>
          </a:prstGeom>
          <a:ln w="0">
            <a:noFill/>
          </a:ln>
        </p:spPr>
      </p:pic>
      <p:pic>
        <p:nvPicPr>
          <p:cNvPr id="204" name="" descr=""/>
          <p:cNvPicPr/>
          <p:nvPr/>
        </p:nvPicPr>
        <p:blipFill>
          <a:blip r:embed="rId2"/>
          <a:stretch/>
        </p:blipFill>
        <p:spPr>
          <a:xfrm>
            <a:off x="8244000" y="1728000"/>
            <a:ext cx="3686400" cy="1961280"/>
          </a:xfrm>
          <a:prstGeom prst="rect">
            <a:avLst/>
          </a:prstGeom>
          <a:ln w="0">
            <a:noFill/>
          </a:ln>
        </p:spPr>
      </p:pic>
      <p:sp>
        <p:nvSpPr>
          <p:cNvPr id="205" name="TextBox 1"/>
          <p:cNvSpPr/>
          <p:nvPr/>
        </p:nvSpPr>
        <p:spPr>
          <a:xfrm>
            <a:off x="9480240" y="3943800"/>
            <a:ext cx="116100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fr-FR" sz="700" spc="-1" strike="noStrike">
                <a:solidFill>
                  <a:srgbClr val="1d211d"/>
                </a:solidFill>
                <a:latin typeface="Arial"/>
                <a:ea typeface="DejaVu Sans"/>
              </a:rPr>
              <a:t>Home au format Desktop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6" name="" descr=""/>
          <p:cNvPicPr/>
          <p:nvPr/>
        </p:nvPicPr>
        <p:blipFill>
          <a:blip r:embed="rId3"/>
          <a:stretch/>
        </p:blipFill>
        <p:spPr>
          <a:xfrm>
            <a:off x="4968000" y="1440000"/>
            <a:ext cx="2159640" cy="4611600"/>
          </a:xfrm>
          <a:prstGeom prst="rect">
            <a:avLst/>
          </a:prstGeom>
          <a:ln w="0">
            <a:noFill/>
          </a:ln>
        </p:spPr>
      </p:pic>
      <p:sp>
        <p:nvSpPr>
          <p:cNvPr id="207" name="Text 48"/>
          <p:cNvSpPr/>
          <p:nvPr/>
        </p:nvSpPr>
        <p:spPr>
          <a:xfrm>
            <a:off x="3094920" y="695880"/>
            <a:ext cx="39607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cfe6cf"/>
                </a:solidFill>
                <a:latin typeface="Calibri"/>
                <a:ea typeface="Calibri"/>
              </a:rPr>
              <a:t>Du wireframe aux interfaces responsive 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 97"/>
          <p:cNvSpPr/>
          <p:nvPr/>
        </p:nvSpPr>
        <p:spPr>
          <a:xfrm>
            <a:off x="457200" y="647388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2e7f32"/>
                </a:solidFill>
                <a:latin typeface="Calibri"/>
                <a:ea typeface="Calibri"/>
              </a:rPr>
              <a:t>AU FIL DES SAISONS  •  DWWM 2026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101"/>
          <p:cNvSpPr/>
          <p:nvPr/>
        </p:nvSpPr>
        <p:spPr>
          <a:xfrm>
            <a:off x="11277360" y="647388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53"/>
          <p:cNvSpPr/>
          <p:nvPr/>
        </p:nvSpPr>
        <p:spPr>
          <a:xfrm>
            <a:off x="1440000" y="1203480"/>
            <a:ext cx="9179640" cy="44841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1" name="Shape 54"/>
          <p:cNvSpPr/>
          <p:nvPr/>
        </p:nvSpPr>
        <p:spPr>
          <a:xfrm>
            <a:off x="0" y="0"/>
            <a:ext cx="12189960" cy="1049760"/>
          </a:xfrm>
          <a:prstGeom prst="rect">
            <a:avLst/>
          </a:prstGeom>
          <a:solidFill>
            <a:srgbClr val="1f5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12" name="Text 114"/>
          <p:cNvSpPr/>
          <p:nvPr/>
        </p:nvSpPr>
        <p:spPr>
          <a:xfrm>
            <a:off x="504000" y="38880"/>
            <a:ext cx="36558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287" strike="noStrike">
                <a:solidFill>
                  <a:srgbClr val="d9822b"/>
                </a:solidFill>
                <a:latin typeface="Calibri"/>
                <a:ea typeface="Calibri"/>
              </a:rPr>
              <a:t>PARTIE 1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115"/>
          <p:cNvSpPr/>
          <p:nvPr/>
        </p:nvSpPr>
        <p:spPr>
          <a:xfrm>
            <a:off x="502920" y="395640"/>
            <a:ext cx="944676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ormorant Garamond"/>
                <a:ea typeface="Cormorant Garamond"/>
              </a:rPr>
              <a:t>Gestion du backlog avec GitHub Projects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116"/>
          <p:cNvSpPr/>
          <p:nvPr/>
        </p:nvSpPr>
        <p:spPr>
          <a:xfrm>
            <a:off x="8998920" y="695880"/>
            <a:ext cx="39607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cfe6cf"/>
                </a:solidFill>
                <a:latin typeface="Calibri"/>
                <a:ea typeface="Calibri"/>
              </a:rPr>
              <a:t>Tableau Kanban, 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5" name="" descr=""/>
          <p:cNvPicPr/>
          <p:nvPr/>
        </p:nvPicPr>
        <p:blipFill>
          <a:blip r:embed="rId1"/>
          <a:stretch/>
        </p:blipFill>
        <p:spPr>
          <a:xfrm>
            <a:off x="1836000" y="1325520"/>
            <a:ext cx="7919640" cy="4199760"/>
          </a:xfrm>
          <a:prstGeom prst="rect">
            <a:avLst/>
          </a:prstGeom>
          <a:ln w="0">
            <a:noFill/>
          </a:ln>
        </p:spPr>
      </p:pic>
      <p:sp>
        <p:nvSpPr>
          <p:cNvPr id="216" name="Shape 24"/>
          <p:cNvSpPr/>
          <p:nvPr/>
        </p:nvSpPr>
        <p:spPr>
          <a:xfrm>
            <a:off x="502920" y="5943600"/>
            <a:ext cx="11184120" cy="546840"/>
          </a:xfrm>
          <a:prstGeom prst="roundRect">
            <a:avLst>
              <a:gd name="adj" fmla="val 13333"/>
            </a:avLst>
          </a:prstGeom>
          <a:solidFill>
            <a:srgbClr val="fbeddd"/>
          </a:solidFill>
          <a:ln w="12600">
            <a:solidFill>
              <a:srgbClr val="f0d5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i="1" lang="en-US" sz="1250" spc="-1" strike="noStrike">
                <a:solidFill>
                  <a:srgbClr val="6b4a1e"/>
                </a:solidFill>
                <a:latin typeface="Calibri"/>
                <a:ea typeface="Calibri"/>
              </a:rPr>
              <a:t>Backlog → To Do → In Progress → Done : un suivi visuel de l’avancement de chaque fonctionnalité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34"/>
          <p:cNvSpPr/>
          <p:nvPr/>
        </p:nvSpPr>
        <p:spPr>
          <a:xfrm>
            <a:off x="0" y="0"/>
            <a:ext cx="12189960" cy="1049760"/>
          </a:xfrm>
          <a:prstGeom prst="rect">
            <a:avLst/>
          </a:prstGeom>
          <a:solidFill>
            <a:srgbClr val="1f5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18" name="Text 60"/>
          <p:cNvSpPr/>
          <p:nvPr/>
        </p:nvSpPr>
        <p:spPr>
          <a:xfrm>
            <a:off x="504000" y="38880"/>
            <a:ext cx="36558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287" strike="noStrike">
                <a:solidFill>
                  <a:srgbClr val="d9822b"/>
                </a:solidFill>
                <a:latin typeface="Calibri"/>
                <a:ea typeface="Calibri"/>
              </a:rPr>
              <a:t>PARTIE 1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61"/>
          <p:cNvSpPr/>
          <p:nvPr/>
        </p:nvSpPr>
        <p:spPr>
          <a:xfrm>
            <a:off x="502920" y="395640"/>
            <a:ext cx="944676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ormorant Garamond"/>
                <a:ea typeface="Cormorant Garamond"/>
              </a:rPr>
              <a:t>Architecture de navigation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Rounded Rectangle 155"/>
          <p:cNvSpPr/>
          <p:nvPr/>
        </p:nvSpPr>
        <p:spPr>
          <a:xfrm>
            <a:off x="411480" y="1228680"/>
            <a:ext cx="4268160" cy="5430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480">
            <a:solidFill>
              <a:srgbClr val="d2dac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fr-FR" sz="1100" spc="-1" strike="noStrike">
                <a:solidFill>
                  <a:srgbClr val="333333"/>
                </a:solidFill>
                <a:latin typeface="Arial"/>
                <a:ea typeface="DejaVu Sans"/>
              </a:rPr>
              <a:t>VISITEUR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fr-FR" sz="1100" spc="-1" strike="noStrike">
                <a:solidFill>
                  <a:srgbClr val="333333"/>
                </a:solidFill>
                <a:latin typeface="Arial"/>
                <a:ea typeface="DejaVu Sans"/>
              </a:rPr>
              <a:t>│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fr-FR" sz="1100" spc="-1" strike="noStrike">
                <a:solidFill>
                  <a:srgbClr val="333333"/>
                </a:solidFill>
                <a:latin typeface="Arial"/>
                <a:ea typeface="DejaVu Sans"/>
              </a:rPr>
              <a:t>▼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fr-FR" sz="1100" spc="-1" strike="noStrike">
                <a:solidFill>
                  <a:srgbClr val="333333"/>
                </a:solidFill>
                <a:latin typeface="Arial"/>
                <a:ea typeface="DejaVu Sans"/>
              </a:rPr>
              <a:t>Accueil → Saison → Produits → Fiche produit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fr-FR" sz="1100" spc="-1" strike="noStrike">
                <a:solidFill>
                  <a:srgbClr val="333333"/>
                </a:solidFill>
                <a:latin typeface="Arial"/>
                <a:ea typeface="DejaVu Sans"/>
              </a:rPr>
              <a:t>│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fr-FR" sz="1100" spc="-1" strike="noStrike">
                <a:solidFill>
                  <a:srgbClr val="333333"/>
                </a:solidFill>
                <a:latin typeface="Arial"/>
                <a:ea typeface="DejaVu Sans"/>
              </a:rPr>
              <a:t>▼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fr-FR" sz="1100" spc="-1" strike="noStrike">
                <a:solidFill>
                  <a:srgbClr val="333333"/>
                </a:solidFill>
                <a:latin typeface="Arial"/>
                <a:ea typeface="DejaVu Sans"/>
              </a:rPr>
              <a:t>Connexion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fr-FR" sz="1100" spc="-1" strike="noStrike">
                <a:solidFill>
                  <a:srgbClr val="333333"/>
                </a:solidFill>
                <a:latin typeface="Arial"/>
                <a:ea typeface="DejaVu Sans"/>
              </a:rPr>
              <a:t>│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fr-FR" sz="1100" spc="-1" strike="noStrike">
                <a:solidFill>
                  <a:srgbClr val="333333"/>
                </a:solidFill>
                <a:latin typeface="Arial"/>
                <a:ea typeface="DejaVu Sans"/>
              </a:rPr>
              <a:t>▼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fr-FR" sz="1100" spc="-1" strike="noStrike">
                <a:solidFill>
                  <a:srgbClr val="333333"/>
                </a:solidFill>
                <a:latin typeface="Arial"/>
                <a:ea typeface="DejaVu Sans"/>
              </a:rPr>
              <a:t>UTILISATEUR CONNECTÉ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fr-FR" sz="1100" spc="-1" strike="noStrike">
                <a:solidFill>
                  <a:srgbClr val="333333"/>
                </a:solidFill>
                <a:latin typeface="Arial"/>
                <a:ea typeface="DejaVu Sans"/>
              </a:rPr>
              <a:t>│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fr-FR" sz="1100" spc="-1" strike="noStrike">
                <a:solidFill>
                  <a:srgbClr val="333333"/>
                </a:solidFill>
                <a:latin typeface="Arial"/>
                <a:ea typeface="DejaVu Sans"/>
              </a:rPr>
              <a:t>┌──────┼──────┐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fr-FR" sz="1100" spc="-1" strike="noStrike">
                <a:solidFill>
                  <a:srgbClr val="333333"/>
                </a:solidFill>
                <a:latin typeface="Arial"/>
                <a:ea typeface="DejaVu Sans"/>
              </a:rPr>
              <a:t>▼              ▼              ▼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fr-FR" sz="1100" spc="-1" strike="noStrike">
                <a:solidFill>
                  <a:srgbClr val="333333"/>
                </a:solidFill>
                <a:latin typeface="Arial"/>
                <a:ea typeface="DejaVu Sans"/>
              </a:rPr>
              <a:t>Recettes Profil Création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fr-FR" sz="1100" spc="-1" strike="noStrike">
                <a:solidFill>
                  <a:srgbClr val="333333"/>
                </a:solidFill>
                <a:latin typeface="Arial"/>
                <a:ea typeface="DejaVu Sans"/>
              </a:rPr>
              <a:t>│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fr-FR" sz="1100" spc="-1" strike="noStrike">
                <a:solidFill>
                  <a:srgbClr val="333333"/>
                </a:solidFill>
                <a:latin typeface="Arial"/>
                <a:ea typeface="DejaVu Sans"/>
              </a:rPr>
              <a:t>▼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fr-FR" sz="1100" spc="-1" strike="noStrike">
                <a:solidFill>
                  <a:srgbClr val="333333"/>
                </a:solidFill>
                <a:latin typeface="Arial"/>
                <a:ea typeface="DejaVu Sans"/>
              </a:rPr>
              <a:t>ADMINISTRATEUR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fr-FR" sz="1100" spc="-1" strike="noStrike">
                <a:solidFill>
                  <a:srgbClr val="333333"/>
                </a:solidFill>
                <a:latin typeface="Arial"/>
                <a:ea typeface="DejaVu Sans"/>
              </a:rPr>
              <a:t>│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fr-FR" sz="1100" spc="-1" strike="noStrike">
                <a:solidFill>
                  <a:srgbClr val="333333"/>
                </a:solidFill>
                <a:latin typeface="Arial"/>
                <a:ea typeface="DejaVu Sans"/>
              </a:rPr>
              <a:t>Tableau de bord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fr-FR" sz="1100" spc="-1" strike="noStrike">
                <a:solidFill>
                  <a:srgbClr val="333333"/>
                </a:solidFill>
                <a:latin typeface="Arial"/>
                <a:ea typeface="DejaVu Sans"/>
              </a:rPr>
              <a:t>┌──────┼──────┐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fr-FR" sz="1100" spc="-1" strike="noStrike">
                <a:solidFill>
                  <a:srgbClr val="333333"/>
                </a:solidFill>
                <a:latin typeface="Arial"/>
                <a:ea typeface="DejaVu Sans"/>
              </a:rPr>
              <a:t>▼              ▼              ▼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fr-FR" sz="1100" spc="-1" strike="noStrike">
                <a:solidFill>
                  <a:srgbClr val="333333"/>
                </a:solidFill>
                <a:latin typeface="Arial"/>
                <a:ea typeface="DejaVu Sans"/>
              </a:rPr>
              <a:t>Produits Recettes Utilisateurs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Rounded Rectangle 158"/>
          <p:cNvSpPr/>
          <p:nvPr/>
        </p:nvSpPr>
        <p:spPr>
          <a:xfrm>
            <a:off x="5112000" y="2880000"/>
            <a:ext cx="6479640" cy="3599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480">
            <a:solidFill>
              <a:srgbClr val="d2dac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333333"/>
                </a:solidFill>
                <a:latin typeface="Arial"/>
                <a:ea typeface="DejaVu Sans"/>
              </a:rPr>
              <a:t>Visiteur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333333"/>
                </a:solidFill>
                <a:latin typeface="Arial"/>
                <a:ea typeface="DejaVu Sans"/>
              </a:rPr>
              <a:t>Accueil → Saison → Produits →Fiche produit → Connexion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333333"/>
                </a:solidFill>
                <a:latin typeface="Arial"/>
                <a:ea typeface="DejaVu Sans"/>
              </a:rPr>
              <a:t>Utilisateur connecté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333333"/>
                </a:solidFill>
                <a:latin typeface="Arial"/>
                <a:ea typeface="DejaVu Sans"/>
              </a:rPr>
              <a:t>Accueil → Saison → Produits → Recette → Profil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333333"/>
                </a:solidFill>
                <a:latin typeface="Arial"/>
                <a:ea typeface="DejaVu Sans"/>
              </a:rPr>
              <a:t>Administrateur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333333"/>
                </a:solidFill>
                <a:latin typeface="Arial"/>
                <a:ea typeface="DejaVu Sans"/>
              </a:rPr>
              <a:t>Connexion → Administration → Produits / Recettes / Utilisateurs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Rounded Rectangle 161"/>
          <p:cNvSpPr/>
          <p:nvPr/>
        </p:nvSpPr>
        <p:spPr>
          <a:xfrm>
            <a:off x="5032440" y="1444680"/>
            <a:ext cx="6523200" cy="114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480">
            <a:solidFill>
              <a:srgbClr val="d7ded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223" name="TextBox 162"/>
          <p:cNvSpPr/>
          <p:nvPr/>
        </p:nvSpPr>
        <p:spPr>
          <a:xfrm>
            <a:off x="7674840" y="1581840"/>
            <a:ext cx="1035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1d6332"/>
                </a:solidFill>
                <a:latin typeface="Arial"/>
                <a:ea typeface="DejaVu Sans"/>
              </a:rPr>
              <a:t>Parcours UI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Box 163"/>
          <p:cNvSpPr/>
          <p:nvPr/>
        </p:nvSpPr>
        <p:spPr>
          <a:xfrm>
            <a:off x="5903280" y="1807560"/>
            <a:ext cx="482616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  <a:ea typeface="DejaVu Sans"/>
              </a:rPr>
              <a:t>Navigation : accueil → saison → produit → recette → profil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49"/>
          <p:cNvSpPr/>
          <p:nvPr/>
        </p:nvSpPr>
        <p:spPr>
          <a:xfrm>
            <a:off x="6044040" y="695880"/>
            <a:ext cx="403560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cfe6cf"/>
                </a:solidFill>
                <a:latin typeface="Calibri"/>
                <a:ea typeface="Calibri"/>
              </a:rPr>
              <a:t>Parcours visiteur, utilisateur et administrateur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 3"/>
          <p:cNvSpPr/>
          <p:nvPr/>
        </p:nvSpPr>
        <p:spPr>
          <a:xfrm>
            <a:off x="457200" y="647388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2e7f32"/>
                </a:solidFill>
                <a:latin typeface="Calibri"/>
                <a:ea typeface="Calibri"/>
              </a:rPr>
              <a:t>AU FIL DES SAISONS  •  DWWM 2026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4"/>
          <p:cNvSpPr/>
          <p:nvPr/>
        </p:nvSpPr>
        <p:spPr>
          <a:xfrm>
            <a:off x="11277360" y="647388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5"/>
          <p:cNvSpPr/>
          <p:nvPr/>
        </p:nvSpPr>
        <p:spPr>
          <a:xfrm>
            <a:off x="502920" y="1417320"/>
            <a:ext cx="3543840" cy="19641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9" name="Text 6"/>
          <p:cNvSpPr/>
          <p:nvPr/>
        </p:nvSpPr>
        <p:spPr>
          <a:xfrm>
            <a:off x="758880" y="1673280"/>
            <a:ext cx="30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Front-end web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7"/>
          <p:cNvSpPr/>
          <p:nvPr/>
        </p:nvSpPr>
        <p:spPr>
          <a:xfrm>
            <a:off x="758880" y="2148840"/>
            <a:ext cx="3031920" cy="10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Twig pour les vues et CSS pour la mise en forme et JavaScript pour les intéractions côté client.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8"/>
          <p:cNvSpPr/>
          <p:nvPr/>
        </p:nvSpPr>
        <p:spPr>
          <a:xfrm>
            <a:off x="4322880" y="1417320"/>
            <a:ext cx="3543840" cy="19641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2" name="Text 9"/>
          <p:cNvSpPr/>
          <p:nvPr/>
        </p:nvSpPr>
        <p:spPr>
          <a:xfrm>
            <a:off x="4578840" y="1673280"/>
            <a:ext cx="30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Back-end Symfony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10"/>
          <p:cNvSpPr/>
          <p:nvPr/>
        </p:nvSpPr>
        <p:spPr>
          <a:xfrm>
            <a:off x="4578840" y="2148840"/>
            <a:ext cx="3031920" cy="10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PHP 8, Symfony 7.4, Doctrine ORM pour l’accès aux données et Symfony Security pour l’authentification et les autorisations.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11"/>
          <p:cNvSpPr/>
          <p:nvPr/>
        </p:nvSpPr>
        <p:spPr>
          <a:xfrm>
            <a:off x="8143200" y="1417320"/>
            <a:ext cx="3543840" cy="19641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5" name="Text 12"/>
          <p:cNvSpPr/>
          <p:nvPr/>
        </p:nvSpPr>
        <p:spPr>
          <a:xfrm>
            <a:off x="8399160" y="1673280"/>
            <a:ext cx="30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Outils et environnements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13"/>
          <p:cNvSpPr/>
          <p:nvPr/>
        </p:nvSpPr>
        <p:spPr>
          <a:xfrm>
            <a:off x="8399160" y="2148840"/>
            <a:ext cx="3031920" cy="10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Docker pour conteneuriser l’application et Git/GitHub pour le versionnement du code.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14"/>
          <p:cNvSpPr/>
          <p:nvPr/>
        </p:nvSpPr>
        <p:spPr>
          <a:xfrm>
            <a:off x="502920" y="3657600"/>
            <a:ext cx="5454000" cy="19641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8" name="Text 15"/>
          <p:cNvSpPr/>
          <p:nvPr/>
        </p:nvSpPr>
        <p:spPr>
          <a:xfrm>
            <a:off x="758880" y="3913560"/>
            <a:ext cx="4942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Base de données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16"/>
          <p:cNvSpPr/>
          <p:nvPr/>
        </p:nvSpPr>
        <p:spPr>
          <a:xfrm>
            <a:off x="758880" y="4389120"/>
            <a:ext cx="4942080" cy="10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MySQL pour le stockage relationnel des données, avec Doctrine ORM pour les échanges entre les entités Symfony et la base.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17"/>
          <p:cNvSpPr/>
          <p:nvPr/>
        </p:nvSpPr>
        <p:spPr>
          <a:xfrm>
            <a:off x="6233040" y="3657600"/>
            <a:ext cx="5454000" cy="19641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1" name="Text 18"/>
          <p:cNvSpPr/>
          <p:nvPr/>
        </p:nvSpPr>
        <p:spPr>
          <a:xfrm>
            <a:off x="6489000" y="3913560"/>
            <a:ext cx="4942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OpenWeather API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19"/>
          <p:cNvSpPr/>
          <p:nvPr/>
        </p:nvSpPr>
        <p:spPr>
          <a:xfrm>
            <a:off x="6489000" y="4389120"/>
            <a:ext cx="4942080" cy="10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Récupération de la météo d’une ville afin d’adapter les suggestions de recettes aux conditions météorologiques.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30"/>
          <p:cNvSpPr/>
          <p:nvPr/>
        </p:nvSpPr>
        <p:spPr>
          <a:xfrm>
            <a:off x="0" y="0"/>
            <a:ext cx="12189960" cy="1049760"/>
          </a:xfrm>
          <a:prstGeom prst="rect">
            <a:avLst/>
          </a:prstGeom>
          <a:solidFill>
            <a:srgbClr val="1f5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44" name="Text 63"/>
          <p:cNvSpPr/>
          <p:nvPr/>
        </p:nvSpPr>
        <p:spPr>
          <a:xfrm>
            <a:off x="504000" y="38880"/>
            <a:ext cx="36558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287" strike="noStrike">
                <a:solidFill>
                  <a:srgbClr val="d9822b"/>
                </a:solidFill>
                <a:latin typeface="Calibri"/>
                <a:ea typeface="Calibri"/>
              </a:rPr>
              <a:t>PARTIE 1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64"/>
          <p:cNvSpPr/>
          <p:nvPr/>
        </p:nvSpPr>
        <p:spPr>
          <a:xfrm>
            <a:off x="502920" y="395640"/>
            <a:ext cx="944676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ormorant Garamond"/>
                <a:ea typeface="Cormorant Garamond"/>
              </a:rPr>
              <a:t>Stack retenue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65"/>
          <p:cNvSpPr/>
          <p:nvPr/>
        </p:nvSpPr>
        <p:spPr>
          <a:xfrm>
            <a:off x="3418920" y="695880"/>
            <a:ext cx="79207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cfe6cf"/>
                </a:solidFill>
                <a:latin typeface="Calibri"/>
                <a:ea typeface="Calibri"/>
              </a:rPr>
              <a:t>Symfony, Twig, MySQL et API météo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Rounded Rectangle 4"/>
          <p:cNvSpPr/>
          <p:nvPr/>
        </p:nvSpPr>
        <p:spPr>
          <a:xfrm>
            <a:off x="540000" y="1260000"/>
            <a:ext cx="4679640" cy="5399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480">
            <a:solidFill>
              <a:srgbClr val="d2dac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248" name="Rounded Rectangle 7"/>
          <p:cNvSpPr/>
          <p:nvPr/>
        </p:nvSpPr>
        <p:spPr>
          <a:xfrm>
            <a:off x="5621040" y="3064680"/>
            <a:ext cx="3702600" cy="2010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480">
            <a:solidFill>
              <a:srgbClr val="d7ded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249" name="TextBox 8"/>
          <p:cNvSpPr/>
          <p:nvPr/>
        </p:nvSpPr>
        <p:spPr>
          <a:xfrm>
            <a:off x="6687720" y="3201840"/>
            <a:ext cx="1569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1d6332"/>
                </a:solidFill>
                <a:latin typeface="Arial"/>
                <a:ea typeface="DejaVu Sans"/>
              </a:rPr>
              <a:t>Lecture du schéma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Box 9"/>
          <p:cNvSpPr/>
          <p:nvPr/>
        </p:nvSpPr>
        <p:spPr>
          <a:xfrm>
            <a:off x="5688360" y="3594960"/>
            <a:ext cx="3568680" cy="10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router dirige la requête vers le Controller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Service porte la logique métier.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Repository dialogue avec Doctrine et MySQL.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Twig génère ensuite la réponse HTML.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1" name="" descr=""/>
          <p:cNvPicPr/>
          <p:nvPr/>
        </p:nvPicPr>
        <p:blipFill>
          <a:blip r:embed="rId1"/>
          <a:stretch/>
        </p:blipFill>
        <p:spPr>
          <a:xfrm>
            <a:off x="1872000" y="1547280"/>
            <a:ext cx="1950480" cy="5099040"/>
          </a:xfrm>
          <a:prstGeom prst="rect">
            <a:avLst/>
          </a:prstGeom>
          <a:ln w="0">
            <a:noFill/>
          </a:ln>
        </p:spPr>
      </p:pic>
      <p:sp>
        <p:nvSpPr>
          <p:cNvPr id="252" name="Rounded Rectangle 17"/>
          <p:cNvSpPr/>
          <p:nvPr/>
        </p:nvSpPr>
        <p:spPr>
          <a:xfrm>
            <a:off x="5616000" y="1728000"/>
            <a:ext cx="5399640" cy="1007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480">
            <a:solidFill>
              <a:srgbClr val="d7ded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L’architecture MVC sépare les responsabilités : les données et leur accès (Modèle), l’affichage (Vue) et le traitement des requêtes (Contrôleur).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41"/>
          <p:cNvSpPr/>
          <p:nvPr/>
        </p:nvSpPr>
        <p:spPr>
          <a:xfrm>
            <a:off x="0" y="0"/>
            <a:ext cx="12189960" cy="1049760"/>
          </a:xfrm>
          <a:prstGeom prst="rect">
            <a:avLst/>
          </a:prstGeom>
          <a:solidFill>
            <a:srgbClr val="1f5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54" name="Text 62"/>
          <p:cNvSpPr/>
          <p:nvPr/>
        </p:nvSpPr>
        <p:spPr>
          <a:xfrm>
            <a:off x="504000" y="38880"/>
            <a:ext cx="36558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287" strike="noStrike">
                <a:solidFill>
                  <a:srgbClr val="d9822b"/>
                </a:solidFill>
                <a:latin typeface="Calibri"/>
                <a:ea typeface="Calibri"/>
              </a:rPr>
              <a:t>PARTIE 1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72"/>
          <p:cNvSpPr/>
          <p:nvPr/>
        </p:nvSpPr>
        <p:spPr>
          <a:xfrm>
            <a:off x="502920" y="395640"/>
            <a:ext cx="944676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ormorant Garamond"/>
                <a:ea typeface="Cormorant Garamond"/>
              </a:rPr>
              <a:t>Architecture en couche et MVC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76"/>
          <p:cNvSpPr/>
          <p:nvPr/>
        </p:nvSpPr>
        <p:spPr>
          <a:xfrm>
            <a:off x="6874920" y="695880"/>
            <a:ext cx="52927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cfe6cf"/>
                </a:solidFill>
                <a:latin typeface="Calibri"/>
                <a:ea typeface="Calibri"/>
              </a:rPr>
              <a:t>Du navigateur à MySQL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Box 31"/>
          <p:cNvSpPr/>
          <p:nvPr/>
        </p:nvSpPr>
        <p:spPr>
          <a:xfrm>
            <a:off x="1540080" y="1224720"/>
            <a:ext cx="255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fr-FR" sz="1200" spc="-1" strike="noStrike">
                <a:solidFill>
                  <a:srgbClr val="1d6332"/>
                </a:solidFill>
                <a:latin typeface="Arial"/>
                <a:ea typeface="DejaVu Sans"/>
              </a:rPr>
              <a:t>Architecture en couche Symfony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5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0"/>
          <p:cNvSpPr/>
          <p:nvPr/>
        </p:nvSpPr>
        <p:spPr>
          <a:xfrm>
            <a:off x="9418320" y="-1463040"/>
            <a:ext cx="4204440" cy="4204440"/>
          </a:xfrm>
          <a:prstGeom prst="ellipse">
            <a:avLst/>
          </a:prstGeom>
          <a:solidFill>
            <a:srgbClr val="2e7f32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59" name="Shape 1"/>
          <p:cNvSpPr/>
          <p:nvPr/>
        </p:nvSpPr>
        <p:spPr>
          <a:xfrm>
            <a:off x="10607040" y="-548640"/>
            <a:ext cx="2741400" cy="2741400"/>
          </a:xfrm>
          <a:prstGeom prst="ellipse">
            <a:avLst/>
          </a:prstGeom>
          <a:solidFill>
            <a:srgbClr val="2e7f32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60" name="Text 2"/>
          <p:cNvSpPr/>
          <p:nvPr/>
        </p:nvSpPr>
        <p:spPr>
          <a:xfrm>
            <a:off x="640080" y="2331720"/>
            <a:ext cx="36558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287" strike="noStrike">
                <a:solidFill>
                  <a:srgbClr val="d9822b"/>
                </a:solidFill>
                <a:latin typeface="Calibri"/>
                <a:ea typeface="Calibri"/>
              </a:rPr>
              <a:t>PARTIE 2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 3"/>
          <p:cNvSpPr/>
          <p:nvPr/>
        </p:nvSpPr>
        <p:spPr>
          <a:xfrm>
            <a:off x="594360" y="2788920"/>
            <a:ext cx="914220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ormorant Garamond"/>
                <a:ea typeface="Cormorant Garamond"/>
              </a:rPr>
              <a:t>Conception du front-end</a:t>
            </a:r>
            <a:endParaRPr b="0" lang="fr-FR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 4"/>
          <p:cNvSpPr/>
          <p:nvPr/>
        </p:nvSpPr>
        <p:spPr>
          <a:xfrm>
            <a:off x="640080" y="3703320"/>
            <a:ext cx="8227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cfe6cf"/>
                </a:solidFill>
                <a:latin typeface="Calibri"/>
                <a:ea typeface="Calibri"/>
              </a:rPr>
              <a:t>Vue, contrôleurs, accessibilité et expérience utilisateur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 5"/>
          <p:cNvSpPr/>
          <p:nvPr/>
        </p:nvSpPr>
        <p:spPr>
          <a:xfrm>
            <a:off x="11277360" y="647388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 3"/>
          <p:cNvSpPr/>
          <p:nvPr/>
        </p:nvSpPr>
        <p:spPr>
          <a:xfrm>
            <a:off x="457200" y="647388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2e7f32"/>
                </a:solidFill>
                <a:latin typeface="Calibri"/>
                <a:ea typeface="Calibri"/>
              </a:rPr>
              <a:t>2. Conception du Front-end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4"/>
          <p:cNvSpPr/>
          <p:nvPr/>
        </p:nvSpPr>
        <p:spPr>
          <a:xfrm>
            <a:off x="11277360" y="647388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5"/>
          <p:cNvSpPr/>
          <p:nvPr/>
        </p:nvSpPr>
        <p:spPr>
          <a:xfrm>
            <a:off x="502920" y="1417320"/>
            <a:ext cx="3543840" cy="429588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7" name="Text 6"/>
          <p:cNvSpPr/>
          <p:nvPr/>
        </p:nvSpPr>
        <p:spPr>
          <a:xfrm>
            <a:off x="758880" y="1673280"/>
            <a:ext cx="30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Templates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7"/>
          <p:cNvSpPr/>
          <p:nvPr/>
        </p:nvSpPr>
        <p:spPr>
          <a:xfrm>
            <a:off x="758880" y="2148840"/>
            <a:ext cx="3031920" cy="33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base.html.twig 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sert de modèle principal aux différentes pages de l’application.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8"/>
          <p:cNvSpPr/>
          <p:nvPr/>
        </p:nvSpPr>
        <p:spPr>
          <a:xfrm>
            <a:off x="4322880" y="1417320"/>
            <a:ext cx="3543840" cy="429588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0" name="Text 9"/>
          <p:cNvSpPr/>
          <p:nvPr/>
        </p:nvSpPr>
        <p:spPr>
          <a:xfrm>
            <a:off x="4578840" y="1673280"/>
            <a:ext cx="30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Composants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10"/>
          <p:cNvSpPr/>
          <p:nvPr/>
        </p:nvSpPr>
        <p:spPr>
          <a:xfrm>
            <a:off x="4578840" y="2148840"/>
            <a:ext cx="3031920" cy="33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Les éléments utilisés sur plusieurs pages, comme le header et le footer sont placés dans des fichiers twig séparés et réutilisables.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11"/>
          <p:cNvSpPr/>
          <p:nvPr/>
        </p:nvSpPr>
        <p:spPr>
          <a:xfrm>
            <a:off x="8143200" y="1417320"/>
            <a:ext cx="3543840" cy="429588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3" name="Text 12"/>
          <p:cNvSpPr/>
          <p:nvPr/>
        </p:nvSpPr>
        <p:spPr>
          <a:xfrm>
            <a:off x="8399160" y="1673280"/>
            <a:ext cx="30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Données dynamiques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13"/>
          <p:cNvSpPr/>
          <p:nvPr/>
        </p:nvSpPr>
        <p:spPr>
          <a:xfrm>
            <a:off x="8399160" y="2148840"/>
            <a:ext cx="3031920" cy="33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Le contrôleur récupère les données nécessaires et les envoie au template Twig pour les afficher.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14"/>
          <p:cNvSpPr/>
          <p:nvPr/>
        </p:nvSpPr>
        <p:spPr>
          <a:xfrm>
            <a:off x="502920" y="5943600"/>
            <a:ext cx="11184120" cy="546840"/>
          </a:xfrm>
          <a:prstGeom prst="roundRect">
            <a:avLst>
              <a:gd name="adj" fmla="val 13333"/>
            </a:avLst>
          </a:prstGeom>
          <a:solidFill>
            <a:srgbClr val="fbeddd"/>
          </a:solidFill>
          <a:ln w="12600">
            <a:solidFill>
              <a:srgbClr val="f0d5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6" name="Text 15"/>
          <p:cNvSpPr/>
          <p:nvPr/>
        </p:nvSpPr>
        <p:spPr>
          <a:xfrm>
            <a:off x="777240" y="5943600"/>
            <a:ext cx="106354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6b4a1e"/>
                </a:solidFill>
                <a:latin typeface="Calibri"/>
                <a:ea typeface="Calibri"/>
              </a:rPr>
              <a:t>Twig sécurise automatiquement les données affichées et limite l’injection de code malveillant dans les pages (XSS)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29"/>
          <p:cNvSpPr/>
          <p:nvPr/>
        </p:nvSpPr>
        <p:spPr>
          <a:xfrm>
            <a:off x="0" y="0"/>
            <a:ext cx="12189960" cy="1049760"/>
          </a:xfrm>
          <a:prstGeom prst="rect">
            <a:avLst/>
          </a:prstGeom>
          <a:solidFill>
            <a:srgbClr val="1f5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78" name="Text 51"/>
          <p:cNvSpPr/>
          <p:nvPr/>
        </p:nvSpPr>
        <p:spPr>
          <a:xfrm>
            <a:off x="504000" y="38880"/>
            <a:ext cx="36558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287" strike="noStrike">
                <a:solidFill>
                  <a:srgbClr val="d9822b"/>
                </a:solidFill>
                <a:latin typeface="Calibri"/>
                <a:ea typeface="Calibri"/>
              </a:rPr>
              <a:t>PARTIE 2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52"/>
          <p:cNvSpPr/>
          <p:nvPr/>
        </p:nvSpPr>
        <p:spPr>
          <a:xfrm>
            <a:off x="502920" y="395640"/>
            <a:ext cx="944676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ormorant Garamond"/>
                <a:ea typeface="Cormorant Garamond"/>
              </a:rPr>
              <a:t>La vue — Twig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 53"/>
          <p:cNvSpPr/>
          <p:nvPr/>
        </p:nvSpPr>
        <p:spPr>
          <a:xfrm>
            <a:off x="3490920" y="695880"/>
            <a:ext cx="76687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cfe6cf"/>
                </a:solidFill>
                <a:latin typeface="Calibri"/>
                <a:ea typeface="Calibri"/>
              </a:rPr>
              <a:t>Une interface réutilisable et maintenable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Rounded Rectangle 23"/>
          <p:cNvSpPr/>
          <p:nvPr/>
        </p:nvSpPr>
        <p:spPr>
          <a:xfrm>
            <a:off x="4788000" y="3148200"/>
            <a:ext cx="2602440" cy="2395440"/>
          </a:xfrm>
          <a:prstGeom prst="roundRect">
            <a:avLst>
              <a:gd name="adj" fmla="val 16667"/>
            </a:avLst>
          </a:prstGeom>
          <a:solidFill>
            <a:srgbClr val="1c211d"/>
          </a:solidFill>
          <a:ln w="12600">
            <a:solidFill>
              <a:srgbClr val="1c211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4520" rIns="109800" tIns="128160" bIns="45000" anchor="ctr">
            <a:noAutofit/>
          </a:bodyPr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templates/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├──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base.html.twig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└──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components/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├──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_header.html.twig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├──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_footer.html.twig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├──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_hero.html.twig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└──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_flash.html.twig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Rounded Rectangle 25"/>
          <p:cNvSpPr/>
          <p:nvPr/>
        </p:nvSpPr>
        <p:spPr>
          <a:xfrm>
            <a:off x="8496360" y="3112200"/>
            <a:ext cx="2602440" cy="2395440"/>
          </a:xfrm>
          <a:prstGeom prst="roundRect">
            <a:avLst>
              <a:gd name="adj" fmla="val 16667"/>
            </a:avLst>
          </a:prstGeom>
          <a:solidFill>
            <a:srgbClr val="1c211d"/>
          </a:solidFill>
          <a:ln w="12600">
            <a:solidFill>
              <a:srgbClr val="1c211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4520" rIns="109800" tIns="128160" bIns="45000" anchor="ctr">
            <a:noAutofit/>
          </a:bodyPr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{% for recette in recettes %}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&lt;h2&gt;{{ recette.titre }}&lt;/h2&gt;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{% endfor %}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Rectangle 1"/>
          <p:cNvSpPr/>
          <p:nvPr/>
        </p:nvSpPr>
        <p:spPr>
          <a:xfrm>
            <a:off x="0" y="0"/>
            <a:ext cx="12191040" cy="712080"/>
          </a:xfrm>
          <a:prstGeom prst="rect">
            <a:avLst/>
          </a:prstGeom>
          <a:solidFill>
            <a:srgbClr val="1c6031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4" name="TextBox 2"/>
          <p:cNvSpPr/>
          <p:nvPr/>
        </p:nvSpPr>
        <p:spPr>
          <a:xfrm>
            <a:off x="411480" y="109800"/>
            <a:ext cx="192780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700" spc="-1" strike="noStrike">
                <a:solidFill>
                  <a:srgbClr val="e08e2c"/>
                </a:solidFill>
                <a:latin typeface="Aptos"/>
                <a:ea typeface="DejaVu Sans"/>
              </a:rPr>
              <a:t>PARTIE 2 — EXEMPLE CONCRET — CODE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Box 3"/>
          <p:cNvSpPr/>
          <p:nvPr/>
        </p:nvSpPr>
        <p:spPr>
          <a:xfrm>
            <a:off x="411480" y="255960"/>
            <a:ext cx="795420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2200" spc="-1" strike="noStrike">
                <a:solidFill>
                  <a:srgbClr val="ffffff"/>
                </a:solidFill>
                <a:latin typeface="Aptos"/>
                <a:ea typeface="DejaVu Sans"/>
              </a:rPr>
              <a:t>Twig — structure commune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Box 4"/>
          <p:cNvSpPr/>
          <p:nvPr/>
        </p:nvSpPr>
        <p:spPr>
          <a:xfrm>
            <a:off x="8412480" y="274320"/>
            <a:ext cx="319932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Compétences 2, 3 et 4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Box 5"/>
          <p:cNvSpPr/>
          <p:nvPr/>
        </p:nvSpPr>
        <p:spPr>
          <a:xfrm>
            <a:off x="411480" y="6565320"/>
            <a:ext cx="27421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600" spc="-1" strike="noStrike">
                <a:solidFill>
                  <a:srgbClr val="267837"/>
                </a:solidFill>
                <a:latin typeface="Aptos"/>
                <a:ea typeface="DejaVu Sans"/>
              </a:rPr>
              <a:t>AU FIL DES SAISONS  •  DWWM 2026</a:t>
            </a:r>
            <a:endParaRPr b="0" lang="fr-FR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Rounded Rectangle 6"/>
          <p:cNvSpPr/>
          <p:nvPr/>
        </p:nvSpPr>
        <p:spPr>
          <a:xfrm>
            <a:off x="457200" y="2120760"/>
            <a:ext cx="1919160" cy="291600"/>
          </a:xfrm>
          <a:prstGeom prst="roundRect">
            <a:avLst>
              <a:gd name="adj" fmla="val 16667"/>
            </a:avLst>
          </a:prstGeom>
          <a:solidFill>
            <a:srgbClr val="1c6031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9" name="TextBox 7"/>
          <p:cNvSpPr/>
          <p:nvPr/>
        </p:nvSpPr>
        <p:spPr>
          <a:xfrm>
            <a:off x="530280" y="2135160"/>
            <a:ext cx="17730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EXTRAIT DE CODE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Rounded Rectangle 8"/>
          <p:cNvSpPr/>
          <p:nvPr/>
        </p:nvSpPr>
        <p:spPr>
          <a:xfrm>
            <a:off x="457200" y="2576160"/>
            <a:ext cx="5622480" cy="2879280"/>
          </a:xfrm>
          <a:prstGeom prst="roundRect">
            <a:avLst>
              <a:gd name="adj" fmla="val 16667"/>
            </a:avLst>
          </a:prstGeom>
          <a:solidFill>
            <a:srgbClr val="1c211d"/>
          </a:solidFill>
          <a:ln w="12600">
            <a:solidFill>
              <a:srgbClr val="1c211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4520" rIns="109800" tIns="128160" bIns="45000" anchor="ctr">
            <a:noAutofit/>
          </a:bodyPr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ebf1eb"/>
                </a:solidFill>
                <a:latin typeface="DejaVu Sans Mono"/>
                <a:ea typeface="DejaVu Sans"/>
              </a:rPr>
              <a:t>{% include 'components/_header.html.twig' %}</a:t>
            </a:r>
            <a:br>
              <a:rPr sz="1000"/>
            </a:br>
            <a:br>
              <a:rPr sz="1000"/>
            </a:br>
            <a:r>
              <a:rPr b="0" lang="fr-FR" sz="1000" spc="-1" strike="noStrike">
                <a:solidFill>
                  <a:srgbClr val="ebf1eb"/>
                </a:solidFill>
                <a:latin typeface="DejaVu Sans Mono"/>
                <a:ea typeface="DejaVu Sans"/>
              </a:rPr>
              <a:t>&lt;main&gt;</a:t>
            </a:r>
            <a:br>
              <a:rPr sz="1000"/>
            </a:br>
            <a:r>
              <a:rPr b="0" lang="fr-FR" sz="1000" spc="-1" strike="noStrike">
                <a:solidFill>
                  <a:srgbClr val="ebf1eb"/>
                </a:solidFill>
                <a:latin typeface="DejaVu Sans Mono"/>
                <a:ea typeface="DejaVu Sans"/>
              </a:rPr>
              <a:t>    {% block body %}{% endblock %}</a:t>
            </a:r>
            <a:br>
              <a:rPr sz="1000"/>
            </a:br>
            <a:r>
              <a:rPr b="0" lang="fr-FR" sz="1000" spc="-1" strike="noStrike">
                <a:solidFill>
                  <a:srgbClr val="ebf1eb"/>
                </a:solidFill>
                <a:latin typeface="DejaVu Sans Mono"/>
                <a:ea typeface="DejaVu Sans"/>
              </a:rPr>
              <a:t>&lt;/main&gt;</a:t>
            </a:r>
            <a:br>
              <a:rPr sz="1000"/>
            </a:br>
            <a:br>
              <a:rPr sz="1000"/>
            </a:br>
            <a:r>
              <a:rPr b="0" lang="fr-FR" sz="1000" spc="-1" strike="noStrike">
                <a:solidFill>
                  <a:srgbClr val="ebf1eb"/>
                </a:solidFill>
                <a:latin typeface="DejaVu Sans Mono"/>
                <a:ea typeface="DejaVu Sans"/>
              </a:rPr>
              <a:t>{% include 'components/_footer.html.twig' %}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Rounded Rectangle 9"/>
          <p:cNvSpPr/>
          <p:nvPr/>
        </p:nvSpPr>
        <p:spPr>
          <a:xfrm>
            <a:off x="6355080" y="2084760"/>
            <a:ext cx="2010600" cy="291600"/>
          </a:xfrm>
          <a:prstGeom prst="roundRect">
            <a:avLst>
              <a:gd name="adj" fmla="val 16667"/>
            </a:avLst>
          </a:prstGeom>
          <a:solidFill>
            <a:srgbClr val="e08e2c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2" name="TextBox 10"/>
          <p:cNvSpPr/>
          <p:nvPr/>
        </p:nvSpPr>
        <p:spPr>
          <a:xfrm>
            <a:off x="6428160" y="2135160"/>
            <a:ext cx="18644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CE QUE ÇA PROUVE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Rounded Rectangle 11"/>
          <p:cNvSpPr/>
          <p:nvPr/>
        </p:nvSpPr>
        <p:spPr>
          <a:xfrm>
            <a:off x="6355080" y="2432160"/>
            <a:ext cx="5375520" cy="1324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8f1e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4" name="TextBox 12"/>
          <p:cNvSpPr/>
          <p:nvPr/>
        </p:nvSpPr>
        <p:spPr>
          <a:xfrm>
            <a:off x="6537960" y="2633400"/>
            <a:ext cx="4982400" cy="81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fr-FR" sz="1150" spc="-1" strike="noStrike">
                <a:solidFill>
                  <a:srgbClr val="232b24"/>
                </a:solidFill>
                <a:latin typeface="Aptos"/>
                <a:ea typeface="DejaVu Sans"/>
              </a:rPr>
              <a:t>• </a:t>
            </a:r>
            <a:r>
              <a:rPr b="0" lang="fr-FR" sz="1150" spc="-1" strike="noStrike">
                <a:solidFill>
                  <a:srgbClr val="232b24"/>
                </a:solidFill>
                <a:latin typeface="Aptos"/>
                <a:ea typeface="DejaVu Sans"/>
              </a:rPr>
              <a:t>Une structure HTML réutilisable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fr-FR" sz="1150" spc="-1" strike="noStrike">
                <a:solidFill>
                  <a:srgbClr val="232b24"/>
                </a:solidFill>
                <a:latin typeface="Aptos"/>
                <a:ea typeface="DejaVu Sans"/>
              </a:rPr>
              <a:t>• </a:t>
            </a:r>
            <a:r>
              <a:rPr b="0" lang="fr-FR" sz="1150" spc="-1" strike="noStrike">
                <a:solidFill>
                  <a:srgbClr val="232b24"/>
                </a:solidFill>
                <a:latin typeface="Aptos"/>
                <a:ea typeface="DejaVu Sans"/>
              </a:rPr>
              <a:t>Des composants séparés et maintenables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fr-FR" sz="1150" spc="-1" strike="noStrike">
                <a:solidFill>
                  <a:srgbClr val="232b24"/>
                </a:solidFill>
                <a:latin typeface="Aptos"/>
                <a:ea typeface="DejaVu Sans"/>
              </a:rPr>
              <a:t>• </a:t>
            </a:r>
            <a:r>
              <a:rPr b="0" lang="fr-FR" sz="1150" spc="-1" strike="noStrike">
                <a:solidFill>
                  <a:srgbClr val="232b24"/>
                </a:solidFill>
                <a:latin typeface="Aptos"/>
                <a:ea typeface="DejaVu Sans"/>
              </a:rPr>
              <a:t>Un contenu central différent selon chaque page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Rounded Rectangle 13"/>
          <p:cNvSpPr/>
          <p:nvPr/>
        </p:nvSpPr>
        <p:spPr>
          <a:xfrm>
            <a:off x="6355080" y="3968280"/>
            <a:ext cx="1919160" cy="291600"/>
          </a:xfrm>
          <a:prstGeom prst="roundRect">
            <a:avLst>
              <a:gd name="adj" fmla="val 16667"/>
            </a:avLst>
          </a:prstGeom>
          <a:solidFill>
            <a:srgbClr val="1c6031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6" name="TextBox 14"/>
          <p:cNvSpPr/>
          <p:nvPr/>
        </p:nvSpPr>
        <p:spPr>
          <a:xfrm>
            <a:off x="6428160" y="4018680"/>
            <a:ext cx="17730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CE QUE CA DIT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Rounded Rectangle 15"/>
          <p:cNvSpPr/>
          <p:nvPr/>
        </p:nvSpPr>
        <p:spPr>
          <a:xfrm>
            <a:off x="6355080" y="4315680"/>
            <a:ext cx="5375520" cy="1507680"/>
          </a:xfrm>
          <a:prstGeom prst="roundRect">
            <a:avLst>
              <a:gd name="adj" fmla="val 16667"/>
            </a:avLst>
          </a:prstGeom>
          <a:solidFill>
            <a:srgbClr val="f7faf4"/>
          </a:solidFill>
          <a:ln w="12600">
            <a:solidFill>
              <a:srgbClr val="e8f1e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8" name="TextBox 16"/>
          <p:cNvSpPr/>
          <p:nvPr/>
        </p:nvSpPr>
        <p:spPr>
          <a:xfrm>
            <a:off x="6565320" y="4535280"/>
            <a:ext cx="49183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232b24"/>
                </a:solidFill>
                <a:latin typeface="Aptos"/>
                <a:ea typeface="DejaVu Sans"/>
              </a:rPr>
              <a:t>« J’utilise un template principal pour éviter de recopier le header et le footer. Chaque page remplit seulement la zone body. »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Text 3"/>
          <p:cNvSpPr/>
          <p:nvPr/>
        </p:nvSpPr>
        <p:spPr>
          <a:xfrm>
            <a:off x="457200" y="647388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2e7f32"/>
                </a:solidFill>
                <a:latin typeface="Calibri"/>
                <a:ea typeface="Calibri"/>
              </a:rPr>
              <a:t>2. Conception du Front-end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5"/>
          <p:cNvSpPr/>
          <p:nvPr/>
        </p:nvSpPr>
        <p:spPr>
          <a:xfrm>
            <a:off x="502920" y="1417320"/>
            <a:ext cx="3543840" cy="429588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1" name="Text 6"/>
          <p:cNvSpPr/>
          <p:nvPr/>
        </p:nvSpPr>
        <p:spPr>
          <a:xfrm>
            <a:off x="758880" y="1565280"/>
            <a:ext cx="30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Contrôleurs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 7"/>
          <p:cNvSpPr/>
          <p:nvPr/>
        </p:nvSpPr>
        <p:spPr>
          <a:xfrm>
            <a:off x="758880" y="1860840"/>
            <a:ext cx="3031920" cy="33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La route dirige les requêtes vers le bon controller. Le contrôleur traite l’action demandée puis affiche une page ou effectue une redirection.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8"/>
          <p:cNvSpPr/>
          <p:nvPr/>
        </p:nvSpPr>
        <p:spPr>
          <a:xfrm>
            <a:off x="4322880" y="1417320"/>
            <a:ext cx="3543840" cy="429588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4" name="Text 9"/>
          <p:cNvSpPr/>
          <p:nvPr/>
        </p:nvSpPr>
        <p:spPr>
          <a:xfrm>
            <a:off x="4578840" y="1601280"/>
            <a:ext cx="30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Formulaires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10"/>
          <p:cNvSpPr/>
          <p:nvPr/>
        </p:nvSpPr>
        <p:spPr>
          <a:xfrm>
            <a:off x="4578840" y="1896840"/>
            <a:ext cx="3031920" cy="33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Symfony Forms récupère les informations saisies, vérifie leur validité et affiche les erreurs si nécessaire.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11"/>
          <p:cNvSpPr/>
          <p:nvPr/>
        </p:nvSpPr>
        <p:spPr>
          <a:xfrm>
            <a:off x="8143200" y="1417320"/>
            <a:ext cx="3543840" cy="429588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7" name="Text 12"/>
          <p:cNvSpPr/>
          <p:nvPr/>
        </p:nvSpPr>
        <p:spPr>
          <a:xfrm>
            <a:off x="8399160" y="1601280"/>
            <a:ext cx="30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Dynamique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13"/>
          <p:cNvSpPr/>
          <p:nvPr/>
        </p:nvSpPr>
        <p:spPr>
          <a:xfrm>
            <a:off x="8399160" y="1932840"/>
            <a:ext cx="3031920" cy="33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Les contrôleurs gèrent les actions de l’utilisateur : créer ou modifier une recette, choisir ses saisons et gérer la visibilité de ses contenus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14"/>
          <p:cNvSpPr/>
          <p:nvPr/>
        </p:nvSpPr>
        <p:spPr>
          <a:xfrm>
            <a:off x="502920" y="5943600"/>
            <a:ext cx="11184120" cy="546840"/>
          </a:xfrm>
          <a:prstGeom prst="roundRect">
            <a:avLst>
              <a:gd name="adj" fmla="val 13333"/>
            </a:avLst>
          </a:prstGeom>
          <a:solidFill>
            <a:srgbClr val="fbeddd"/>
          </a:solidFill>
          <a:ln w="12600">
            <a:solidFill>
              <a:srgbClr val="f0d5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0" name="Text 15"/>
          <p:cNvSpPr/>
          <p:nvPr/>
        </p:nvSpPr>
        <p:spPr>
          <a:xfrm>
            <a:off x="777240" y="5943600"/>
            <a:ext cx="106354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6b4a1e"/>
                </a:solidFill>
                <a:latin typeface="Calibri"/>
                <a:ea typeface="Calibri"/>
              </a:rPr>
              <a:t>Le contrôleur traite les actions et les données; Twig s’occupe principalement de leur affichage.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31"/>
          <p:cNvSpPr/>
          <p:nvPr/>
        </p:nvSpPr>
        <p:spPr>
          <a:xfrm>
            <a:off x="0" y="0"/>
            <a:ext cx="12189960" cy="1049760"/>
          </a:xfrm>
          <a:prstGeom prst="rect">
            <a:avLst/>
          </a:prstGeom>
          <a:solidFill>
            <a:srgbClr val="1f5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2" name="Text 66"/>
          <p:cNvSpPr/>
          <p:nvPr/>
        </p:nvSpPr>
        <p:spPr>
          <a:xfrm>
            <a:off x="504000" y="38880"/>
            <a:ext cx="36558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287" strike="noStrike">
                <a:solidFill>
                  <a:srgbClr val="d9822b"/>
                </a:solidFill>
                <a:latin typeface="Calibri"/>
                <a:ea typeface="Calibri"/>
              </a:rPr>
              <a:t>PARTIE 2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67"/>
          <p:cNvSpPr/>
          <p:nvPr/>
        </p:nvSpPr>
        <p:spPr>
          <a:xfrm>
            <a:off x="502920" y="395640"/>
            <a:ext cx="944676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ormorant Garamond"/>
                <a:ea typeface="Cormorant Garamond"/>
              </a:rPr>
              <a:t>Les contrôleurs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68"/>
          <p:cNvSpPr/>
          <p:nvPr/>
        </p:nvSpPr>
        <p:spPr>
          <a:xfrm>
            <a:off x="3742920" y="695880"/>
            <a:ext cx="54367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cfe6cf"/>
                </a:solidFill>
                <a:latin typeface="Calibri"/>
                <a:ea typeface="Calibri"/>
              </a:rPr>
              <a:t>Relier les actions utilisateurs à l’application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Rounded Rectangle 26"/>
          <p:cNvSpPr/>
          <p:nvPr/>
        </p:nvSpPr>
        <p:spPr>
          <a:xfrm>
            <a:off x="758880" y="2844000"/>
            <a:ext cx="3020760" cy="2833200"/>
          </a:xfrm>
          <a:prstGeom prst="roundRect">
            <a:avLst>
              <a:gd name="adj" fmla="val 16667"/>
            </a:avLst>
          </a:prstGeom>
          <a:solidFill>
            <a:srgbClr val="1c211d"/>
          </a:solidFill>
          <a:ln w="12600">
            <a:solidFill>
              <a:srgbClr val="1c211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4520" rIns="109800" tIns="128160" bIns="45000" anchor="ctr">
            <a:noAutofit/>
          </a:bodyPr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#[Route('/nouvelle', name: 'app_recette_new', methods: ['GET', 'POST'])]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public function new(Request $request, ...): Response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$user = $this-&gt;getUser();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$recette = (new Recette())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-&gt;setUser($user)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-&gt;setStatut(RecetteStatut::ATTENTE);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return $this-&gt;processForm(...);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Rounded Rectangle 27"/>
          <p:cNvSpPr/>
          <p:nvPr/>
        </p:nvSpPr>
        <p:spPr>
          <a:xfrm>
            <a:off x="4575240" y="2844000"/>
            <a:ext cx="3020760" cy="2833200"/>
          </a:xfrm>
          <a:prstGeom prst="roundRect">
            <a:avLst>
              <a:gd name="adj" fmla="val 16667"/>
            </a:avLst>
          </a:prstGeom>
          <a:solidFill>
            <a:srgbClr val="1c211d"/>
          </a:solidFill>
          <a:ln w="12600">
            <a:solidFill>
              <a:srgbClr val="1c211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4520" rIns="109800" tIns="128160" bIns="45000" anchor="ctr">
            <a:noAutofit/>
          </a:bodyPr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$form = $this-&gt;createForm(RecetteType::class, $recette);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$form-&gt;handleRequest($request);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if ($form-&gt;isSubmitted() &amp;&amp; $form-&gt;isValid())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// enregistrement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Rectangle 1"/>
          <p:cNvSpPr/>
          <p:nvPr/>
        </p:nvSpPr>
        <p:spPr>
          <a:xfrm>
            <a:off x="0" y="0"/>
            <a:ext cx="12191040" cy="712080"/>
          </a:xfrm>
          <a:prstGeom prst="rect">
            <a:avLst/>
          </a:prstGeom>
          <a:solidFill>
            <a:srgbClr val="1c6031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8" name="TextBox 2"/>
          <p:cNvSpPr/>
          <p:nvPr/>
        </p:nvSpPr>
        <p:spPr>
          <a:xfrm>
            <a:off x="411480" y="109800"/>
            <a:ext cx="192780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700" spc="-1" strike="noStrike">
                <a:solidFill>
                  <a:srgbClr val="e08e2c"/>
                </a:solidFill>
                <a:latin typeface="Aptos"/>
                <a:ea typeface="DejaVu Sans"/>
              </a:rPr>
              <a:t>PARTIE 2 — EXEMPLE CONCRET — CODE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Box 3"/>
          <p:cNvSpPr/>
          <p:nvPr/>
        </p:nvSpPr>
        <p:spPr>
          <a:xfrm>
            <a:off x="411480" y="255960"/>
            <a:ext cx="795420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2200" spc="-1" strike="noStrike">
                <a:solidFill>
                  <a:srgbClr val="ffffff"/>
                </a:solidFill>
                <a:latin typeface="Aptos"/>
                <a:ea typeface="DejaVu Sans"/>
              </a:rPr>
              <a:t>Symfony — route et contrôleur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Box 4"/>
          <p:cNvSpPr/>
          <p:nvPr/>
        </p:nvSpPr>
        <p:spPr>
          <a:xfrm>
            <a:off x="8412480" y="274320"/>
            <a:ext cx="319932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Compétences 4 et 7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Box 5"/>
          <p:cNvSpPr/>
          <p:nvPr/>
        </p:nvSpPr>
        <p:spPr>
          <a:xfrm>
            <a:off x="411480" y="6565320"/>
            <a:ext cx="27421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600" spc="-1" strike="noStrike">
                <a:solidFill>
                  <a:srgbClr val="267837"/>
                </a:solidFill>
                <a:latin typeface="Aptos"/>
                <a:ea typeface="DejaVu Sans"/>
              </a:rPr>
              <a:t>AU FIL DES SAISONS  •  DWWM 2026</a:t>
            </a:r>
            <a:endParaRPr b="0" lang="fr-FR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Rounded Rectangle 6"/>
          <p:cNvSpPr/>
          <p:nvPr/>
        </p:nvSpPr>
        <p:spPr>
          <a:xfrm>
            <a:off x="457200" y="1796760"/>
            <a:ext cx="1919160" cy="291600"/>
          </a:xfrm>
          <a:prstGeom prst="roundRect">
            <a:avLst>
              <a:gd name="adj" fmla="val 16667"/>
            </a:avLst>
          </a:prstGeom>
          <a:solidFill>
            <a:srgbClr val="1c6031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3" name="TextBox 7"/>
          <p:cNvSpPr/>
          <p:nvPr/>
        </p:nvSpPr>
        <p:spPr>
          <a:xfrm>
            <a:off x="530280" y="1847160"/>
            <a:ext cx="17730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EXTRAIT DE CODE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Rounded Rectangle 8"/>
          <p:cNvSpPr/>
          <p:nvPr/>
        </p:nvSpPr>
        <p:spPr>
          <a:xfrm>
            <a:off x="457200" y="2252160"/>
            <a:ext cx="5622480" cy="2879280"/>
          </a:xfrm>
          <a:prstGeom prst="roundRect">
            <a:avLst>
              <a:gd name="adj" fmla="val 16667"/>
            </a:avLst>
          </a:prstGeom>
          <a:solidFill>
            <a:srgbClr val="1c211d"/>
          </a:solidFill>
          <a:ln w="12600">
            <a:solidFill>
              <a:srgbClr val="1c211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4520" rIns="109800" tIns="128160" bIns="45000" anchor="ctr">
            <a:noAutofit/>
          </a:bodyPr>
          <a:p>
            <a:pPr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r>
              <a:rPr b="0" lang="fr-FR" sz="1000" spc="-1" strike="noStrike">
                <a:solidFill>
                  <a:srgbClr val="ffffff"/>
                </a:solidFill>
                <a:latin typeface="Arial"/>
                <a:ea typeface="DejaVu Sans"/>
              </a:rPr>
              <a:t>#[Route('/nouvelle', name: 'app_recette_new', methods: ['GET', 'POST'])] 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r>
              <a:rPr b="0" lang="fr-FR" sz="1000" spc="-1" strike="noStrike">
                <a:solidFill>
                  <a:srgbClr val="ffffff"/>
                </a:solidFill>
                <a:latin typeface="Arial"/>
                <a:ea typeface="DejaVu Sans"/>
              </a:rPr>
              <a:t>public function new(Request $request, EntityManagerInterface $entityManager, SluggerInterface $slugger): Response {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r>
              <a:rPr b="0" lang="fr-FR" sz="1000" spc="-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ffffff"/>
                </a:solidFill>
                <a:latin typeface="Arial"/>
                <a:ea typeface="DejaVu Sans"/>
              </a:rPr>
              <a:t>/** @var User $user */ 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r>
              <a:rPr b="0" lang="fr-FR" sz="1000" spc="-1" strike="noStrike">
                <a:solidFill>
                  <a:srgbClr val="ffffff"/>
                </a:solidFill>
                <a:latin typeface="Arial"/>
                <a:ea typeface="DejaVu Sans"/>
              </a:rPr>
              <a:t>$user = $this-&gt;getUser(); 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r>
              <a:rPr b="0" lang="fr-FR" sz="1000" spc="-1" strike="noStrike">
                <a:solidFill>
                  <a:srgbClr val="ffffff"/>
                </a:solidFill>
                <a:latin typeface="Arial"/>
                <a:ea typeface="DejaVu Sans"/>
              </a:rPr>
              <a:t>$recette = (new Recette())-&gt;setUser($user)-&gt;setStatut(RecetteStatut::ATTENTE);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r>
              <a:rPr b="0" lang="fr-FR" sz="1000" spc="-1" strike="noStrike">
                <a:solidFill>
                  <a:srgbClr val="ffffff"/>
                </a:solidFill>
                <a:latin typeface="Arial"/>
                <a:ea typeface="DejaVu Sans"/>
              </a:rPr>
              <a:t>return $this-&gt;processForm($request, $entityManager, $slugger, $recette, true); }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Rounded Rectangle 9"/>
          <p:cNvSpPr/>
          <p:nvPr/>
        </p:nvSpPr>
        <p:spPr>
          <a:xfrm>
            <a:off x="6355080" y="2156760"/>
            <a:ext cx="2010600" cy="291600"/>
          </a:xfrm>
          <a:prstGeom prst="roundRect">
            <a:avLst>
              <a:gd name="adj" fmla="val 16667"/>
            </a:avLst>
          </a:prstGeom>
          <a:solidFill>
            <a:srgbClr val="e08e2c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6" name="TextBox 10"/>
          <p:cNvSpPr/>
          <p:nvPr/>
        </p:nvSpPr>
        <p:spPr>
          <a:xfrm>
            <a:off x="6428160" y="2207160"/>
            <a:ext cx="18644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CE QUE ÇA MONTRE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Rounded Rectangle 11"/>
          <p:cNvSpPr/>
          <p:nvPr/>
        </p:nvSpPr>
        <p:spPr>
          <a:xfrm>
            <a:off x="6355080" y="2504160"/>
            <a:ext cx="5375520" cy="1324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8f1e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8" name="TextBox 12"/>
          <p:cNvSpPr/>
          <p:nvPr/>
        </p:nvSpPr>
        <p:spPr>
          <a:xfrm>
            <a:off x="6537960" y="2504160"/>
            <a:ext cx="4982400" cy="12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fr-FR" sz="1200" spc="-1" strike="noStrike">
                <a:solidFill>
                  <a:srgbClr val="232b24"/>
                </a:solidFill>
                <a:latin typeface="Aptos"/>
                <a:ea typeface="DejaVu Sans"/>
              </a:rPr>
              <a:t>• </a:t>
            </a:r>
            <a:r>
              <a:rPr b="0" lang="fr-FR" sz="1200" spc="-1" strike="noStrike">
                <a:solidFill>
                  <a:srgbClr val="232b24"/>
                </a:solidFill>
                <a:latin typeface="Aptos"/>
                <a:ea typeface="DejaVu Sans"/>
              </a:rPr>
              <a:t>La route /nouvelle déclenche l'action de création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fr-FR" sz="1200" spc="-1" strike="noStrike">
                <a:solidFill>
                  <a:srgbClr val="232b24"/>
                </a:solidFill>
                <a:latin typeface="Aptos"/>
                <a:ea typeface="DejaVu Sans"/>
              </a:rPr>
              <a:t>• </a:t>
            </a:r>
            <a:r>
              <a:rPr b="0" lang="fr-FR" sz="1200" spc="-1" strike="noStrike">
                <a:solidFill>
                  <a:srgbClr val="232b24"/>
                </a:solidFill>
                <a:latin typeface="Aptos"/>
                <a:ea typeface="DejaVu Sans"/>
              </a:rPr>
              <a:t>L'utilisateur connecté est récupéré automatiquement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fr-FR" sz="1200" spc="-1" strike="noStrike">
                <a:solidFill>
                  <a:srgbClr val="232b24"/>
                </a:solidFill>
                <a:latin typeface="Aptos"/>
                <a:ea typeface="DejaVu Sans"/>
              </a:rPr>
              <a:t>• </a:t>
            </a:r>
            <a:r>
              <a:rPr b="0" lang="fr-FR" sz="1200" spc="-1" strike="noStrike">
                <a:solidFill>
                  <a:srgbClr val="232b24"/>
                </a:solidFill>
                <a:latin typeface="Aptos"/>
                <a:ea typeface="DejaVu Sans"/>
              </a:rPr>
              <a:t>La recette est associée à son créateur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fr-FR" sz="1200" spc="-1" strike="noStrike">
                <a:solidFill>
                  <a:srgbClr val="232b24"/>
                </a:solidFill>
                <a:latin typeface="Aptos"/>
                <a:ea typeface="DejaVu Sans"/>
              </a:rPr>
              <a:t>• </a:t>
            </a:r>
            <a:r>
              <a:rPr b="0" lang="fr-FR" sz="1200" spc="-1" strike="noStrike">
                <a:solidFill>
                  <a:srgbClr val="232b24"/>
                </a:solidFill>
                <a:latin typeface="Aptos"/>
                <a:ea typeface="DejaVu Sans"/>
              </a:rPr>
              <a:t>Son statut initial est défini sur ATTENTE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fr-FR" sz="1200" spc="-1" strike="noStrike">
                <a:solidFill>
                  <a:srgbClr val="232b24"/>
                </a:solidFill>
                <a:latin typeface="Aptos"/>
                <a:ea typeface="DejaVu Sans"/>
              </a:rPr>
              <a:t>• </a:t>
            </a:r>
            <a:r>
              <a:rPr b="0" lang="fr-FR" sz="1200" spc="-1" strike="noStrike">
                <a:solidFill>
                  <a:srgbClr val="232b24"/>
                </a:solidFill>
                <a:latin typeface="Aptos"/>
                <a:ea typeface="DejaVu Sans"/>
              </a:rPr>
              <a:t>Le traitement du formulaire est ensuite appelé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Rounded Rectangle 13"/>
          <p:cNvSpPr/>
          <p:nvPr/>
        </p:nvSpPr>
        <p:spPr>
          <a:xfrm>
            <a:off x="6355080" y="4040280"/>
            <a:ext cx="1919160" cy="291600"/>
          </a:xfrm>
          <a:prstGeom prst="roundRect">
            <a:avLst>
              <a:gd name="adj" fmla="val 16667"/>
            </a:avLst>
          </a:prstGeom>
          <a:solidFill>
            <a:srgbClr val="1c6031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0" name="TextBox 14"/>
          <p:cNvSpPr/>
          <p:nvPr/>
        </p:nvSpPr>
        <p:spPr>
          <a:xfrm>
            <a:off x="6428160" y="4090680"/>
            <a:ext cx="17730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CE QUE CA DIT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Rounded Rectangle 15"/>
          <p:cNvSpPr/>
          <p:nvPr/>
        </p:nvSpPr>
        <p:spPr>
          <a:xfrm>
            <a:off x="6355080" y="4387680"/>
            <a:ext cx="5375520" cy="1507680"/>
          </a:xfrm>
          <a:prstGeom prst="roundRect">
            <a:avLst>
              <a:gd name="adj" fmla="val 16667"/>
            </a:avLst>
          </a:prstGeom>
          <a:solidFill>
            <a:srgbClr val="f7faf4"/>
          </a:solidFill>
          <a:ln w="12600">
            <a:solidFill>
              <a:srgbClr val="e8f1e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2" name="TextBox 16"/>
          <p:cNvSpPr/>
          <p:nvPr/>
        </p:nvSpPr>
        <p:spPr>
          <a:xfrm>
            <a:off x="6565320" y="4607280"/>
            <a:ext cx="49183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232b24"/>
                </a:solidFill>
                <a:latin typeface="Aptos"/>
                <a:ea typeface="DejaVu Sans"/>
              </a:rPr>
              <a:t>« Cette méthode permet à un utilisateur connecté de créer une nouvelle recette. Elle associe automatiquement la recette à l'utilisateur, lui attribue le statut "en attente", puis transmet les informations à la méthode qui traite le formulaire. »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Text 3"/>
          <p:cNvSpPr/>
          <p:nvPr/>
        </p:nvSpPr>
        <p:spPr>
          <a:xfrm>
            <a:off x="457200" y="647388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2e7f32"/>
                </a:solidFill>
                <a:latin typeface="Calibri"/>
                <a:ea typeface="Calibri"/>
              </a:rPr>
              <a:t>2. Conception du Front-end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 4"/>
          <p:cNvSpPr/>
          <p:nvPr/>
        </p:nvSpPr>
        <p:spPr>
          <a:xfrm>
            <a:off x="11277360" y="647388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5"/>
          <p:cNvSpPr/>
          <p:nvPr/>
        </p:nvSpPr>
        <p:spPr>
          <a:xfrm>
            <a:off x="502920" y="1508760"/>
            <a:ext cx="3543840" cy="420444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6" name="Text 6"/>
          <p:cNvSpPr/>
          <p:nvPr/>
        </p:nvSpPr>
        <p:spPr>
          <a:xfrm>
            <a:off x="758880" y="1764720"/>
            <a:ext cx="30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HTML sémantique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 7"/>
          <p:cNvSpPr/>
          <p:nvPr/>
        </p:nvSpPr>
        <p:spPr>
          <a:xfrm>
            <a:off x="758880" y="2060280"/>
            <a:ext cx="3031920" cy="32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Utilisation de balises html adaptées au rôle de chaque élément : header, nav, main, section, form, button et footer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8"/>
          <p:cNvSpPr/>
          <p:nvPr/>
        </p:nvSpPr>
        <p:spPr>
          <a:xfrm>
            <a:off x="4322880" y="1508760"/>
            <a:ext cx="3543840" cy="420444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9" name="Text 9"/>
          <p:cNvSpPr/>
          <p:nvPr/>
        </p:nvSpPr>
        <p:spPr>
          <a:xfrm>
            <a:off x="4578840" y="1764720"/>
            <a:ext cx="30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Lisibilité de l’interface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10"/>
          <p:cNvSpPr/>
          <p:nvPr/>
        </p:nvSpPr>
        <p:spPr>
          <a:xfrm>
            <a:off x="4578840" y="2060280"/>
            <a:ext cx="3031920" cy="32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Textes lisibles, hiérarchie visuelle claire et contraste entre les principaux éléments de l‘interface.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11"/>
          <p:cNvSpPr/>
          <p:nvPr/>
        </p:nvSpPr>
        <p:spPr>
          <a:xfrm>
            <a:off x="8143200" y="1508760"/>
            <a:ext cx="3543840" cy="420444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42" name="Text 12"/>
          <p:cNvSpPr/>
          <p:nvPr/>
        </p:nvSpPr>
        <p:spPr>
          <a:xfrm>
            <a:off x="8399160" y="1764720"/>
            <a:ext cx="30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Navigation et formulaires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 13"/>
          <p:cNvSpPr/>
          <p:nvPr/>
        </p:nvSpPr>
        <p:spPr>
          <a:xfrm>
            <a:off x="8399160" y="2060280"/>
            <a:ext cx="3031920" cy="32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Utilisation de liens, boutons, labels et champs de formulaire standards pour faciliter la navigation et la saisie.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hape 14"/>
          <p:cNvSpPr/>
          <p:nvPr/>
        </p:nvSpPr>
        <p:spPr>
          <a:xfrm>
            <a:off x="502920" y="5943600"/>
            <a:ext cx="11184120" cy="546840"/>
          </a:xfrm>
          <a:prstGeom prst="roundRect">
            <a:avLst>
              <a:gd name="adj" fmla="val 13333"/>
            </a:avLst>
          </a:prstGeom>
          <a:solidFill>
            <a:srgbClr val="fbeddd"/>
          </a:solidFill>
          <a:ln w="12600">
            <a:solidFill>
              <a:srgbClr val="f0d5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45" name="Text 15"/>
          <p:cNvSpPr/>
          <p:nvPr/>
        </p:nvSpPr>
        <p:spPr>
          <a:xfrm>
            <a:off x="777240" y="5943600"/>
            <a:ext cx="106354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6b4a1e"/>
                </a:solidFill>
                <a:latin typeface="Calibri"/>
                <a:ea typeface="Calibri"/>
              </a:rPr>
              <a:t>Bonnes pratiques d’accessibilité prises en compte lors du développement, sans audit RGAA formel.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35"/>
          <p:cNvSpPr/>
          <p:nvPr/>
        </p:nvSpPr>
        <p:spPr>
          <a:xfrm>
            <a:off x="0" y="0"/>
            <a:ext cx="12189960" cy="1049760"/>
          </a:xfrm>
          <a:prstGeom prst="rect">
            <a:avLst/>
          </a:prstGeom>
          <a:solidFill>
            <a:srgbClr val="1f5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47" name="Text 69"/>
          <p:cNvSpPr/>
          <p:nvPr/>
        </p:nvSpPr>
        <p:spPr>
          <a:xfrm>
            <a:off x="504000" y="38880"/>
            <a:ext cx="36558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287" strike="noStrike">
                <a:solidFill>
                  <a:srgbClr val="d9822b"/>
                </a:solidFill>
                <a:latin typeface="Calibri"/>
                <a:ea typeface="Calibri"/>
              </a:rPr>
              <a:t>PARTIE 2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70"/>
          <p:cNvSpPr/>
          <p:nvPr/>
        </p:nvSpPr>
        <p:spPr>
          <a:xfrm>
            <a:off x="502920" y="395640"/>
            <a:ext cx="944676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ormorant Garamond"/>
                <a:ea typeface="Cormorant Garamond"/>
              </a:rPr>
              <a:t>Accessibilité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 71"/>
          <p:cNvSpPr/>
          <p:nvPr/>
        </p:nvSpPr>
        <p:spPr>
          <a:xfrm>
            <a:off x="3130920" y="695880"/>
            <a:ext cx="67327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cfe6cf"/>
                </a:solidFill>
                <a:latin typeface="Calibri"/>
                <a:ea typeface="Calibri"/>
              </a:rPr>
              <a:t>sémantique HTML, interface navigation et formulaire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Rounded Rectangle 28"/>
          <p:cNvSpPr/>
          <p:nvPr/>
        </p:nvSpPr>
        <p:spPr>
          <a:xfrm>
            <a:off x="759240" y="2844000"/>
            <a:ext cx="3020760" cy="2833200"/>
          </a:xfrm>
          <a:prstGeom prst="roundRect">
            <a:avLst>
              <a:gd name="adj" fmla="val 16667"/>
            </a:avLst>
          </a:prstGeom>
          <a:solidFill>
            <a:srgbClr val="1c211d"/>
          </a:solidFill>
          <a:ln w="12600">
            <a:solidFill>
              <a:srgbClr val="1c211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4520" rIns="109800" tIns="128160" bIns="45000" anchor="ctr">
            <a:noAutofit/>
          </a:bodyPr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&lt;header&gt;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&lt;nav&gt;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&lt;!-- menu de navigation --&gt;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&lt;/nav&gt;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&lt;/header&gt;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&lt;main&gt;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{% block body %}{% endblock %}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&lt;/main&gt;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&lt;footer&gt;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&lt;!-- pied de page --&gt;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&lt;/footer&gt;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1" name="" descr=""/>
          <p:cNvPicPr/>
          <p:nvPr/>
        </p:nvPicPr>
        <p:blipFill>
          <a:blip r:embed="rId1"/>
          <a:stretch/>
        </p:blipFill>
        <p:spPr>
          <a:xfrm>
            <a:off x="5395680" y="2700000"/>
            <a:ext cx="1355400" cy="3013200"/>
          </a:xfrm>
          <a:prstGeom prst="rect">
            <a:avLst/>
          </a:prstGeom>
          <a:ln w="0">
            <a:noFill/>
          </a:ln>
        </p:spPr>
      </p:pic>
      <p:sp>
        <p:nvSpPr>
          <p:cNvPr id="352" name="Rounded Rectangle 29"/>
          <p:cNvSpPr/>
          <p:nvPr/>
        </p:nvSpPr>
        <p:spPr>
          <a:xfrm>
            <a:off x="8427600" y="2844000"/>
            <a:ext cx="3020760" cy="2833200"/>
          </a:xfrm>
          <a:prstGeom prst="roundRect">
            <a:avLst>
              <a:gd name="adj" fmla="val 16667"/>
            </a:avLst>
          </a:prstGeom>
          <a:solidFill>
            <a:srgbClr val="1c211d"/>
          </a:solidFill>
          <a:ln w="12600">
            <a:solidFill>
              <a:srgbClr val="1c211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4520" rIns="109800" tIns="128160" bIns="45000" anchor="ctr">
            <a:noAutofit/>
          </a:bodyPr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HTML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&lt;label for="email"&gt;Adresse email&lt;/label&gt;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&lt;input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type="email"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id="email"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name="email"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required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&gt;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Text 3"/>
          <p:cNvSpPr/>
          <p:nvPr/>
        </p:nvSpPr>
        <p:spPr>
          <a:xfrm>
            <a:off x="457200" y="647388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2e7f32"/>
                </a:solidFill>
                <a:latin typeface="Calibri"/>
                <a:ea typeface="Calibri"/>
              </a:rPr>
              <a:t>2. Conception du Front-end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 4"/>
          <p:cNvSpPr/>
          <p:nvPr/>
        </p:nvSpPr>
        <p:spPr>
          <a:xfrm>
            <a:off x="11277360" y="647388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5"/>
          <p:cNvSpPr/>
          <p:nvPr/>
        </p:nvSpPr>
        <p:spPr>
          <a:xfrm>
            <a:off x="502920" y="1645920"/>
            <a:ext cx="5454000" cy="40215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56" name="Text 6"/>
          <p:cNvSpPr/>
          <p:nvPr/>
        </p:nvSpPr>
        <p:spPr>
          <a:xfrm>
            <a:off x="758880" y="1901880"/>
            <a:ext cx="4942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Erreurs utilisateur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 7"/>
          <p:cNvSpPr/>
          <p:nvPr/>
        </p:nvSpPr>
        <p:spPr>
          <a:xfrm>
            <a:off x="758880" y="2377440"/>
            <a:ext cx="4942080" cy="30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Affichage de messages clairs lorsqu’un formulaire contient une erreur, sans obliger l’utilisateur à recommencer toute sa saisie.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8"/>
          <p:cNvSpPr/>
          <p:nvPr/>
        </p:nvSpPr>
        <p:spPr>
          <a:xfrm>
            <a:off x="6233040" y="1645920"/>
            <a:ext cx="5454000" cy="40215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59" name="Text 9"/>
          <p:cNvSpPr/>
          <p:nvPr/>
        </p:nvSpPr>
        <p:spPr>
          <a:xfrm>
            <a:off x="6489000" y="1901880"/>
            <a:ext cx="4942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Validation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Text 10"/>
          <p:cNvSpPr/>
          <p:nvPr/>
        </p:nvSpPr>
        <p:spPr>
          <a:xfrm>
            <a:off x="6489000" y="2377440"/>
            <a:ext cx="4942080" cy="30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Validation côté serveur avec Symfony : champs obligatoires, adresse email unique et contrôle des données saisies;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11"/>
          <p:cNvSpPr/>
          <p:nvPr/>
        </p:nvSpPr>
        <p:spPr>
          <a:xfrm>
            <a:off x="502920" y="5852160"/>
            <a:ext cx="11184120" cy="546840"/>
          </a:xfrm>
          <a:prstGeom prst="roundRect">
            <a:avLst>
              <a:gd name="adj" fmla="val 13333"/>
            </a:avLst>
          </a:prstGeom>
          <a:solidFill>
            <a:srgbClr val="fbeddd"/>
          </a:solidFill>
          <a:ln w="12600">
            <a:solidFill>
              <a:srgbClr val="f0d5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62" name="Text 12"/>
          <p:cNvSpPr/>
          <p:nvPr/>
        </p:nvSpPr>
        <p:spPr>
          <a:xfrm>
            <a:off x="777240" y="5852160"/>
            <a:ext cx="106354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6b4a1e"/>
                </a:solidFill>
                <a:latin typeface="Calibri"/>
                <a:ea typeface="Calibri"/>
              </a:rPr>
              <a:t>Les données sont contrôlées côté serveur avant leur enregistrement en base de données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37"/>
          <p:cNvSpPr/>
          <p:nvPr/>
        </p:nvSpPr>
        <p:spPr>
          <a:xfrm>
            <a:off x="0" y="0"/>
            <a:ext cx="12189960" cy="1049760"/>
          </a:xfrm>
          <a:prstGeom prst="rect">
            <a:avLst/>
          </a:prstGeom>
          <a:solidFill>
            <a:srgbClr val="1f5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64" name="Text 73"/>
          <p:cNvSpPr/>
          <p:nvPr/>
        </p:nvSpPr>
        <p:spPr>
          <a:xfrm>
            <a:off x="504000" y="38880"/>
            <a:ext cx="36558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287" strike="noStrike">
                <a:solidFill>
                  <a:srgbClr val="d9822b"/>
                </a:solidFill>
                <a:latin typeface="Calibri"/>
                <a:ea typeface="Calibri"/>
              </a:rPr>
              <a:t>PARTIE 2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 74"/>
          <p:cNvSpPr/>
          <p:nvPr/>
        </p:nvSpPr>
        <p:spPr>
          <a:xfrm>
            <a:off x="502920" y="395640"/>
            <a:ext cx="944676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ormorant Garamond"/>
                <a:ea typeface="Cormorant Garamond"/>
              </a:rPr>
              <a:t>UX — Gestion des erreurs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 75"/>
          <p:cNvSpPr/>
          <p:nvPr/>
        </p:nvSpPr>
        <p:spPr>
          <a:xfrm>
            <a:off x="5758920" y="695880"/>
            <a:ext cx="48967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cfe6cf"/>
                </a:solidFill>
                <a:latin typeface="Calibri"/>
                <a:ea typeface="Calibri"/>
              </a:rPr>
              <a:t>Des messages compréhensibles pour guider l’utilisateur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Rounded Rectangle 32"/>
          <p:cNvSpPr/>
          <p:nvPr/>
        </p:nvSpPr>
        <p:spPr>
          <a:xfrm>
            <a:off x="6525000" y="3142440"/>
            <a:ext cx="4859640" cy="2077200"/>
          </a:xfrm>
          <a:prstGeom prst="roundRect">
            <a:avLst>
              <a:gd name="adj" fmla="val 16667"/>
            </a:avLst>
          </a:prstGeom>
          <a:solidFill>
            <a:srgbClr val="1c211d"/>
          </a:solidFill>
          <a:ln w="12600">
            <a:solidFill>
              <a:srgbClr val="1c211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4520" rIns="109800" tIns="128160" bIns="45000" anchor="ctr">
            <a:noAutofit/>
          </a:bodyPr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#[Assert\NotBlank(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message: "Le titre de la recette est obligatoire."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)]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private ?string $titre = null;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#[Assert\Positive(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message: "Le nombre de personnes doit être supérieur à zéro."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)]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private ?int $nombrePersonnes = null;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68" name="" descr=""/>
          <p:cNvPicPr/>
          <p:nvPr/>
        </p:nvPicPr>
        <p:blipFill>
          <a:blip r:embed="rId1"/>
          <a:stretch/>
        </p:blipFill>
        <p:spPr>
          <a:xfrm>
            <a:off x="767160" y="2880000"/>
            <a:ext cx="4933800" cy="2650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Rectangle 1"/>
          <p:cNvSpPr/>
          <p:nvPr/>
        </p:nvSpPr>
        <p:spPr>
          <a:xfrm>
            <a:off x="0" y="0"/>
            <a:ext cx="12191040" cy="712080"/>
          </a:xfrm>
          <a:prstGeom prst="rect">
            <a:avLst/>
          </a:prstGeom>
          <a:solidFill>
            <a:srgbClr val="1c6031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0" name="TextBox 2"/>
          <p:cNvSpPr/>
          <p:nvPr/>
        </p:nvSpPr>
        <p:spPr>
          <a:xfrm>
            <a:off x="411480" y="109800"/>
            <a:ext cx="192780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700" spc="-1" strike="noStrike">
                <a:solidFill>
                  <a:srgbClr val="e08e2c"/>
                </a:solidFill>
                <a:latin typeface="Aptos"/>
                <a:ea typeface="DejaVu Sans"/>
              </a:rPr>
              <a:t>PARTIE 2 — EXEMPLE CONCRET — CODE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Box 3"/>
          <p:cNvSpPr/>
          <p:nvPr/>
        </p:nvSpPr>
        <p:spPr>
          <a:xfrm>
            <a:off x="411480" y="255960"/>
            <a:ext cx="795420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2200" spc="-1" strike="noStrike">
                <a:solidFill>
                  <a:srgbClr val="ffffff"/>
                </a:solidFill>
                <a:latin typeface="Aptos"/>
                <a:ea typeface="DejaVu Sans"/>
              </a:rPr>
              <a:t>Formulaire — validation serveur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extBox 4"/>
          <p:cNvSpPr/>
          <p:nvPr/>
        </p:nvSpPr>
        <p:spPr>
          <a:xfrm>
            <a:off x="8412480" y="274320"/>
            <a:ext cx="319932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Compétences 4 et 7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Box 5"/>
          <p:cNvSpPr/>
          <p:nvPr/>
        </p:nvSpPr>
        <p:spPr>
          <a:xfrm>
            <a:off x="411480" y="6565320"/>
            <a:ext cx="27421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600" spc="-1" strike="noStrike">
                <a:solidFill>
                  <a:srgbClr val="267837"/>
                </a:solidFill>
                <a:latin typeface="Aptos"/>
                <a:ea typeface="DejaVu Sans"/>
              </a:rPr>
              <a:t>AU FIL DES SAISONS  •  DWWM 2026</a:t>
            </a:r>
            <a:endParaRPr b="0" lang="fr-FR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Rounded Rectangle 6"/>
          <p:cNvSpPr/>
          <p:nvPr/>
        </p:nvSpPr>
        <p:spPr>
          <a:xfrm>
            <a:off x="457200" y="1868760"/>
            <a:ext cx="1919160" cy="291600"/>
          </a:xfrm>
          <a:prstGeom prst="roundRect">
            <a:avLst>
              <a:gd name="adj" fmla="val 16667"/>
            </a:avLst>
          </a:prstGeom>
          <a:solidFill>
            <a:srgbClr val="1c6031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5" name="TextBox 7"/>
          <p:cNvSpPr/>
          <p:nvPr/>
        </p:nvSpPr>
        <p:spPr>
          <a:xfrm>
            <a:off x="530280" y="1919160"/>
            <a:ext cx="17730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EXTRAIT DE CODE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Rounded Rectangle 8"/>
          <p:cNvSpPr/>
          <p:nvPr/>
        </p:nvSpPr>
        <p:spPr>
          <a:xfrm>
            <a:off x="457200" y="2360160"/>
            <a:ext cx="5622480" cy="2879280"/>
          </a:xfrm>
          <a:prstGeom prst="roundRect">
            <a:avLst>
              <a:gd name="adj" fmla="val 16667"/>
            </a:avLst>
          </a:prstGeom>
          <a:solidFill>
            <a:srgbClr val="1c211d"/>
          </a:solidFill>
          <a:ln w="12600">
            <a:solidFill>
              <a:srgbClr val="1c211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4520" rIns="109800" tIns="128160" bIns="45000" anchor="ctr">
            <a:noAutofit/>
          </a:bodyPr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f4f7f2"/>
                </a:solidFill>
                <a:latin typeface="Arial"/>
                <a:ea typeface="DejaVu Sans"/>
              </a:rPr>
              <a:t>#[Assert\NotBlank(</a:t>
            </a:r>
            <a:br>
              <a:rPr sz="1000"/>
            </a:br>
            <a:r>
              <a:rPr b="0" lang="fr-FR" sz="1000" spc="-1" strike="noStrike">
                <a:solidFill>
                  <a:srgbClr val="f4f7f2"/>
                </a:solidFill>
                <a:latin typeface="Arial"/>
                <a:ea typeface="DejaVu Sans"/>
              </a:rPr>
              <a:t> message: 'Le titre de la recette est obligatoire.'</a:t>
            </a:r>
            <a:br>
              <a:rPr sz="1000"/>
            </a:br>
            <a:r>
              <a:rPr b="0" lang="fr-FR" sz="1000" spc="-1" strike="noStrike">
                <a:solidFill>
                  <a:srgbClr val="f4f7f2"/>
                </a:solidFill>
                <a:latin typeface="Arial"/>
                <a:ea typeface="DejaVu Sans"/>
              </a:rPr>
              <a:t>)]</a:t>
            </a:r>
            <a:br>
              <a:rPr sz="1000"/>
            </a:br>
            <a:r>
              <a:rPr b="0" lang="fr-FR" sz="1000" spc="-1" strike="noStrike">
                <a:solidFill>
                  <a:srgbClr val="f4f7f2"/>
                </a:solidFill>
                <a:latin typeface="Arial"/>
                <a:ea typeface="DejaVu Sans"/>
              </a:rPr>
              <a:t>private ?string $titre = null;</a:t>
            </a:r>
            <a:br>
              <a:rPr sz="1000"/>
            </a:br>
            <a:br>
              <a:rPr sz="1000"/>
            </a:br>
            <a:r>
              <a:rPr b="0" lang="fr-FR" sz="1000" spc="-1" strike="noStrike">
                <a:solidFill>
                  <a:srgbClr val="f4f7f2"/>
                </a:solidFill>
                <a:latin typeface="Arial"/>
                <a:ea typeface="DejaVu Sans"/>
              </a:rPr>
              <a:t>#[Assert\Positive(</a:t>
            </a:r>
            <a:br>
              <a:rPr sz="1000"/>
            </a:br>
            <a:r>
              <a:rPr b="0" lang="fr-FR" sz="1000" spc="-1" strike="noStrike">
                <a:solidFill>
                  <a:srgbClr val="f4f7f2"/>
                </a:solidFill>
                <a:latin typeface="Arial"/>
                <a:ea typeface="DejaVu Sans"/>
              </a:rPr>
              <a:t> message: 'Le nombre de personnes doit être supérieur à zéro.'</a:t>
            </a:r>
            <a:br>
              <a:rPr sz="1000"/>
            </a:br>
            <a:r>
              <a:rPr b="0" lang="fr-FR" sz="1000" spc="-1" strike="noStrike">
                <a:solidFill>
                  <a:srgbClr val="f4f7f2"/>
                </a:solidFill>
                <a:latin typeface="Arial"/>
                <a:ea typeface="DejaVu Sans"/>
              </a:rPr>
              <a:t>)]</a:t>
            </a:r>
            <a:br>
              <a:rPr sz="1000"/>
            </a:br>
            <a:r>
              <a:rPr b="0" lang="fr-FR" sz="1000" spc="-1" strike="noStrike">
                <a:solidFill>
                  <a:srgbClr val="f4f7f2"/>
                </a:solidFill>
                <a:latin typeface="Arial"/>
                <a:ea typeface="DejaVu Sans"/>
              </a:rPr>
              <a:t>private ?int $nombrePersonnes = null;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Rounded Rectangle 9"/>
          <p:cNvSpPr/>
          <p:nvPr/>
        </p:nvSpPr>
        <p:spPr>
          <a:xfrm>
            <a:off x="6355080" y="1868760"/>
            <a:ext cx="2010600" cy="291600"/>
          </a:xfrm>
          <a:prstGeom prst="roundRect">
            <a:avLst>
              <a:gd name="adj" fmla="val 16667"/>
            </a:avLst>
          </a:prstGeom>
          <a:solidFill>
            <a:srgbClr val="e08e2c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8" name="TextBox 10"/>
          <p:cNvSpPr/>
          <p:nvPr/>
        </p:nvSpPr>
        <p:spPr>
          <a:xfrm>
            <a:off x="6428160" y="1919160"/>
            <a:ext cx="18644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CE QUE ÇA PROUVE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Rounded Rectangle 11"/>
          <p:cNvSpPr/>
          <p:nvPr/>
        </p:nvSpPr>
        <p:spPr>
          <a:xfrm>
            <a:off x="6355080" y="2216160"/>
            <a:ext cx="5375520" cy="1324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8f1e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0" name="TextBox 12"/>
          <p:cNvSpPr/>
          <p:nvPr/>
        </p:nvSpPr>
        <p:spPr>
          <a:xfrm>
            <a:off x="6537960" y="2417400"/>
            <a:ext cx="4982400" cy="90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b="0" lang="fr-FR" sz="1200" spc="-1" strike="noStrike">
                <a:solidFill>
                  <a:srgbClr val="232b24"/>
                </a:solidFill>
                <a:latin typeface="Aptos"/>
                <a:ea typeface="DejaVu Sans"/>
              </a:rPr>
              <a:t>• </a:t>
            </a:r>
            <a:r>
              <a:rPr b="0" lang="fr-FR" sz="1200" spc="-1" strike="noStrike">
                <a:solidFill>
                  <a:srgbClr val="232b24"/>
                </a:solidFill>
                <a:latin typeface="Aptos"/>
                <a:ea typeface="DejaVu Sans"/>
              </a:rPr>
              <a:t>Les champs obligatoires sont vérifiés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b="0" lang="fr-FR" sz="1200" spc="-1" strike="noStrike">
                <a:solidFill>
                  <a:srgbClr val="232b24"/>
                </a:solidFill>
                <a:latin typeface="Aptos"/>
                <a:ea typeface="DejaVu Sans"/>
              </a:rPr>
              <a:t>• </a:t>
            </a:r>
            <a:r>
              <a:rPr b="0" lang="fr-FR" sz="1200" spc="-1" strike="noStrike">
                <a:solidFill>
                  <a:srgbClr val="232b24"/>
                </a:solidFill>
                <a:latin typeface="Aptos"/>
                <a:ea typeface="DejaVu Sans"/>
              </a:rPr>
              <a:t>Les valeurs incorrectes sont refusées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b="0" lang="fr-FR" sz="1200" spc="-1" strike="noStrike">
                <a:solidFill>
                  <a:srgbClr val="232b24"/>
                </a:solidFill>
                <a:latin typeface="Aptos"/>
                <a:ea typeface="DejaVu Sans"/>
              </a:rPr>
              <a:t>• </a:t>
            </a:r>
            <a:r>
              <a:rPr b="0" lang="fr-FR" sz="1200" spc="-1" strike="noStrike">
                <a:solidFill>
                  <a:srgbClr val="232b24"/>
                </a:solidFill>
                <a:latin typeface="Aptos"/>
                <a:ea typeface="DejaVu Sans"/>
              </a:rPr>
              <a:t>Un message explique à l'utilisateur ce qu'il doit corriger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Rounded Rectangle 13"/>
          <p:cNvSpPr/>
          <p:nvPr/>
        </p:nvSpPr>
        <p:spPr>
          <a:xfrm>
            <a:off x="6355080" y="3752280"/>
            <a:ext cx="1919160" cy="291600"/>
          </a:xfrm>
          <a:prstGeom prst="roundRect">
            <a:avLst>
              <a:gd name="adj" fmla="val 16667"/>
            </a:avLst>
          </a:prstGeom>
          <a:solidFill>
            <a:srgbClr val="1c6031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2" name="TextBox 14"/>
          <p:cNvSpPr/>
          <p:nvPr/>
        </p:nvSpPr>
        <p:spPr>
          <a:xfrm>
            <a:off x="6428160" y="3802680"/>
            <a:ext cx="17730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CE QUE CA DIT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Rounded Rectangle 15"/>
          <p:cNvSpPr/>
          <p:nvPr/>
        </p:nvSpPr>
        <p:spPr>
          <a:xfrm>
            <a:off x="6355080" y="4099680"/>
            <a:ext cx="5375520" cy="1507680"/>
          </a:xfrm>
          <a:prstGeom prst="roundRect">
            <a:avLst>
              <a:gd name="adj" fmla="val 16667"/>
            </a:avLst>
          </a:prstGeom>
          <a:solidFill>
            <a:srgbClr val="f7faf4"/>
          </a:solidFill>
          <a:ln w="12600">
            <a:solidFill>
              <a:srgbClr val="e8f1e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4" name="TextBox 16"/>
          <p:cNvSpPr/>
          <p:nvPr/>
        </p:nvSpPr>
        <p:spPr>
          <a:xfrm>
            <a:off x="6565320" y="4319280"/>
            <a:ext cx="49183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232b24"/>
                </a:solidFill>
                <a:latin typeface="Aptos"/>
                <a:ea typeface="DejaVu Sans"/>
              </a:rPr>
              <a:t>« Symfony vérifie les règles de validation avant l’enregistrement. Si une donnée n’est pas valide, un message d’erreur est affiché et la recette n’est pas enregistrée. »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Text 3"/>
          <p:cNvSpPr/>
          <p:nvPr/>
        </p:nvSpPr>
        <p:spPr>
          <a:xfrm>
            <a:off x="457200" y="647388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2e7f32"/>
                </a:solidFill>
                <a:latin typeface="Calibri"/>
                <a:ea typeface="Calibri"/>
              </a:rPr>
              <a:t>2. Conception du Front-end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 4"/>
          <p:cNvSpPr/>
          <p:nvPr/>
        </p:nvSpPr>
        <p:spPr>
          <a:xfrm>
            <a:off x="11277360" y="647388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Shape 5"/>
          <p:cNvSpPr/>
          <p:nvPr/>
        </p:nvSpPr>
        <p:spPr>
          <a:xfrm>
            <a:off x="502920" y="1508760"/>
            <a:ext cx="3543840" cy="420444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88" name="Text 6"/>
          <p:cNvSpPr/>
          <p:nvPr/>
        </p:nvSpPr>
        <p:spPr>
          <a:xfrm>
            <a:off x="758880" y="1764720"/>
            <a:ext cx="30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Échappement Twig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 7"/>
          <p:cNvSpPr/>
          <p:nvPr/>
        </p:nvSpPr>
        <p:spPr>
          <a:xfrm>
            <a:off x="758880" y="2240280"/>
            <a:ext cx="3031920" cy="32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Les variables affichées sont automatiquement échappées, ce qui limite les risques d'injection XSS.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Exemple :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8"/>
          <p:cNvSpPr/>
          <p:nvPr/>
        </p:nvSpPr>
        <p:spPr>
          <a:xfrm>
            <a:off x="4322880" y="1508760"/>
            <a:ext cx="3543840" cy="420444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91" name="Text 9"/>
          <p:cNvSpPr/>
          <p:nvPr/>
        </p:nvSpPr>
        <p:spPr>
          <a:xfrm>
            <a:off x="4578840" y="1764720"/>
            <a:ext cx="30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Jetons CSRF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10"/>
          <p:cNvSpPr/>
          <p:nvPr/>
        </p:nvSpPr>
        <p:spPr>
          <a:xfrm>
            <a:off x="4578840" y="2240280"/>
            <a:ext cx="3031920" cy="32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Les formulaires Symfony utilisent une protection CSRF pour limiter les actions envoyées à l’insu de l’utilisateur.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Dans security.yaml :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11"/>
          <p:cNvSpPr/>
          <p:nvPr/>
        </p:nvSpPr>
        <p:spPr>
          <a:xfrm>
            <a:off x="8143200" y="1508760"/>
            <a:ext cx="3543840" cy="420444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94" name="Text 12"/>
          <p:cNvSpPr/>
          <p:nvPr/>
        </p:nvSpPr>
        <p:spPr>
          <a:xfrm>
            <a:off x="8399160" y="1764720"/>
            <a:ext cx="30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Mots de passe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 13"/>
          <p:cNvSpPr/>
          <p:nvPr/>
        </p:nvSpPr>
        <p:spPr>
          <a:xfrm>
            <a:off x="8399160" y="2240280"/>
            <a:ext cx="3031920" cy="32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Les mots de passe ne sont jamais stockés en clair : ils sont hachés avant leur enregistrement en base de données.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Dans security.yaml :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38"/>
          <p:cNvSpPr/>
          <p:nvPr/>
        </p:nvSpPr>
        <p:spPr>
          <a:xfrm>
            <a:off x="0" y="0"/>
            <a:ext cx="12189960" cy="1049760"/>
          </a:xfrm>
          <a:prstGeom prst="rect">
            <a:avLst/>
          </a:prstGeom>
          <a:solidFill>
            <a:srgbClr val="1f5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97" name="Text 77"/>
          <p:cNvSpPr/>
          <p:nvPr/>
        </p:nvSpPr>
        <p:spPr>
          <a:xfrm>
            <a:off x="504000" y="38880"/>
            <a:ext cx="36558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287" strike="noStrike">
                <a:solidFill>
                  <a:srgbClr val="d9822b"/>
                </a:solidFill>
                <a:latin typeface="Calibri"/>
                <a:ea typeface="Calibri"/>
              </a:rPr>
              <a:t>PARTIE 2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 78"/>
          <p:cNvSpPr/>
          <p:nvPr/>
        </p:nvSpPr>
        <p:spPr>
          <a:xfrm>
            <a:off x="502920" y="395640"/>
            <a:ext cx="944676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ormorant Garamond"/>
                <a:ea typeface="Cormorant Garamond"/>
              </a:rPr>
              <a:t>Sécurisation des données et des formulaires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 79"/>
          <p:cNvSpPr/>
          <p:nvPr/>
        </p:nvSpPr>
        <p:spPr>
          <a:xfrm>
            <a:off x="9574920" y="695880"/>
            <a:ext cx="19447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cfe6cf"/>
                </a:solidFill>
                <a:latin typeface="Calibri"/>
                <a:ea typeface="Calibri"/>
              </a:rPr>
              <a:t>Symfony, Twig et security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Rounded Rectangle 19"/>
          <p:cNvSpPr/>
          <p:nvPr/>
        </p:nvSpPr>
        <p:spPr>
          <a:xfrm>
            <a:off x="745200" y="3332160"/>
            <a:ext cx="2962440" cy="699480"/>
          </a:xfrm>
          <a:prstGeom prst="roundRect">
            <a:avLst>
              <a:gd name="adj" fmla="val 16667"/>
            </a:avLst>
          </a:prstGeom>
          <a:solidFill>
            <a:srgbClr val="1c211d"/>
          </a:solidFill>
          <a:ln w="12600">
            <a:solidFill>
              <a:srgbClr val="1c211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4520" rIns="109800" tIns="128160" bIns="45000" anchor="ctr">
            <a:noAutofit/>
          </a:bodyPr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{{ recette.titre }}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Rounded Rectangle 20"/>
          <p:cNvSpPr/>
          <p:nvPr/>
        </p:nvSpPr>
        <p:spPr>
          <a:xfrm>
            <a:off x="8413560" y="3332520"/>
            <a:ext cx="2962440" cy="1887120"/>
          </a:xfrm>
          <a:prstGeom prst="roundRect">
            <a:avLst>
              <a:gd name="adj" fmla="val 16667"/>
            </a:avLst>
          </a:prstGeom>
          <a:solidFill>
            <a:srgbClr val="1c211d"/>
          </a:solidFill>
          <a:ln w="12600">
            <a:solidFill>
              <a:srgbClr val="1c211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4520" rIns="109800" tIns="128160" bIns="45000" anchor="ctr">
            <a:noAutofit/>
          </a:bodyPr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security: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password_hashers: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Symfony\Component\Security\                Core\User\                   PasswordAuthenticatedUserInterface: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           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algorithm: auto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Rounded Rectangle 31"/>
          <p:cNvSpPr/>
          <p:nvPr/>
        </p:nvSpPr>
        <p:spPr>
          <a:xfrm>
            <a:off x="4597560" y="3332520"/>
            <a:ext cx="2962440" cy="699480"/>
          </a:xfrm>
          <a:prstGeom prst="roundRect">
            <a:avLst>
              <a:gd name="adj" fmla="val 16667"/>
            </a:avLst>
          </a:prstGeom>
          <a:solidFill>
            <a:srgbClr val="1c211d"/>
          </a:solidFill>
          <a:ln w="12600">
            <a:solidFill>
              <a:srgbClr val="1c211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4520" rIns="109800" tIns="128160" bIns="45000" anchor="ctr">
            <a:noAutofit/>
          </a:bodyPr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form_login: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enable_csrf: true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Text 3"/>
          <p:cNvSpPr/>
          <p:nvPr/>
        </p:nvSpPr>
        <p:spPr>
          <a:xfrm>
            <a:off x="457200" y="647388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2e7f32"/>
                </a:solidFill>
                <a:latin typeface="Calibri"/>
                <a:ea typeface="Calibri"/>
              </a:rPr>
              <a:t>2. Conception du Front-end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Shape 5"/>
          <p:cNvSpPr/>
          <p:nvPr/>
        </p:nvSpPr>
        <p:spPr>
          <a:xfrm>
            <a:off x="502920" y="1260000"/>
            <a:ext cx="3543840" cy="522000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05" name="Text 6"/>
          <p:cNvSpPr/>
          <p:nvPr/>
        </p:nvSpPr>
        <p:spPr>
          <a:xfrm>
            <a:off x="758880" y="1433880"/>
            <a:ext cx="30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Prototypage dans Figma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Text 7"/>
          <p:cNvSpPr/>
          <p:nvPr/>
        </p:nvSpPr>
        <p:spPr>
          <a:xfrm>
            <a:off x="758880" y="1909440"/>
            <a:ext cx="3031920" cy="30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Difficulté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 : Créer une navigation cohérente entre les écrans desktop et mobile.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Solution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 : Création de composants réutilisables et simulation des parcours utilisateurs dans figma.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Résultat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 : Un prototype fonctionnel permettant de tester la navigation avant le développement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Shape 8"/>
          <p:cNvSpPr/>
          <p:nvPr/>
        </p:nvSpPr>
        <p:spPr>
          <a:xfrm>
            <a:off x="4322880" y="1260000"/>
            <a:ext cx="3543840" cy="521964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08" name="Text 9"/>
          <p:cNvSpPr/>
          <p:nvPr/>
        </p:nvSpPr>
        <p:spPr>
          <a:xfrm>
            <a:off x="4578840" y="1433880"/>
            <a:ext cx="30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Identité visuelle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 10"/>
          <p:cNvSpPr/>
          <p:nvPr/>
        </p:nvSpPr>
        <p:spPr>
          <a:xfrm>
            <a:off x="4578840" y="1909440"/>
            <a:ext cx="3031920" cy="30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Difficulté :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 Conserver une identité graphique cohérente malgré les différentes saisons et catégories de produits.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Solution :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 Création d’une charte commune et déclinaison des éléments visuels selon les saisons.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Cette charte se situe dans </a:t>
            </a:r>
            <a:r>
              <a:rPr b="1" i="1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variables.css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Shape 11"/>
          <p:cNvSpPr/>
          <p:nvPr/>
        </p:nvSpPr>
        <p:spPr>
          <a:xfrm>
            <a:off x="8143200" y="1260000"/>
            <a:ext cx="3543840" cy="521964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11" name="Text 12"/>
          <p:cNvSpPr/>
          <p:nvPr/>
        </p:nvSpPr>
        <p:spPr>
          <a:xfrm>
            <a:off x="8399160" y="1433880"/>
            <a:ext cx="30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Responsive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 13"/>
          <p:cNvSpPr/>
          <p:nvPr/>
        </p:nvSpPr>
        <p:spPr>
          <a:xfrm>
            <a:off x="8399160" y="1729440"/>
            <a:ext cx="3031920" cy="30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Difficulté 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: Adapter les cartes, formulaires et la navigation aux différentes tailles d’écran.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Solution : 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Utilisation de CSS Grid et de media queries pour réorganiser les éléments selon la largeur de l’écran.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Résultat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 : La navigation s’adapte automatiquement à la taille de l’écran pour rester sur desktop et mobile.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Shape 40"/>
          <p:cNvSpPr/>
          <p:nvPr/>
        </p:nvSpPr>
        <p:spPr>
          <a:xfrm>
            <a:off x="0" y="0"/>
            <a:ext cx="12189960" cy="1049760"/>
          </a:xfrm>
          <a:prstGeom prst="rect">
            <a:avLst/>
          </a:prstGeom>
          <a:solidFill>
            <a:srgbClr val="1f5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14" name="Text 80"/>
          <p:cNvSpPr/>
          <p:nvPr/>
        </p:nvSpPr>
        <p:spPr>
          <a:xfrm>
            <a:off x="504000" y="38880"/>
            <a:ext cx="36558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287" strike="noStrike">
                <a:solidFill>
                  <a:srgbClr val="d9822b"/>
                </a:solidFill>
                <a:latin typeface="Calibri"/>
                <a:ea typeface="Calibri"/>
              </a:rPr>
              <a:t>PARTIE 2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Text 81"/>
          <p:cNvSpPr/>
          <p:nvPr/>
        </p:nvSpPr>
        <p:spPr>
          <a:xfrm>
            <a:off x="502920" y="395640"/>
            <a:ext cx="944676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ormorant Garamond"/>
                <a:ea typeface="Cormorant Garamond"/>
              </a:rPr>
              <a:t>Contraintes rencontrées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Text 82"/>
          <p:cNvSpPr/>
          <p:nvPr/>
        </p:nvSpPr>
        <p:spPr>
          <a:xfrm>
            <a:off x="5542920" y="695880"/>
            <a:ext cx="11167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cfe6cf"/>
                </a:solidFill>
                <a:latin typeface="Calibri"/>
                <a:ea typeface="Calibri"/>
              </a:rPr>
              <a:t>Front-end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"/>
          <p:cNvSpPr/>
          <p:nvPr/>
        </p:nvSpPr>
        <p:spPr>
          <a:xfrm>
            <a:off x="4469400" y="4542480"/>
            <a:ext cx="3285360" cy="1685160"/>
          </a:xfrm>
          <a:custGeom>
            <a:avLst/>
            <a:gdLst>
              <a:gd name="textAreaLeft" fmla="*/ 0 w 3285360"/>
              <a:gd name="textAreaRight" fmla="*/ 3285720 w 3285360"/>
              <a:gd name="textAreaTop" fmla="*/ 0 h 1685160"/>
              <a:gd name="textAreaBottom" fmla="*/ 1685520 h 1685160"/>
            </a:gdLst>
            <a:ahLst/>
            <a:rect l="textAreaLeft" t="textAreaTop" r="textAreaRight" b="textAreaBottom"/>
            <a:pathLst>
              <a:path w="9127" h="4682">
                <a:moveTo>
                  <a:pt x="0" y="4682"/>
                </a:moveTo>
                <a:cubicBezTo>
                  <a:pt x="0" y="3121"/>
                  <a:pt x="0" y="1561"/>
                  <a:pt x="0" y="0"/>
                </a:cubicBezTo>
                <a:cubicBezTo>
                  <a:pt x="3042" y="0"/>
                  <a:pt x="6085" y="0"/>
                  <a:pt x="9127" y="0"/>
                </a:cubicBezTo>
                <a:cubicBezTo>
                  <a:pt x="9127" y="1561"/>
                  <a:pt x="9127" y="3121"/>
                  <a:pt x="9127" y="4682"/>
                </a:cubicBezTo>
                <a:cubicBezTo>
                  <a:pt x="6085" y="4682"/>
                  <a:pt x="3042" y="4682"/>
                  <a:pt x="0" y="4682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Rounded Rectangle 33"/>
          <p:cNvSpPr/>
          <p:nvPr/>
        </p:nvSpPr>
        <p:spPr>
          <a:xfrm>
            <a:off x="8215200" y="4150440"/>
            <a:ext cx="3376440" cy="1177200"/>
          </a:xfrm>
          <a:prstGeom prst="roundRect">
            <a:avLst>
              <a:gd name="adj" fmla="val 16667"/>
            </a:avLst>
          </a:prstGeom>
          <a:solidFill>
            <a:srgbClr val="1c211d"/>
          </a:solidFill>
          <a:ln w="12600">
            <a:solidFill>
              <a:srgbClr val="1c211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4520" rIns="109800" tIns="128160" bIns="45000" anchor="ctr">
            <a:noAutofit/>
          </a:bodyPr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.catalogue-season-choice nav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display: grid;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grid-template-columns: repeat(5, minmax(0,       1fr));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gap: 13px;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Rounded Rectangle 34"/>
          <p:cNvSpPr/>
          <p:nvPr/>
        </p:nvSpPr>
        <p:spPr>
          <a:xfrm>
            <a:off x="8215560" y="5230440"/>
            <a:ext cx="3376440" cy="1177200"/>
          </a:xfrm>
          <a:prstGeom prst="roundRect">
            <a:avLst>
              <a:gd name="adj" fmla="val 16667"/>
            </a:avLst>
          </a:prstGeom>
          <a:solidFill>
            <a:srgbClr val="1c211d"/>
          </a:solidFill>
          <a:ln w="12600">
            <a:solidFill>
              <a:srgbClr val="1c211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4520" rIns="109800" tIns="128160" bIns="45000" anchor="ctr">
            <a:noAutofit/>
          </a:bodyPr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@media (max-width: 600px)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.catalogue-season-choice nav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grid-template-columns: repeat(2,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	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           minmax(0, 1fr));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gap: 8px;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5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Shape 0"/>
          <p:cNvSpPr/>
          <p:nvPr/>
        </p:nvSpPr>
        <p:spPr>
          <a:xfrm>
            <a:off x="9418320" y="-1463040"/>
            <a:ext cx="4204440" cy="4204440"/>
          </a:xfrm>
          <a:prstGeom prst="ellipse">
            <a:avLst/>
          </a:prstGeom>
          <a:solidFill>
            <a:srgbClr val="2e7f32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21" name="Shape 1"/>
          <p:cNvSpPr/>
          <p:nvPr/>
        </p:nvSpPr>
        <p:spPr>
          <a:xfrm>
            <a:off x="10607040" y="-548640"/>
            <a:ext cx="2741400" cy="2741400"/>
          </a:xfrm>
          <a:prstGeom prst="ellipse">
            <a:avLst/>
          </a:prstGeom>
          <a:solidFill>
            <a:srgbClr val="2e7f32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22" name="Text 2"/>
          <p:cNvSpPr/>
          <p:nvPr/>
        </p:nvSpPr>
        <p:spPr>
          <a:xfrm>
            <a:off x="640080" y="2331720"/>
            <a:ext cx="36558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287" strike="noStrike">
                <a:solidFill>
                  <a:srgbClr val="d9822b"/>
                </a:solidFill>
                <a:latin typeface="Calibri"/>
                <a:ea typeface="Calibri"/>
              </a:rPr>
              <a:t>PARTIE 3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Text 3"/>
          <p:cNvSpPr/>
          <p:nvPr/>
        </p:nvSpPr>
        <p:spPr>
          <a:xfrm>
            <a:off x="594360" y="2788920"/>
            <a:ext cx="914220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ormorant Garamond"/>
                <a:ea typeface="Cormorant Garamond"/>
              </a:rPr>
              <a:t>Développer le back-end</a:t>
            </a:r>
            <a:endParaRPr b="0" lang="fr-FR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Text 4"/>
          <p:cNvSpPr/>
          <p:nvPr/>
        </p:nvSpPr>
        <p:spPr>
          <a:xfrm>
            <a:off x="640080" y="3703320"/>
            <a:ext cx="8227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cfe6cf"/>
                </a:solidFill>
                <a:latin typeface="Calibri"/>
                <a:ea typeface="Calibri"/>
              </a:rPr>
              <a:t>Accès aux données, logique métier et sécurité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Text 5"/>
          <p:cNvSpPr/>
          <p:nvPr/>
        </p:nvSpPr>
        <p:spPr>
          <a:xfrm>
            <a:off x="11277360" y="647388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Text 3"/>
          <p:cNvSpPr/>
          <p:nvPr/>
        </p:nvSpPr>
        <p:spPr>
          <a:xfrm>
            <a:off x="457200" y="647388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2e7f32"/>
                </a:solidFill>
                <a:latin typeface="Calibri"/>
                <a:ea typeface="Calibri"/>
              </a:rPr>
              <a:t>3. Conception du Back-end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 4"/>
          <p:cNvSpPr/>
          <p:nvPr/>
        </p:nvSpPr>
        <p:spPr>
          <a:xfrm>
            <a:off x="11277360" y="647388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5"/>
          <p:cNvSpPr/>
          <p:nvPr/>
        </p:nvSpPr>
        <p:spPr>
          <a:xfrm>
            <a:off x="502920" y="1417320"/>
            <a:ext cx="3543840" cy="429588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29" name="Text 6"/>
          <p:cNvSpPr/>
          <p:nvPr/>
        </p:nvSpPr>
        <p:spPr>
          <a:xfrm>
            <a:off x="758880" y="1673280"/>
            <a:ext cx="30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Entity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Text 7"/>
          <p:cNvSpPr/>
          <p:nvPr/>
        </p:nvSpPr>
        <p:spPr>
          <a:xfrm>
            <a:off x="758880" y="2148840"/>
            <a:ext cx="3031920" cy="33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Les entités PHP représentent les données de l’application et leurs relations : utilisateurs, recettes, produits , saisons, etc, ...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Shape 8"/>
          <p:cNvSpPr/>
          <p:nvPr/>
        </p:nvSpPr>
        <p:spPr>
          <a:xfrm>
            <a:off x="4322880" y="1417320"/>
            <a:ext cx="3543840" cy="429588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32" name="Text 9"/>
          <p:cNvSpPr/>
          <p:nvPr/>
        </p:nvSpPr>
        <p:spPr>
          <a:xfrm>
            <a:off x="4578840" y="1673280"/>
            <a:ext cx="30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Repository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 10"/>
          <p:cNvSpPr/>
          <p:nvPr/>
        </p:nvSpPr>
        <p:spPr>
          <a:xfrm>
            <a:off x="4578840" y="2148840"/>
            <a:ext cx="3031920" cy="33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Les Repository Doctrine permettent de rechercher et filtrer les données enregistrées en base.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Exemple : récupère toutes les recettes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Exemple : récupère les produits d’une saison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Shape 11"/>
          <p:cNvSpPr/>
          <p:nvPr/>
        </p:nvSpPr>
        <p:spPr>
          <a:xfrm>
            <a:off x="8100000" y="1417320"/>
            <a:ext cx="3543840" cy="429588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35" name="Text 12"/>
          <p:cNvSpPr/>
          <p:nvPr/>
        </p:nvSpPr>
        <p:spPr>
          <a:xfrm>
            <a:off x="8399160" y="1673280"/>
            <a:ext cx="30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Migrations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Text 13"/>
          <p:cNvSpPr/>
          <p:nvPr/>
        </p:nvSpPr>
        <p:spPr>
          <a:xfrm>
            <a:off x="8399160" y="2148840"/>
            <a:ext cx="3031920" cy="33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Les migrations permettent de conserver et d’appliquer les modifications de la structure de la base de données.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Shape 14"/>
          <p:cNvSpPr/>
          <p:nvPr/>
        </p:nvSpPr>
        <p:spPr>
          <a:xfrm>
            <a:off x="502920" y="5943600"/>
            <a:ext cx="11184120" cy="546840"/>
          </a:xfrm>
          <a:prstGeom prst="roundRect">
            <a:avLst>
              <a:gd name="adj" fmla="val 13333"/>
            </a:avLst>
          </a:prstGeom>
          <a:solidFill>
            <a:srgbClr val="fbeddd"/>
          </a:solidFill>
          <a:ln w="12600">
            <a:solidFill>
              <a:srgbClr val="f0d5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38" name="Text 15"/>
          <p:cNvSpPr/>
          <p:nvPr/>
        </p:nvSpPr>
        <p:spPr>
          <a:xfrm>
            <a:off x="777240" y="5943600"/>
            <a:ext cx="106354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6b4a1e"/>
                </a:solidFill>
                <a:latin typeface="Calibri"/>
                <a:ea typeface="Calibri"/>
              </a:rPr>
              <a:t>Doctrine ORM fait le lien entre les objets PHP de l’application et les données stockées dans MySQL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Shape 42"/>
          <p:cNvSpPr/>
          <p:nvPr/>
        </p:nvSpPr>
        <p:spPr>
          <a:xfrm>
            <a:off x="0" y="0"/>
            <a:ext cx="12189960" cy="1049760"/>
          </a:xfrm>
          <a:prstGeom prst="rect">
            <a:avLst/>
          </a:prstGeom>
          <a:solidFill>
            <a:srgbClr val="1f5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40" name="Text 84"/>
          <p:cNvSpPr/>
          <p:nvPr/>
        </p:nvSpPr>
        <p:spPr>
          <a:xfrm>
            <a:off x="504000" y="38880"/>
            <a:ext cx="36558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287" strike="noStrike">
                <a:solidFill>
                  <a:srgbClr val="d9822b"/>
                </a:solidFill>
                <a:latin typeface="Calibri"/>
                <a:ea typeface="Calibri"/>
              </a:rPr>
              <a:t>PARTIE 3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 85"/>
          <p:cNvSpPr/>
          <p:nvPr/>
        </p:nvSpPr>
        <p:spPr>
          <a:xfrm>
            <a:off x="502920" y="395640"/>
            <a:ext cx="944676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ormorant Garamond"/>
                <a:ea typeface="Cormorant Garamond"/>
              </a:rPr>
              <a:t>Couche d’accès aux données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Text 86"/>
          <p:cNvSpPr/>
          <p:nvPr/>
        </p:nvSpPr>
        <p:spPr>
          <a:xfrm>
            <a:off x="6298920" y="695880"/>
            <a:ext cx="29167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cfe6cf"/>
                </a:solidFill>
                <a:latin typeface="Calibri"/>
                <a:ea typeface="Calibri"/>
              </a:rPr>
              <a:t>Doctrine ORM, Repository et Entity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3" name="" descr=""/>
          <p:cNvPicPr/>
          <p:nvPr/>
        </p:nvPicPr>
        <p:blipFill>
          <a:blip r:embed="rId1"/>
          <a:stretch/>
        </p:blipFill>
        <p:spPr>
          <a:xfrm>
            <a:off x="559800" y="3240000"/>
            <a:ext cx="3399840" cy="1904400"/>
          </a:xfrm>
          <a:prstGeom prst="rect">
            <a:avLst/>
          </a:prstGeom>
          <a:ln w="0">
            <a:noFill/>
          </a:ln>
        </p:spPr>
      </p:pic>
      <p:sp>
        <p:nvSpPr>
          <p:cNvPr id="444" name="Rounded Rectangle 35"/>
          <p:cNvSpPr/>
          <p:nvPr/>
        </p:nvSpPr>
        <p:spPr>
          <a:xfrm>
            <a:off x="4525200" y="3276000"/>
            <a:ext cx="3142440" cy="539640"/>
          </a:xfrm>
          <a:prstGeom prst="roundRect">
            <a:avLst>
              <a:gd name="adj" fmla="val 16667"/>
            </a:avLst>
          </a:prstGeom>
          <a:solidFill>
            <a:srgbClr val="1c211d"/>
          </a:solidFill>
          <a:ln w="12600">
            <a:solidFill>
              <a:srgbClr val="1c211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4520" rIns="109800" tIns="128160" bIns="45000" anchor="ctr">
            <a:noAutofit/>
          </a:bodyPr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ffffff"/>
                </a:solidFill>
                <a:latin typeface="Arial"/>
                <a:ea typeface="DejaVu Sans"/>
              </a:rPr>
              <a:t>$recettes = $recetteRepository-&gt;findAll();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Rounded Rectangle 37"/>
          <p:cNvSpPr/>
          <p:nvPr/>
        </p:nvSpPr>
        <p:spPr>
          <a:xfrm>
            <a:off x="4273560" y="4572360"/>
            <a:ext cx="3617280" cy="539640"/>
          </a:xfrm>
          <a:prstGeom prst="roundRect">
            <a:avLst>
              <a:gd name="adj" fmla="val 16667"/>
            </a:avLst>
          </a:prstGeom>
          <a:solidFill>
            <a:srgbClr val="1c211d"/>
          </a:solidFill>
          <a:ln w="12600">
            <a:solidFill>
              <a:srgbClr val="1c211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4520" rIns="109800" tIns="128160" bIns="45000" anchor="ctr">
            <a:noAutofit/>
          </a:bodyPr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ffffff"/>
                </a:solidFill>
                <a:latin typeface="Arial"/>
                <a:ea typeface="DejaVu Sans"/>
              </a:rPr>
              <a:t>$products = $productRepository-&gt;findBySeason($season);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46" name="" descr=""/>
          <p:cNvPicPr/>
          <p:nvPr/>
        </p:nvPicPr>
        <p:blipFill>
          <a:blip r:embed="rId2"/>
          <a:stretch/>
        </p:blipFill>
        <p:spPr>
          <a:xfrm>
            <a:off x="8568000" y="3298320"/>
            <a:ext cx="2532960" cy="1561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Rectangle 1"/>
          <p:cNvSpPr/>
          <p:nvPr/>
        </p:nvSpPr>
        <p:spPr>
          <a:xfrm>
            <a:off x="0" y="0"/>
            <a:ext cx="12191040" cy="712080"/>
          </a:xfrm>
          <a:prstGeom prst="rect">
            <a:avLst/>
          </a:prstGeom>
          <a:solidFill>
            <a:srgbClr val="1c6031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8" name="TextBox 2"/>
          <p:cNvSpPr/>
          <p:nvPr/>
        </p:nvSpPr>
        <p:spPr>
          <a:xfrm>
            <a:off x="411480" y="109800"/>
            <a:ext cx="228780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700" spc="-1" strike="noStrike">
                <a:solidFill>
                  <a:srgbClr val="e08e2c"/>
                </a:solidFill>
                <a:latin typeface="Aptos"/>
                <a:ea typeface="DejaVu Sans"/>
              </a:rPr>
              <a:t>PARTIE 3 — EXEMPLE CONCRET — CODE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Box 3"/>
          <p:cNvSpPr/>
          <p:nvPr/>
        </p:nvSpPr>
        <p:spPr>
          <a:xfrm>
            <a:off x="411480" y="255960"/>
            <a:ext cx="795420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2200" spc="-1" strike="noStrike">
                <a:solidFill>
                  <a:srgbClr val="ffffff"/>
                </a:solidFill>
                <a:latin typeface="Aptos"/>
                <a:ea typeface="DejaVu Sans"/>
              </a:rPr>
              <a:t>Doctrine — Repository Recette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TextBox 4"/>
          <p:cNvSpPr/>
          <p:nvPr/>
        </p:nvSpPr>
        <p:spPr>
          <a:xfrm>
            <a:off x="8412480" y="274320"/>
            <a:ext cx="319932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Compétences 5 et 6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TextBox 5"/>
          <p:cNvSpPr/>
          <p:nvPr/>
        </p:nvSpPr>
        <p:spPr>
          <a:xfrm>
            <a:off x="411480" y="6565320"/>
            <a:ext cx="27421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600" spc="-1" strike="noStrike">
                <a:solidFill>
                  <a:srgbClr val="267837"/>
                </a:solidFill>
                <a:latin typeface="Aptos"/>
                <a:ea typeface="DejaVu Sans"/>
              </a:rPr>
              <a:t>AU FIL DES SAISONS  •  DWWM 2026</a:t>
            </a:r>
            <a:endParaRPr b="0" lang="fr-FR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Rounded Rectangle 6"/>
          <p:cNvSpPr/>
          <p:nvPr/>
        </p:nvSpPr>
        <p:spPr>
          <a:xfrm>
            <a:off x="457200" y="1796760"/>
            <a:ext cx="1919160" cy="291600"/>
          </a:xfrm>
          <a:prstGeom prst="roundRect">
            <a:avLst>
              <a:gd name="adj" fmla="val 16667"/>
            </a:avLst>
          </a:prstGeom>
          <a:solidFill>
            <a:srgbClr val="1c6031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3" name="TextBox 7"/>
          <p:cNvSpPr/>
          <p:nvPr/>
        </p:nvSpPr>
        <p:spPr>
          <a:xfrm>
            <a:off x="530280" y="1847160"/>
            <a:ext cx="17730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EXTRAIT DE CODE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Rounded Rectangle 8"/>
          <p:cNvSpPr/>
          <p:nvPr/>
        </p:nvSpPr>
        <p:spPr>
          <a:xfrm>
            <a:off x="457200" y="2252160"/>
            <a:ext cx="5622480" cy="2879280"/>
          </a:xfrm>
          <a:prstGeom prst="roundRect">
            <a:avLst>
              <a:gd name="adj" fmla="val 16667"/>
            </a:avLst>
          </a:prstGeom>
          <a:solidFill>
            <a:srgbClr val="1c211d"/>
          </a:solidFill>
          <a:ln w="12600">
            <a:solidFill>
              <a:srgbClr val="1c211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4520" rIns="109800" tIns="128160" bIns="45000" anchor="ctr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4f7f2"/>
                </a:solidFill>
                <a:latin typeface="Arial"/>
                <a:ea typeface="DejaVu Sans"/>
              </a:rPr>
              <a:t>public function findByProduit(int $id): array</a:t>
            </a:r>
            <a:br>
              <a:rPr sz="1200"/>
            </a:br>
            <a:r>
              <a:rPr b="0" lang="fr-FR" sz="1200" spc="-1" strike="noStrike">
                <a:solidFill>
                  <a:srgbClr val="f4f7f2"/>
                </a:solidFill>
                <a:latin typeface="Arial"/>
                <a:ea typeface="DejaVu Sans"/>
              </a:rPr>
              <a:t>{</a:t>
            </a:r>
            <a:br>
              <a:rPr sz="1200"/>
            </a:br>
            <a:r>
              <a:rPr b="0" lang="fr-FR" sz="1200" spc="-1" strike="noStrike">
                <a:solidFill>
                  <a:srgbClr val="f4f7f2"/>
                </a:solidFill>
                <a:latin typeface="Arial"/>
                <a:ea typeface="DejaVu Sans"/>
              </a:rPr>
              <a:t>  return $this-&gt;createQueryBuilder('r')</a:t>
            </a:r>
            <a:br>
              <a:rPr sz="1200"/>
            </a:br>
            <a:r>
              <a:rPr b="0" lang="fr-FR" sz="1200" spc="-1" strike="noStrike">
                <a:solidFill>
                  <a:srgbClr val="f4f7f2"/>
                </a:solidFill>
                <a:latin typeface="Arial"/>
                <a:ea typeface="DejaVu Sans"/>
              </a:rPr>
              <a:t>    -&gt;join('r.produits', 'p')</a:t>
            </a:r>
            <a:br>
              <a:rPr sz="1200"/>
            </a:br>
            <a:r>
              <a:rPr b="0" lang="fr-FR" sz="1200" spc="-1" strike="noStrike">
                <a:solidFill>
                  <a:srgbClr val="f4f7f2"/>
                </a:solidFill>
                <a:latin typeface="Arial"/>
                <a:ea typeface="DejaVu Sans"/>
              </a:rPr>
              <a:t>    -&gt;where('p.id = :id')</a:t>
            </a:r>
            <a:br>
              <a:rPr sz="1200"/>
            </a:br>
            <a:r>
              <a:rPr b="0" lang="fr-FR" sz="1200" spc="-1" strike="noStrike">
                <a:solidFill>
                  <a:srgbClr val="f4f7f2"/>
                </a:solidFill>
                <a:latin typeface="Arial"/>
                <a:ea typeface="DejaVu Sans"/>
              </a:rPr>
              <a:t>    -&gt;setParameter('id', $id)</a:t>
            </a:r>
            <a:br>
              <a:rPr sz="1200"/>
            </a:br>
            <a:r>
              <a:rPr b="0" lang="fr-FR" sz="1200" spc="-1" strike="noStrike">
                <a:solidFill>
                  <a:srgbClr val="f4f7f2"/>
                </a:solidFill>
                <a:latin typeface="Arial"/>
                <a:ea typeface="DejaVu Sans"/>
              </a:rPr>
              <a:t>    -&gt;getQuery()</a:t>
            </a:r>
            <a:br>
              <a:rPr sz="1200"/>
            </a:br>
            <a:r>
              <a:rPr b="0" lang="fr-FR" sz="1200" spc="-1" strike="noStrike">
                <a:solidFill>
                  <a:srgbClr val="f4f7f2"/>
                </a:solidFill>
                <a:latin typeface="Arial"/>
                <a:ea typeface="DejaVu Sans"/>
              </a:rPr>
              <a:t>    -&gt;getResult();</a:t>
            </a:r>
            <a:br>
              <a:rPr sz="1200"/>
            </a:br>
            <a:r>
              <a:rPr b="0" lang="fr-FR" sz="1200" spc="-1" strike="noStrike">
                <a:solidFill>
                  <a:srgbClr val="f4f7f2"/>
                </a:solidFill>
                <a:latin typeface="Arial"/>
                <a:ea typeface="DejaVu Sans"/>
              </a:rPr>
              <a:t>}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Rounded Rectangle 9"/>
          <p:cNvSpPr/>
          <p:nvPr/>
        </p:nvSpPr>
        <p:spPr>
          <a:xfrm>
            <a:off x="6355080" y="1796760"/>
            <a:ext cx="2010600" cy="291600"/>
          </a:xfrm>
          <a:prstGeom prst="roundRect">
            <a:avLst>
              <a:gd name="adj" fmla="val 16667"/>
            </a:avLst>
          </a:prstGeom>
          <a:solidFill>
            <a:srgbClr val="e08e2c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6" name="TextBox 10"/>
          <p:cNvSpPr/>
          <p:nvPr/>
        </p:nvSpPr>
        <p:spPr>
          <a:xfrm>
            <a:off x="6428160" y="1847160"/>
            <a:ext cx="18644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CE QUE ÇA PROUVE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Rounded Rectangle 11"/>
          <p:cNvSpPr/>
          <p:nvPr/>
        </p:nvSpPr>
        <p:spPr>
          <a:xfrm>
            <a:off x="6355080" y="2144160"/>
            <a:ext cx="5375520" cy="1324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8f1e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8" name="TextBox 12"/>
          <p:cNvSpPr/>
          <p:nvPr/>
        </p:nvSpPr>
        <p:spPr>
          <a:xfrm>
            <a:off x="6537960" y="2345400"/>
            <a:ext cx="4982400" cy="81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fr-FR" sz="1150" spc="-1" strike="noStrike">
                <a:solidFill>
                  <a:srgbClr val="232b24"/>
                </a:solidFill>
                <a:latin typeface="Aptos"/>
                <a:ea typeface="DejaVu Sans"/>
              </a:rPr>
              <a:t>• </a:t>
            </a:r>
            <a:r>
              <a:rPr b="0" lang="fr-FR" sz="1150" spc="-1" strike="noStrike">
                <a:solidFill>
                  <a:srgbClr val="232b24"/>
                </a:solidFill>
                <a:latin typeface="Aptos"/>
                <a:ea typeface="DejaVu Sans"/>
              </a:rPr>
              <a:t>La requête filtre les recettes par produit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fr-FR" sz="1150" spc="-1" strike="noStrike">
                <a:solidFill>
                  <a:srgbClr val="232b24"/>
                </a:solidFill>
                <a:latin typeface="Aptos"/>
                <a:ea typeface="DejaVu Sans"/>
              </a:rPr>
              <a:t>• </a:t>
            </a:r>
            <a:r>
              <a:rPr b="0" lang="fr-FR" sz="1150" spc="-1" strike="noStrike">
                <a:solidFill>
                  <a:srgbClr val="232b24"/>
                </a:solidFill>
                <a:latin typeface="Aptos"/>
                <a:ea typeface="DejaVu Sans"/>
              </a:rPr>
              <a:t>Le paramètre nommé évite la concaténation SQL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fr-FR" sz="1150" spc="-1" strike="noStrike">
                <a:solidFill>
                  <a:srgbClr val="232b24"/>
                </a:solidFill>
                <a:latin typeface="Aptos"/>
                <a:ea typeface="DejaVu Sans"/>
              </a:rPr>
              <a:t>• </a:t>
            </a:r>
            <a:r>
              <a:rPr b="0" lang="fr-FR" sz="1150" spc="-1" strike="noStrike">
                <a:solidFill>
                  <a:srgbClr val="232b24"/>
                </a:solidFill>
                <a:latin typeface="Aptos"/>
                <a:ea typeface="DejaVu Sans"/>
              </a:rPr>
              <a:t>Doctrine retourne une collection d’objets Recette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Rounded Rectangle 13"/>
          <p:cNvSpPr/>
          <p:nvPr/>
        </p:nvSpPr>
        <p:spPr>
          <a:xfrm>
            <a:off x="6355080" y="3680280"/>
            <a:ext cx="1919160" cy="291600"/>
          </a:xfrm>
          <a:prstGeom prst="roundRect">
            <a:avLst>
              <a:gd name="adj" fmla="val 16667"/>
            </a:avLst>
          </a:prstGeom>
          <a:solidFill>
            <a:srgbClr val="1c6031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0" name="TextBox 14"/>
          <p:cNvSpPr/>
          <p:nvPr/>
        </p:nvSpPr>
        <p:spPr>
          <a:xfrm>
            <a:off x="6428160" y="3730680"/>
            <a:ext cx="17730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CE QUE CA DIT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Rounded Rectangle 15"/>
          <p:cNvSpPr/>
          <p:nvPr/>
        </p:nvSpPr>
        <p:spPr>
          <a:xfrm>
            <a:off x="6355080" y="4027680"/>
            <a:ext cx="5375520" cy="1507680"/>
          </a:xfrm>
          <a:prstGeom prst="roundRect">
            <a:avLst>
              <a:gd name="adj" fmla="val 16667"/>
            </a:avLst>
          </a:prstGeom>
          <a:solidFill>
            <a:srgbClr val="f7faf4"/>
          </a:solidFill>
          <a:ln w="12600">
            <a:solidFill>
              <a:srgbClr val="e8f1e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2" name="TextBox 16"/>
          <p:cNvSpPr/>
          <p:nvPr/>
        </p:nvSpPr>
        <p:spPr>
          <a:xfrm>
            <a:off x="6565320" y="4247280"/>
            <a:ext cx="49183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232b24"/>
                </a:solidFill>
                <a:latin typeface="Aptos"/>
                <a:ea typeface="DejaVu Sans"/>
              </a:rPr>
              <a:t>« Cette méthode permet de retrouver toutes les recettes associées à un produit. Par exemple, si l’utilisateur sélectionne une tomate, le Repository recherche les recettes qui utilisent ce produit. Doctrine construit et exécute la requête puis me retourne les recettes trouvées. »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Rounded Rectangle 4"/>
          <p:cNvSpPr/>
          <p:nvPr/>
        </p:nvSpPr>
        <p:spPr>
          <a:xfrm>
            <a:off x="411480" y="1300680"/>
            <a:ext cx="6765840" cy="516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480">
            <a:solidFill>
              <a:srgbClr val="d2dac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64" name="TextBox 6"/>
          <p:cNvSpPr/>
          <p:nvPr/>
        </p:nvSpPr>
        <p:spPr>
          <a:xfrm>
            <a:off x="1312920" y="5940720"/>
            <a:ext cx="1793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fr-FR" sz="900" spc="-1" strike="noStrike">
                <a:solidFill>
                  <a:srgbClr val="1d211d"/>
                </a:solidFill>
                <a:latin typeface="Arial"/>
                <a:ea typeface="DejaVu Sans"/>
              </a:rPr>
              <a:t>Flux de suggestions de recettes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Rounded Rectangle 7"/>
          <p:cNvSpPr/>
          <p:nvPr/>
        </p:nvSpPr>
        <p:spPr>
          <a:xfrm>
            <a:off x="7356960" y="1350000"/>
            <a:ext cx="4342680" cy="246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480">
            <a:solidFill>
              <a:srgbClr val="d7ded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66" name="TextBox 8"/>
          <p:cNvSpPr/>
          <p:nvPr/>
        </p:nvSpPr>
        <p:spPr>
          <a:xfrm>
            <a:off x="8844480" y="1617840"/>
            <a:ext cx="1467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1d6332"/>
                </a:solidFill>
                <a:latin typeface="Arial"/>
                <a:ea typeface="DejaVu Sans"/>
              </a:rPr>
              <a:t>Choix fonctionnel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TextBox 9"/>
          <p:cNvSpPr/>
          <p:nvPr/>
        </p:nvSpPr>
        <p:spPr>
          <a:xfrm>
            <a:off x="7553160" y="2010960"/>
            <a:ext cx="4057920" cy="12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fr-FR" sz="11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fr-FR" sz="1100" spc="-1" strike="noStrike">
                <a:solidFill>
                  <a:srgbClr val="000000"/>
                </a:solidFill>
                <a:latin typeface="Arial"/>
                <a:ea typeface="DejaVu Sans"/>
              </a:rPr>
              <a:t>Recherche par ville plutôt que par GPS.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fr-FR" sz="11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1" lang="fr-FR" sz="1100" spc="-1" strike="noStrike">
                <a:solidFill>
                  <a:srgbClr val="000000"/>
                </a:solidFill>
                <a:latin typeface="Arial"/>
                <a:ea typeface="DejaVu Sans"/>
              </a:rPr>
              <a:t>OpenWeather</a:t>
            </a:r>
            <a:r>
              <a:rPr b="0" lang="fr-FR" sz="1100" spc="-1" strike="noStrike">
                <a:solidFill>
                  <a:srgbClr val="000000"/>
                </a:solidFill>
                <a:latin typeface="Arial"/>
                <a:ea typeface="DejaVu Sans"/>
              </a:rPr>
              <a:t> fournit la température et les conditions météo.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fr-FR" sz="11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1" lang="fr-FR" sz="1100" spc="-1" strike="noStrike">
                <a:solidFill>
                  <a:srgbClr val="000000"/>
                </a:solidFill>
                <a:latin typeface="Arial"/>
                <a:ea typeface="DejaVu Sans"/>
              </a:rPr>
              <a:t>WeatherService</a:t>
            </a:r>
            <a:r>
              <a:rPr b="0" lang="fr-FR" sz="1100" spc="-1" strike="noStrike">
                <a:solidFill>
                  <a:srgbClr val="000000"/>
                </a:solidFill>
                <a:latin typeface="Arial"/>
                <a:ea typeface="DejaVu Sans"/>
              </a:rPr>
              <a:t> extrait les données utiles.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fr-FR" sz="1100" spc="-1" strike="noStrike">
                <a:solidFill>
                  <a:srgbClr val="000000"/>
                </a:solidFill>
                <a:latin typeface="Arial"/>
                <a:ea typeface="DejaVu Sans"/>
              </a:rPr>
              <a:t>•</a:t>
            </a:r>
            <a:r>
              <a:rPr b="1" lang="fr-FR" sz="11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fr-FR" sz="1100" spc="-1" strike="noStrike">
                <a:solidFill>
                  <a:srgbClr val="000000"/>
                </a:solidFill>
                <a:latin typeface="Arial"/>
                <a:ea typeface="DejaVu Sans"/>
              </a:rPr>
              <a:t>RecipeSuggestionService </a:t>
            </a:r>
            <a:r>
              <a:rPr b="0" lang="fr-FR" sz="1100" spc="-1" strike="noStrike">
                <a:solidFill>
                  <a:srgbClr val="000000"/>
                </a:solidFill>
                <a:latin typeface="Arial"/>
                <a:ea typeface="DejaVu Sans"/>
              </a:rPr>
              <a:t>utilise la météo pour adapter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fr-FR" sz="11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fr-FR" sz="1100" spc="-1" strike="noStrike">
                <a:solidFill>
                  <a:srgbClr val="000000"/>
                </a:solidFill>
                <a:latin typeface="Arial"/>
                <a:ea typeface="DejaVu Sans"/>
              </a:rPr>
              <a:t>les suggestions de recettes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47"/>
          <p:cNvSpPr/>
          <p:nvPr/>
        </p:nvSpPr>
        <p:spPr>
          <a:xfrm>
            <a:off x="0" y="0"/>
            <a:ext cx="12189960" cy="1049760"/>
          </a:xfrm>
          <a:prstGeom prst="rect">
            <a:avLst/>
          </a:prstGeom>
          <a:solidFill>
            <a:srgbClr val="1f5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69" name="Text 83"/>
          <p:cNvSpPr/>
          <p:nvPr/>
        </p:nvSpPr>
        <p:spPr>
          <a:xfrm>
            <a:off x="504000" y="38880"/>
            <a:ext cx="36558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287" strike="noStrike">
                <a:solidFill>
                  <a:srgbClr val="d9822b"/>
                </a:solidFill>
                <a:latin typeface="Calibri"/>
                <a:ea typeface="Calibri"/>
              </a:rPr>
              <a:t>PARTIE 3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Text 93"/>
          <p:cNvSpPr/>
          <p:nvPr/>
        </p:nvSpPr>
        <p:spPr>
          <a:xfrm>
            <a:off x="502920" y="395640"/>
            <a:ext cx="944676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ormorant Garamond"/>
                <a:ea typeface="Cormorant Garamond"/>
              </a:rPr>
              <a:t>API météo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Text 94"/>
          <p:cNvSpPr/>
          <p:nvPr/>
        </p:nvSpPr>
        <p:spPr>
          <a:xfrm>
            <a:off x="2770920" y="695880"/>
            <a:ext cx="47167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cfe6cf"/>
                </a:solidFill>
                <a:latin typeface="Calibri"/>
                <a:ea typeface="Calibri"/>
              </a:rPr>
              <a:t>WeatherService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Rounded Rectangle 38"/>
          <p:cNvSpPr/>
          <p:nvPr/>
        </p:nvSpPr>
        <p:spPr>
          <a:xfrm>
            <a:off x="3960000" y="1548360"/>
            <a:ext cx="2879640" cy="4319280"/>
          </a:xfrm>
          <a:prstGeom prst="roundRect">
            <a:avLst>
              <a:gd name="adj" fmla="val 16667"/>
            </a:avLst>
          </a:prstGeom>
          <a:solidFill>
            <a:srgbClr val="1c211d"/>
          </a:solidFill>
          <a:ln w="12600">
            <a:solidFill>
              <a:srgbClr val="1c211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4520" rIns="109800" tIns="128160" bIns="45000" anchor="ctr">
            <a:noAutofit/>
          </a:bodyPr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$temperature = $weather['temperature'] ?? null;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$temperatureMax = $weather['temperatureMax'] ?? $temperature;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$condition = $weather['condition'] ?? '';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$coldOrWet = null !== $temperature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&amp;&amp; (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$temperature &lt; 10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|| in_array(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    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$condition,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    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['Rain', 'Drizzle', 'Thunderstorm',         'Snow'],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true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       </a:t>
            </a: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) 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$hot = null !== $temperatureMax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&amp;&amp; $temperatureMax &gt;= 25;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TextBox 36"/>
          <p:cNvSpPr/>
          <p:nvPr/>
        </p:nvSpPr>
        <p:spPr>
          <a:xfrm>
            <a:off x="3997080" y="5940720"/>
            <a:ext cx="249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fr-FR" sz="900" spc="-1" strike="noStrike">
                <a:solidFill>
                  <a:srgbClr val="1d211d"/>
                </a:solidFill>
                <a:latin typeface="Arial"/>
                <a:ea typeface="DejaVu Sans"/>
              </a:rPr>
              <a:t>Dans recipeSuggestionService.php 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fr-FR" sz="900" spc="-1" strike="noStrike">
                <a:solidFill>
                  <a:srgbClr val="1d211d"/>
                </a:solidFill>
                <a:latin typeface="Arial"/>
                <a:ea typeface="DejaVu Sans"/>
              </a:rPr>
              <a:t>extrait principal qui détermine les suggestions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4" name="" descr=""/>
          <p:cNvPicPr/>
          <p:nvPr/>
        </p:nvPicPr>
        <p:blipFill>
          <a:blip r:embed="rId1"/>
          <a:stretch/>
        </p:blipFill>
        <p:spPr>
          <a:xfrm>
            <a:off x="900000" y="1562040"/>
            <a:ext cx="2699640" cy="4377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Text 4"/>
          <p:cNvSpPr/>
          <p:nvPr/>
        </p:nvSpPr>
        <p:spPr>
          <a:xfrm>
            <a:off x="11277360" y="647388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Shape 11"/>
          <p:cNvSpPr/>
          <p:nvPr/>
        </p:nvSpPr>
        <p:spPr>
          <a:xfrm>
            <a:off x="7747200" y="1463040"/>
            <a:ext cx="3543840" cy="425016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77" name="Text 13"/>
          <p:cNvSpPr/>
          <p:nvPr/>
        </p:nvSpPr>
        <p:spPr>
          <a:xfrm>
            <a:off x="8075160" y="1722240"/>
            <a:ext cx="3031920" cy="33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5c6b5e"/>
                </a:solidFill>
                <a:latin typeface="Calibri"/>
                <a:ea typeface="Calibri"/>
              </a:rPr>
              <a:t>Entrée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Météo simulée : 29° et temps clair.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2 recettes disponibles : Salade de melon et plat mijoté.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5c6b5e"/>
                </a:solidFill>
                <a:latin typeface="Calibri"/>
                <a:ea typeface="Calibri"/>
              </a:rPr>
              <a:t>Résultat attendu :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Par temps chaud, l’application doit donner la priorité à une recette fraîche plutôt qu’à un plat chaud nécessitant le four.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5c6b5e"/>
                </a:solidFill>
                <a:latin typeface="Calibri"/>
                <a:ea typeface="Calibri"/>
              </a:rPr>
              <a:t>Résultat obtenu :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Test réussi : Salade de melon est placée en première position dans les suggestions.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14"/>
          <p:cNvSpPr/>
          <p:nvPr/>
        </p:nvSpPr>
        <p:spPr>
          <a:xfrm>
            <a:off x="502920" y="5897880"/>
            <a:ext cx="11184120" cy="546840"/>
          </a:xfrm>
          <a:prstGeom prst="roundRect">
            <a:avLst>
              <a:gd name="adj" fmla="val 13333"/>
            </a:avLst>
          </a:prstGeom>
          <a:solidFill>
            <a:srgbClr val="fbeddd"/>
          </a:solidFill>
          <a:ln w="12600">
            <a:solidFill>
              <a:srgbClr val="f0d5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79" name="Text 15"/>
          <p:cNvSpPr/>
          <p:nvPr/>
        </p:nvSpPr>
        <p:spPr>
          <a:xfrm>
            <a:off x="777240" y="5897880"/>
            <a:ext cx="106354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6b4a1e"/>
                </a:solidFill>
                <a:latin typeface="Calibri"/>
                <a:ea typeface="Calibri"/>
              </a:rPr>
              <a:t>Le jeu d’essai vérifie qu’une règle métier donne le résultat attendu à partir de données connues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44"/>
          <p:cNvSpPr/>
          <p:nvPr/>
        </p:nvSpPr>
        <p:spPr>
          <a:xfrm>
            <a:off x="0" y="0"/>
            <a:ext cx="12189960" cy="1049760"/>
          </a:xfrm>
          <a:prstGeom prst="rect">
            <a:avLst/>
          </a:prstGeom>
          <a:solidFill>
            <a:srgbClr val="1f5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81" name="Text 90"/>
          <p:cNvSpPr/>
          <p:nvPr/>
        </p:nvSpPr>
        <p:spPr>
          <a:xfrm>
            <a:off x="504000" y="38880"/>
            <a:ext cx="36558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287" strike="noStrike">
                <a:solidFill>
                  <a:srgbClr val="d9822b"/>
                </a:solidFill>
                <a:latin typeface="Calibri"/>
                <a:ea typeface="Calibri"/>
              </a:rPr>
              <a:t>PARTIE 3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Text 91"/>
          <p:cNvSpPr/>
          <p:nvPr/>
        </p:nvSpPr>
        <p:spPr>
          <a:xfrm>
            <a:off x="502920" y="395640"/>
            <a:ext cx="944676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ormorant Garamond"/>
                <a:ea typeface="Cormorant Garamond"/>
              </a:rPr>
              <a:t>Jeu d’essai et test unitaire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Text 92"/>
          <p:cNvSpPr/>
          <p:nvPr/>
        </p:nvSpPr>
        <p:spPr>
          <a:xfrm>
            <a:off x="5902920" y="695880"/>
            <a:ext cx="57967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cfe6cf"/>
                </a:solidFill>
                <a:latin typeface="Calibri"/>
                <a:ea typeface="Calibri"/>
              </a:rPr>
              <a:t>Test unitaire et démonstration d’un jeu d’essai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4" name="" descr=""/>
          <p:cNvPicPr/>
          <p:nvPr/>
        </p:nvPicPr>
        <p:blipFill>
          <a:blip r:embed="rId1"/>
          <a:stretch/>
        </p:blipFill>
        <p:spPr>
          <a:xfrm>
            <a:off x="360000" y="1540800"/>
            <a:ext cx="7243920" cy="4074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 2"/>
          <p:cNvSpPr/>
          <p:nvPr/>
        </p:nvSpPr>
        <p:spPr>
          <a:xfrm>
            <a:off x="0" y="0"/>
            <a:ext cx="12191040" cy="712080"/>
          </a:xfrm>
          <a:prstGeom prst="rect">
            <a:avLst/>
          </a:prstGeom>
          <a:solidFill>
            <a:srgbClr val="1c6031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6" name="TextBox 42"/>
          <p:cNvSpPr/>
          <p:nvPr/>
        </p:nvSpPr>
        <p:spPr>
          <a:xfrm>
            <a:off x="411480" y="109800"/>
            <a:ext cx="228780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700" spc="-1" strike="noStrike">
                <a:solidFill>
                  <a:srgbClr val="e08e2c"/>
                </a:solidFill>
                <a:latin typeface="Aptos"/>
                <a:ea typeface="DejaVu Sans"/>
              </a:rPr>
              <a:t>PARTIE 3 — EXEMPLE CONCRET — CODE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TextBox 43"/>
          <p:cNvSpPr/>
          <p:nvPr/>
        </p:nvSpPr>
        <p:spPr>
          <a:xfrm>
            <a:off x="411480" y="255960"/>
            <a:ext cx="795420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2200" spc="-1" strike="noStrike">
                <a:solidFill>
                  <a:srgbClr val="ffffff"/>
                </a:solidFill>
                <a:latin typeface="Aptos"/>
                <a:ea typeface="DejaVu Sans"/>
              </a:rPr>
              <a:t>Tests — Suggestions selon la météo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TextBox 57"/>
          <p:cNvSpPr/>
          <p:nvPr/>
        </p:nvSpPr>
        <p:spPr>
          <a:xfrm>
            <a:off x="8412480" y="274320"/>
            <a:ext cx="319932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Compétences 5 et 6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TextBox 58"/>
          <p:cNvSpPr/>
          <p:nvPr/>
        </p:nvSpPr>
        <p:spPr>
          <a:xfrm>
            <a:off x="411480" y="6565320"/>
            <a:ext cx="27421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600" spc="-1" strike="noStrike">
                <a:solidFill>
                  <a:srgbClr val="267837"/>
                </a:solidFill>
                <a:latin typeface="Aptos"/>
                <a:ea typeface="DejaVu Sans"/>
              </a:rPr>
              <a:t>AU FIL DES SAISONS  •  DWWM 2026</a:t>
            </a:r>
            <a:endParaRPr b="0" lang="fr-FR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Rounded Rectangle 45"/>
          <p:cNvSpPr/>
          <p:nvPr/>
        </p:nvSpPr>
        <p:spPr>
          <a:xfrm>
            <a:off x="457200" y="1796760"/>
            <a:ext cx="1919160" cy="291600"/>
          </a:xfrm>
          <a:prstGeom prst="roundRect">
            <a:avLst>
              <a:gd name="adj" fmla="val 16667"/>
            </a:avLst>
          </a:prstGeom>
          <a:solidFill>
            <a:srgbClr val="1c6031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1" name="TextBox 59"/>
          <p:cNvSpPr/>
          <p:nvPr/>
        </p:nvSpPr>
        <p:spPr>
          <a:xfrm>
            <a:off x="530280" y="1847160"/>
            <a:ext cx="17730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EXTRAIT DE CODE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Rounded Rectangle 46"/>
          <p:cNvSpPr/>
          <p:nvPr/>
        </p:nvSpPr>
        <p:spPr>
          <a:xfrm>
            <a:off x="457200" y="2252160"/>
            <a:ext cx="5622480" cy="3507480"/>
          </a:xfrm>
          <a:prstGeom prst="roundRect">
            <a:avLst>
              <a:gd name="adj" fmla="val 16667"/>
            </a:avLst>
          </a:prstGeom>
          <a:solidFill>
            <a:srgbClr val="1c211d"/>
          </a:solidFill>
          <a:ln w="12600">
            <a:solidFill>
              <a:srgbClr val="1c211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4520" rIns="109800" tIns="128160" bIns="45000" anchor="ctr">
            <a:noAutofit/>
          </a:bodyPr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b="0" lang="fr-FR" sz="1100" spc="-1" strike="noStrike">
                <a:solidFill>
                  <a:schemeClr val="lt1"/>
                </a:solidFill>
                <a:latin typeface="Arial"/>
                <a:ea typeface="DejaVu Sans"/>
              </a:rPr>
              <a:t>$repository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b="0" lang="fr-FR" sz="1100" spc="-1" strike="noStrike">
                <a:solidFill>
                  <a:schemeClr val="lt1"/>
                </a:solidFill>
                <a:latin typeface="Arial"/>
                <a:ea typeface="DejaVu Sans"/>
              </a:rPr>
              <a:t>       </a:t>
            </a:r>
            <a:r>
              <a:rPr b="0" lang="fr-FR" sz="1100" spc="-1" strike="noStrike">
                <a:solidFill>
                  <a:schemeClr val="lt1"/>
                </a:solidFill>
                <a:latin typeface="Arial"/>
                <a:ea typeface="DejaVu Sans"/>
              </a:rPr>
              <a:t>-&gt;method('findPublishedForSuggestions')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b="0" lang="fr-FR" sz="1100" spc="-1" strike="noStrike">
                <a:solidFill>
                  <a:schemeClr val="lt1"/>
                </a:solidFill>
                <a:latin typeface="Arial"/>
                <a:ea typeface="DejaVu Sans"/>
              </a:rPr>
              <a:t>       </a:t>
            </a:r>
            <a:r>
              <a:rPr b="0" lang="fr-FR" sz="1100" spc="-1" strike="noStrike">
                <a:solidFill>
                  <a:schemeClr val="lt1"/>
                </a:solidFill>
                <a:latin typeface="Arial"/>
                <a:ea typeface="DejaVu Sans"/>
              </a:rPr>
              <a:t>-&gt;willReturn([$stew, $salad]);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b="0" lang="fr-FR" sz="1100" spc="-1" strike="noStrike">
                <a:solidFill>
                  <a:schemeClr val="lt1"/>
                </a:solidFill>
                <a:latin typeface="Arial"/>
                <a:ea typeface="DejaVu Sans"/>
              </a:rPr>
              <a:t>$suggestions = (new RecipeSuggestionService($repository))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b="0" lang="fr-FR" sz="1100" spc="-1" strike="noStrike">
                <a:solidFill>
                  <a:schemeClr val="lt1"/>
                </a:solidFill>
                <a:latin typeface="Arial"/>
                <a:ea typeface="DejaVu Sans"/>
              </a:rPr>
              <a:t>       </a:t>
            </a:r>
            <a:r>
              <a:rPr b="0" lang="fr-FR" sz="1100" spc="-1" strike="noStrike">
                <a:solidFill>
                  <a:schemeClr val="lt1"/>
                </a:solidFill>
                <a:latin typeface="Arial"/>
                <a:ea typeface="DejaVu Sans"/>
              </a:rPr>
              <a:t>-&gt;getSuggestions([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b="0" lang="fr-FR" sz="1100" spc="-1" strike="noStrike">
                <a:solidFill>
                  <a:schemeClr val="lt1"/>
                </a:solidFill>
                <a:latin typeface="Arial"/>
                <a:ea typeface="DejaVu Sans"/>
              </a:rPr>
              <a:t>              </a:t>
            </a:r>
            <a:r>
              <a:rPr b="0" lang="fr-FR" sz="1100" spc="-1" strike="noStrike">
                <a:solidFill>
                  <a:schemeClr val="lt1"/>
                </a:solidFill>
                <a:latin typeface="Arial"/>
                <a:ea typeface="DejaVu Sans"/>
              </a:rPr>
              <a:t>'temperature' =&gt; 29,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b="0" lang="fr-FR" sz="1100" spc="-1" strike="noStrike">
                <a:solidFill>
                  <a:schemeClr val="lt1"/>
                </a:solidFill>
                <a:latin typeface="Arial"/>
                <a:ea typeface="DejaVu Sans"/>
              </a:rPr>
              <a:t>              </a:t>
            </a:r>
            <a:r>
              <a:rPr b="0" lang="fr-FR" sz="1100" spc="-1" strike="noStrike">
                <a:solidFill>
                  <a:schemeClr val="lt1"/>
                </a:solidFill>
                <a:latin typeface="Arial"/>
                <a:ea typeface="DejaVu Sans"/>
              </a:rPr>
              <a:t>'condition' =&gt; 'Clear'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b="0" lang="fr-FR" sz="1100" spc="-1" strike="noStrike">
                <a:solidFill>
                  <a:schemeClr val="lt1"/>
                </a:solidFill>
                <a:latin typeface="Arial"/>
                <a:ea typeface="DejaVu Sans"/>
              </a:rPr>
              <a:t>    </a:t>
            </a:r>
            <a:r>
              <a:rPr b="0" lang="fr-FR" sz="1100" spc="-1" strike="noStrike">
                <a:solidFill>
                  <a:schemeClr val="lt1"/>
                </a:solidFill>
                <a:latin typeface="Arial"/>
                <a:ea typeface="DejaVu Sans"/>
              </a:rPr>
              <a:t>], []);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b="0" lang="fr-FR" sz="1100" spc="-1" strike="noStrike">
                <a:solidFill>
                  <a:schemeClr val="lt1"/>
                </a:solidFill>
                <a:latin typeface="Arial"/>
                <a:ea typeface="DejaVu Sans"/>
              </a:rPr>
              <a:t>self::assertSame($salad, $suggestions[0]);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Rounded Rectangle 47"/>
          <p:cNvSpPr/>
          <p:nvPr/>
        </p:nvSpPr>
        <p:spPr>
          <a:xfrm>
            <a:off x="6355080" y="1796760"/>
            <a:ext cx="2010600" cy="291600"/>
          </a:xfrm>
          <a:prstGeom prst="roundRect">
            <a:avLst>
              <a:gd name="adj" fmla="val 16667"/>
            </a:avLst>
          </a:prstGeom>
          <a:solidFill>
            <a:srgbClr val="e08e2c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4" name="TextBox 60"/>
          <p:cNvSpPr/>
          <p:nvPr/>
        </p:nvSpPr>
        <p:spPr>
          <a:xfrm>
            <a:off x="6428160" y="1847160"/>
            <a:ext cx="18644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CE QUE ÇA PROUVE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Rounded Rectangle 49"/>
          <p:cNvSpPr/>
          <p:nvPr/>
        </p:nvSpPr>
        <p:spPr>
          <a:xfrm>
            <a:off x="6355080" y="2144160"/>
            <a:ext cx="5375520" cy="1324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8f1e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6" name="TextBox 61"/>
          <p:cNvSpPr/>
          <p:nvPr/>
        </p:nvSpPr>
        <p:spPr>
          <a:xfrm>
            <a:off x="6537960" y="2345400"/>
            <a:ext cx="49824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fr-FR" sz="1100" spc="-1" strike="noStrike">
                <a:solidFill>
                  <a:srgbClr val="000000"/>
                </a:solidFill>
                <a:latin typeface="Aptos"/>
                <a:ea typeface="DejaVu Sans"/>
              </a:rPr>
              <a:t>• </a:t>
            </a:r>
            <a:r>
              <a:rPr b="0" lang="fr-FR" sz="1100" spc="-1" strike="noStrike">
                <a:solidFill>
                  <a:srgbClr val="000000"/>
                </a:solidFill>
                <a:latin typeface="Aptos"/>
                <a:ea typeface="DejaVu Sans"/>
              </a:rPr>
              <a:t>La météo peut être simulée dans le test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fr-FR" sz="1100" spc="-1" strike="noStrike">
                <a:solidFill>
                  <a:srgbClr val="000000"/>
                </a:solidFill>
                <a:latin typeface="Aptos"/>
                <a:ea typeface="DejaVu Sans"/>
              </a:rPr>
              <a:t>• </a:t>
            </a:r>
            <a:r>
              <a:rPr b="0" lang="fr-FR" sz="1100" spc="-1" strike="noStrike">
                <a:solidFill>
                  <a:srgbClr val="000000"/>
                </a:solidFill>
                <a:latin typeface="Aptos"/>
                <a:ea typeface="DejaVu Sans"/>
              </a:rPr>
              <a:t>Le service classe les recettes selon les conditions météo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fr-FR" sz="1100" spc="-1" strike="noStrike">
                <a:solidFill>
                  <a:srgbClr val="000000"/>
                </a:solidFill>
                <a:latin typeface="Aptos"/>
                <a:ea typeface="DejaVu Sans"/>
              </a:rPr>
              <a:t>• </a:t>
            </a:r>
            <a:r>
              <a:rPr b="0" lang="fr-FR" sz="1100" spc="-1" strike="noStrike">
                <a:solidFill>
                  <a:srgbClr val="000000"/>
                </a:solidFill>
                <a:latin typeface="Aptos"/>
                <a:ea typeface="DejaVu Sans"/>
              </a:rPr>
              <a:t>A 29°C, une recette fraîche est prioritaire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fr-FR" sz="1100" spc="-1" strike="noStrike">
                <a:solidFill>
                  <a:srgbClr val="000000"/>
                </a:solidFill>
                <a:latin typeface="Aptos"/>
                <a:ea typeface="DejaVu Sans"/>
              </a:rPr>
              <a:t>• </a:t>
            </a:r>
            <a:r>
              <a:rPr b="1" lang="fr-FR" sz="1100" spc="-1" strike="noStrike">
                <a:solidFill>
                  <a:srgbClr val="000000"/>
                </a:solidFill>
                <a:latin typeface="Aptos"/>
                <a:ea typeface="DejaVu Sans"/>
              </a:rPr>
              <a:t>assertSame()</a:t>
            </a:r>
            <a:r>
              <a:rPr b="0" lang="fr-FR" sz="1100" spc="-1" strike="noStrike">
                <a:solidFill>
                  <a:srgbClr val="000000"/>
                </a:solidFill>
                <a:latin typeface="Aptos"/>
                <a:ea typeface="DejaVu Sans"/>
              </a:rPr>
              <a:t> vérifie que le résultat obtenu est bien celui attendu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Rounded Rectangle 50"/>
          <p:cNvSpPr/>
          <p:nvPr/>
        </p:nvSpPr>
        <p:spPr>
          <a:xfrm>
            <a:off x="6355080" y="3680280"/>
            <a:ext cx="1919160" cy="291600"/>
          </a:xfrm>
          <a:prstGeom prst="roundRect">
            <a:avLst>
              <a:gd name="adj" fmla="val 16667"/>
            </a:avLst>
          </a:prstGeom>
          <a:solidFill>
            <a:srgbClr val="1c6031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8" name="TextBox 62"/>
          <p:cNvSpPr/>
          <p:nvPr/>
        </p:nvSpPr>
        <p:spPr>
          <a:xfrm>
            <a:off x="6428160" y="3730680"/>
            <a:ext cx="17730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CE QUE CA DIT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Rounded Rectangle 51"/>
          <p:cNvSpPr/>
          <p:nvPr/>
        </p:nvSpPr>
        <p:spPr>
          <a:xfrm>
            <a:off x="6355080" y="4027680"/>
            <a:ext cx="5375520" cy="1507680"/>
          </a:xfrm>
          <a:prstGeom prst="roundRect">
            <a:avLst>
              <a:gd name="adj" fmla="val 16667"/>
            </a:avLst>
          </a:prstGeom>
          <a:solidFill>
            <a:srgbClr val="f7faf4"/>
          </a:solidFill>
          <a:ln w="12600">
            <a:solidFill>
              <a:srgbClr val="e8f1e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0" name="TextBox 63"/>
          <p:cNvSpPr/>
          <p:nvPr/>
        </p:nvSpPr>
        <p:spPr>
          <a:xfrm>
            <a:off x="6565320" y="4247280"/>
            <a:ext cx="49183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232b24"/>
                </a:solidFill>
                <a:latin typeface="Aptos"/>
                <a:ea typeface="DejaVu Sans"/>
              </a:rPr>
              <a:t>«Dans ce test, je simule une météo chaude avec 29  degrés et un ciel clair. Le Repository fournit deux recettes : une salade de melon et un plat mijoté. Je vérifie ensuite que RecipeSuggestionService place bien la salade en première position.»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ext 3"/>
          <p:cNvSpPr/>
          <p:nvPr/>
        </p:nvSpPr>
        <p:spPr>
          <a:xfrm>
            <a:off x="457200" y="647388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2e7f32"/>
                </a:solidFill>
                <a:latin typeface="Calibri"/>
                <a:ea typeface="Calibri"/>
              </a:rPr>
              <a:t>3. Conception du Back-end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Text 4"/>
          <p:cNvSpPr/>
          <p:nvPr/>
        </p:nvSpPr>
        <p:spPr>
          <a:xfrm>
            <a:off x="11277360" y="647388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03" name="Table 0"/>
          <p:cNvGraphicFramePr/>
          <p:nvPr/>
        </p:nvGraphicFramePr>
        <p:xfrm>
          <a:off x="502920" y="1224000"/>
          <a:ext cx="11185200" cy="2925720"/>
        </p:xfrm>
        <a:graphic>
          <a:graphicData uri="http://schemas.openxmlformats.org/drawingml/2006/table">
            <a:tbl>
              <a:tblPr/>
              <a:tblGrid>
                <a:gridCol w="2926080"/>
                <a:gridCol w="8259480"/>
              </a:tblGrid>
              <a:tr h="7315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20301f"/>
                          </a:solidFill>
                          <a:latin typeface="Calibri"/>
                          <a:ea typeface="Calibri"/>
                        </a:rPr>
                        <a:t>Rôle</a:t>
                      </a:r>
                      <a:endParaRPr b="0" lang="fr-F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e8d5"/>
                      </a:solidFill>
                      <a:prstDash val="solid"/>
                    </a:lnL>
                    <a:lnR w="12240">
                      <a:solidFill>
                        <a:srgbClr val="d3e8d5"/>
                      </a:solidFill>
                      <a:prstDash val="solid"/>
                    </a:lnR>
                    <a:lnT w="12240">
                      <a:solidFill>
                        <a:srgbClr val="d3e8d5"/>
                      </a:solidFill>
                      <a:prstDash val="solid"/>
                    </a:lnT>
                    <a:lnB w="12240">
                      <a:solidFill>
                        <a:srgbClr val="d3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20301f"/>
                          </a:solidFill>
                          <a:latin typeface="Calibri"/>
                          <a:ea typeface="Calibri"/>
                        </a:rPr>
                        <a:t>Droits associés</a:t>
                      </a:r>
                      <a:endParaRPr b="0" lang="fr-F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e8d5"/>
                      </a:solidFill>
                      <a:prstDash val="solid"/>
                    </a:lnL>
                    <a:lnR w="12240">
                      <a:solidFill>
                        <a:srgbClr val="d3e8d5"/>
                      </a:solidFill>
                      <a:prstDash val="solid"/>
                    </a:lnR>
                    <a:lnT w="12240">
                      <a:solidFill>
                        <a:srgbClr val="d3e8d5"/>
                      </a:solidFill>
                      <a:prstDash val="solid"/>
                    </a:lnT>
                    <a:lnB w="12240">
                      <a:solidFill>
                        <a:srgbClr val="d3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20301f"/>
                          </a:solidFill>
                          <a:latin typeface="Calibri"/>
                          <a:ea typeface="Calibri"/>
                        </a:rPr>
                        <a:t>Visiteur</a:t>
                      </a:r>
                      <a:endParaRPr b="0" lang="fr-F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e8d5"/>
                      </a:solidFill>
                      <a:prstDash val="solid"/>
                    </a:lnL>
                    <a:lnR w="12240">
                      <a:solidFill>
                        <a:srgbClr val="d3e8d5"/>
                      </a:solidFill>
                      <a:prstDash val="solid"/>
                    </a:lnR>
                    <a:lnT w="12240">
                      <a:solidFill>
                        <a:srgbClr val="d3e8d5"/>
                      </a:solidFill>
                      <a:prstDash val="solid"/>
                    </a:lnT>
                    <a:lnB w="12240">
                      <a:solidFill>
                        <a:srgbClr val="d3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20301f"/>
                          </a:solidFill>
                          <a:latin typeface="Calibri"/>
                          <a:ea typeface="Calibri"/>
                        </a:rPr>
                        <a:t>Consultation des produits de saison, de la météo et des suggestions de recette du jour</a:t>
                      </a:r>
                      <a:endParaRPr b="0" lang="fr-F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e8d5"/>
                      </a:solidFill>
                      <a:prstDash val="solid"/>
                    </a:lnL>
                    <a:lnR w="12240">
                      <a:solidFill>
                        <a:srgbClr val="d3e8d5"/>
                      </a:solidFill>
                      <a:prstDash val="solid"/>
                    </a:lnR>
                    <a:lnT w="12240">
                      <a:solidFill>
                        <a:srgbClr val="d3e8d5"/>
                      </a:solidFill>
                      <a:prstDash val="solid"/>
                    </a:lnT>
                    <a:lnB w="12240">
                      <a:solidFill>
                        <a:srgbClr val="d3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20301f"/>
                          </a:solidFill>
                          <a:latin typeface="Calibri"/>
                          <a:ea typeface="Calibri"/>
                        </a:rPr>
                        <a:t>Utilisateur connecté</a:t>
                      </a:r>
                      <a:endParaRPr b="0" lang="fr-F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e8d5"/>
                      </a:solidFill>
                      <a:prstDash val="solid"/>
                    </a:lnL>
                    <a:lnR w="12240">
                      <a:solidFill>
                        <a:srgbClr val="d3e8d5"/>
                      </a:solidFill>
                      <a:prstDash val="solid"/>
                    </a:lnR>
                    <a:lnT w="12240">
                      <a:solidFill>
                        <a:srgbClr val="d3e8d5"/>
                      </a:solidFill>
                      <a:prstDash val="solid"/>
                    </a:lnT>
                    <a:lnB w="12240">
                      <a:solidFill>
                        <a:srgbClr val="d3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20301f"/>
                          </a:solidFill>
                          <a:latin typeface="Calibri"/>
                          <a:ea typeface="Calibri"/>
                        </a:rPr>
                        <a:t>Créer, consulter, modifier, et supprimer ses propres recettes; gérer ses favoris, notes et commentaires</a:t>
                      </a:r>
                      <a:endParaRPr b="0" lang="fr-F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e8d5"/>
                      </a:solidFill>
                      <a:prstDash val="solid"/>
                    </a:lnL>
                    <a:lnR w="12240">
                      <a:solidFill>
                        <a:srgbClr val="d3e8d5"/>
                      </a:solidFill>
                      <a:prstDash val="solid"/>
                    </a:lnR>
                    <a:lnT w="12240">
                      <a:solidFill>
                        <a:srgbClr val="d3e8d5"/>
                      </a:solidFill>
                      <a:prstDash val="solid"/>
                    </a:lnT>
                    <a:lnB w="12240">
                      <a:solidFill>
                        <a:srgbClr val="d3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20301f"/>
                          </a:solidFill>
                          <a:latin typeface="Calibri"/>
                          <a:ea typeface="Calibri"/>
                        </a:rPr>
                        <a:t>Administrateur</a:t>
                      </a:r>
                      <a:endParaRPr b="0" lang="fr-F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e8d5"/>
                      </a:solidFill>
                      <a:prstDash val="solid"/>
                    </a:lnL>
                    <a:lnR w="12240">
                      <a:solidFill>
                        <a:srgbClr val="d3e8d5"/>
                      </a:solidFill>
                      <a:prstDash val="solid"/>
                    </a:lnR>
                    <a:lnT w="12240">
                      <a:solidFill>
                        <a:srgbClr val="d3e8d5"/>
                      </a:solidFill>
                      <a:prstDash val="solid"/>
                    </a:lnT>
                    <a:lnB w="12240">
                      <a:solidFill>
                        <a:srgbClr val="d3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20301f"/>
                          </a:solidFill>
                          <a:latin typeface="Calibri"/>
                          <a:ea typeface="Calibri"/>
                        </a:rPr>
                        <a:t>Gestion des produits, des recettes et des comptes utilisateurs ; modération des recettes et des commentaires</a:t>
                      </a:r>
                      <a:endParaRPr b="0" lang="fr-F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3e8d5"/>
                      </a:solidFill>
                      <a:prstDash val="solid"/>
                    </a:lnL>
                    <a:lnR w="12240">
                      <a:solidFill>
                        <a:srgbClr val="d3e8d5"/>
                      </a:solidFill>
                      <a:prstDash val="solid"/>
                    </a:lnR>
                    <a:lnT w="12240">
                      <a:solidFill>
                        <a:srgbClr val="d3e8d5"/>
                      </a:solidFill>
                      <a:prstDash val="solid"/>
                    </a:lnT>
                    <a:lnB w="12240">
                      <a:solidFill>
                        <a:srgbClr val="d3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4" name="Shape 5"/>
          <p:cNvSpPr/>
          <p:nvPr/>
        </p:nvSpPr>
        <p:spPr>
          <a:xfrm>
            <a:off x="502920" y="5746320"/>
            <a:ext cx="11184120" cy="546840"/>
          </a:xfrm>
          <a:prstGeom prst="roundRect">
            <a:avLst>
              <a:gd name="adj" fmla="val 13333"/>
            </a:avLst>
          </a:prstGeom>
          <a:solidFill>
            <a:srgbClr val="fbeddd"/>
          </a:solidFill>
          <a:ln w="12600">
            <a:solidFill>
              <a:srgbClr val="f0d5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05" name="Text 6"/>
          <p:cNvSpPr/>
          <p:nvPr/>
        </p:nvSpPr>
        <p:spPr>
          <a:xfrm>
            <a:off x="777240" y="5746320"/>
            <a:ext cx="106354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6b4a1e"/>
                </a:solidFill>
                <a:latin typeface="Calibri"/>
                <a:ea typeface="Calibri"/>
              </a:rPr>
              <a:t>Les droits sont vérifiés avant toute modification ou suppression d’un contenu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Shape 23"/>
          <p:cNvSpPr/>
          <p:nvPr/>
        </p:nvSpPr>
        <p:spPr>
          <a:xfrm>
            <a:off x="0" y="0"/>
            <a:ext cx="12189960" cy="1049760"/>
          </a:xfrm>
          <a:prstGeom prst="rect">
            <a:avLst/>
          </a:prstGeom>
          <a:solidFill>
            <a:srgbClr val="1f5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07" name="Text 45"/>
          <p:cNvSpPr/>
          <p:nvPr/>
        </p:nvSpPr>
        <p:spPr>
          <a:xfrm>
            <a:off x="504000" y="38880"/>
            <a:ext cx="36558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287" strike="noStrike">
                <a:solidFill>
                  <a:srgbClr val="d9822b"/>
                </a:solidFill>
                <a:latin typeface="Calibri"/>
                <a:ea typeface="Calibri"/>
              </a:rPr>
              <a:t>PARTIE 3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Text 46"/>
          <p:cNvSpPr/>
          <p:nvPr/>
        </p:nvSpPr>
        <p:spPr>
          <a:xfrm>
            <a:off x="502920" y="395640"/>
            <a:ext cx="944676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ormorant Garamond"/>
                <a:ea typeface="Cormorant Garamond"/>
              </a:rPr>
              <a:t>Contrôle d’accès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Text 47"/>
          <p:cNvSpPr/>
          <p:nvPr/>
        </p:nvSpPr>
        <p:spPr>
          <a:xfrm>
            <a:off x="3922920" y="695880"/>
            <a:ext cx="45367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cfe6cf"/>
                </a:solidFill>
                <a:latin typeface="Calibri"/>
                <a:ea typeface="Calibri"/>
              </a:rPr>
              <a:t>Table des rôles 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0" name="" descr=""/>
          <p:cNvPicPr/>
          <p:nvPr/>
        </p:nvPicPr>
        <p:blipFill>
          <a:blip r:embed="rId1"/>
          <a:stretch/>
        </p:blipFill>
        <p:spPr>
          <a:xfrm>
            <a:off x="553680" y="4320360"/>
            <a:ext cx="8625960" cy="125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Shape 45"/>
          <p:cNvSpPr/>
          <p:nvPr/>
        </p:nvSpPr>
        <p:spPr>
          <a:xfrm>
            <a:off x="0" y="0"/>
            <a:ext cx="12189960" cy="1049760"/>
          </a:xfrm>
          <a:prstGeom prst="rect">
            <a:avLst/>
          </a:prstGeom>
          <a:solidFill>
            <a:srgbClr val="1f5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12" name="Text 95"/>
          <p:cNvSpPr/>
          <p:nvPr/>
        </p:nvSpPr>
        <p:spPr>
          <a:xfrm>
            <a:off x="504000" y="38880"/>
            <a:ext cx="36558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287" strike="noStrike">
                <a:solidFill>
                  <a:srgbClr val="d9822b"/>
                </a:solidFill>
                <a:latin typeface="Calibri"/>
                <a:ea typeface="Calibri"/>
              </a:rPr>
              <a:t>PARTIE 3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Text 96"/>
          <p:cNvSpPr/>
          <p:nvPr/>
        </p:nvSpPr>
        <p:spPr>
          <a:xfrm>
            <a:off x="502920" y="395640"/>
            <a:ext cx="944676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ormorant Garamond"/>
                <a:ea typeface="Cormorant Garamond"/>
              </a:rPr>
              <a:t>Sécurité du Back-end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Rounded Rectangle 434"/>
          <p:cNvSpPr/>
          <p:nvPr/>
        </p:nvSpPr>
        <p:spPr>
          <a:xfrm>
            <a:off x="411480" y="1255680"/>
            <a:ext cx="5485680" cy="2298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480">
            <a:solidFill>
              <a:srgbClr val="d2dac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Protection CSRF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Les formulaires Symfony sont automatiquement protégés. Pour les formulaires HTML manuels, Twig génère un jeton que le contrôleur vérifie avant d’exécuter l’action.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Exemple de suppression d’un produit 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Création d’un jeton                                 Vérification du jeton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product/index.html.twig 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      et         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ProductController.php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TextBox 436"/>
          <p:cNvSpPr/>
          <p:nvPr/>
        </p:nvSpPr>
        <p:spPr>
          <a:xfrm>
            <a:off x="3034800" y="6300720"/>
            <a:ext cx="238680" cy="1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16" name="Rounded Rectangle 437"/>
          <p:cNvSpPr/>
          <p:nvPr/>
        </p:nvSpPr>
        <p:spPr>
          <a:xfrm>
            <a:off x="6126480" y="1224000"/>
            <a:ext cx="5622840" cy="2330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480">
            <a:solidFill>
              <a:srgbClr val="d2dac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Validation serveur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Les données sont contrôlées côté serveur avant leur enregistrement en base.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Exemple avant validation d’une recette 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Règles de validation                                Enregistre le formulaire s’il est valide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Dans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Entity/Recette.php   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    et        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RecetteController.php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Shape 43"/>
          <p:cNvSpPr/>
          <p:nvPr/>
        </p:nvSpPr>
        <p:spPr>
          <a:xfrm>
            <a:off x="502920" y="6214320"/>
            <a:ext cx="11184120" cy="546840"/>
          </a:xfrm>
          <a:prstGeom prst="roundRect">
            <a:avLst>
              <a:gd name="adj" fmla="val 13333"/>
            </a:avLst>
          </a:prstGeom>
          <a:solidFill>
            <a:srgbClr val="fbeddd"/>
          </a:solidFill>
          <a:ln w="12600">
            <a:solidFill>
              <a:srgbClr val="f0d5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18" name="Text 50"/>
          <p:cNvSpPr/>
          <p:nvPr/>
        </p:nvSpPr>
        <p:spPr>
          <a:xfrm>
            <a:off x="777240" y="6214320"/>
            <a:ext cx="106354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6b4a1e"/>
                </a:solidFill>
                <a:latin typeface="Calibri"/>
                <a:ea typeface="Calibri"/>
              </a:rPr>
              <a:t>La sécurité est appliquée à plusieurs niveaux : formulaires, données reçues, accès à la base et authentification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Rounded Rectangle 41"/>
          <p:cNvSpPr/>
          <p:nvPr/>
        </p:nvSpPr>
        <p:spPr>
          <a:xfrm>
            <a:off x="432000" y="3555000"/>
            <a:ext cx="2627640" cy="2564640"/>
          </a:xfrm>
          <a:prstGeom prst="roundRect">
            <a:avLst>
              <a:gd name="adj" fmla="val 16667"/>
            </a:avLst>
          </a:prstGeom>
          <a:solidFill>
            <a:srgbClr val="1c211d"/>
          </a:solidFill>
          <a:ln w="12600">
            <a:solidFill>
              <a:srgbClr val="1c211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4520" rIns="109800" tIns="128160" bIns="45000" anchor="ctr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&lt;input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type="hidden"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name="_token"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value="{{ csrf_token('delete_product_' ~ product.id) }}"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&gt;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Rounded Rectangle 39"/>
          <p:cNvSpPr/>
          <p:nvPr/>
        </p:nvSpPr>
        <p:spPr>
          <a:xfrm>
            <a:off x="3240360" y="3555000"/>
            <a:ext cx="2627640" cy="2564640"/>
          </a:xfrm>
          <a:prstGeom prst="roundRect">
            <a:avLst>
              <a:gd name="adj" fmla="val 16667"/>
            </a:avLst>
          </a:prstGeom>
          <a:solidFill>
            <a:srgbClr val="1c211d"/>
          </a:solidFill>
          <a:ln w="12600">
            <a:solidFill>
              <a:srgbClr val="1c211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4520" rIns="109800" tIns="128160" bIns="45000" anchor="ctr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if (!$this-&gt;isCsrfTokenValid(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'delete_product_'.$product-       &gt;getId(),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(string) $request→request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-&gt;get('_token')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)) {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throw $this-         &gt;createAccessDeniedException(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 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'Jeton de sécurité         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 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invalide.'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);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}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" name="Rounded Rectangle 40"/>
          <p:cNvSpPr/>
          <p:nvPr/>
        </p:nvSpPr>
        <p:spPr>
          <a:xfrm>
            <a:off x="6192360" y="3555000"/>
            <a:ext cx="2627640" cy="2564640"/>
          </a:xfrm>
          <a:prstGeom prst="roundRect">
            <a:avLst>
              <a:gd name="adj" fmla="val 16667"/>
            </a:avLst>
          </a:prstGeom>
          <a:solidFill>
            <a:srgbClr val="1c211d"/>
          </a:solidFill>
          <a:ln w="12600">
            <a:solidFill>
              <a:srgbClr val="1c211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4520" rIns="109800" tIns="128160" bIns="45000" anchor="ctr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#[Assert\NotBlank(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message: 'Veuillez donner        un nom à votre recette.'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)]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#[Assert\Length(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max: 150,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maxMessage: 'Le nom de la     recette ne peut pas             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dépasser {{ limit }}        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caractères.'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)]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private string $titre = '';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" name="Rounded Rectangle 43"/>
          <p:cNvSpPr/>
          <p:nvPr/>
        </p:nvSpPr>
        <p:spPr>
          <a:xfrm>
            <a:off x="9000720" y="3555000"/>
            <a:ext cx="2627640" cy="2564640"/>
          </a:xfrm>
          <a:prstGeom prst="roundRect">
            <a:avLst>
              <a:gd name="adj" fmla="val 16667"/>
            </a:avLst>
          </a:prstGeom>
          <a:solidFill>
            <a:srgbClr val="1c211d"/>
          </a:solidFill>
          <a:ln w="12600">
            <a:solidFill>
              <a:srgbClr val="1c211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4520" rIns="109800" tIns="128160" bIns="45000" anchor="ctr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if ($form-&gt;isSubmitted() &amp;&amp;     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$form-&gt;isValid()) {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$entityManager-     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&gt;persist($recette);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$entityManager-&gt;flush();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}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Shape 49"/>
          <p:cNvSpPr/>
          <p:nvPr/>
        </p:nvSpPr>
        <p:spPr>
          <a:xfrm>
            <a:off x="0" y="0"/>
            <a:ext cx="12189960" cy="1049760"/>
          </a:xfrm>
          <a:prstGeom prst="rect">
            <a:avLst/>
          </a:prstGeom>
          <a:solidFill>
            <a:srgbClr val="1f5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24" name="Text 87"/>
          <p:cNvSpPr/>
          <p:nvPr/>
        </p:nvSpPr>
        <p:spPr>
          <a:xfrm>
            <a:off x="504000" y="38880"/>
            <a:ext cx="36558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287" strike="noStrike">
                <a:solidFill>
                  <a:srgbClr val="d9822b"/>
                </a:solidFill>
                <a:latin typeface="Calibri"/>
                <a:ea typeface="Calibri"/>
              </a:rPr>
              <a:t>PARTIE 3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Text 88"/>
          <p:cNvSpPr/>
          <p:nvPr/>
        </p:nvSpPr>
        <p:spPr>
          <a:xfrm>
            <a:off x="502920" y="395640"/>
            <a:ext cx="944676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ormorant Garamond"/>
                <a:ea typeface="Cormorant Garamond"/>
              </a:rPr>
              <a:t>Sécurité du Back-end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Rounded Rectangle 44"/>
          <p:cNvSpPr/>
          <p:nvPr/>
        </p:nvSpPr>
        <p:spPr>
          <a:xfrm>
            <a:off x="411480" y="1255680"/>
            <a:ext cx="5485680" cy="2298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480">
            <a:solidFill>
              <a:srgbClr val="d2dac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Protection contre les Injections SQL et XSS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Doctrine transmet les valeurs comme paramètre de requête au lieu de les concaténer directement dans SQL. Twig échappe automatiquement les données affichées.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Exemple 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Doctrine – requête paramétrée                    Twig – affichage échappé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Dans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RecetteRepository.php  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     et       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recette/index.html.twig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TextBox 37"/>
          <p:cNvSpPr/>
          <p:nvPr/>
        </p:nvSpPr>
        <p:spPr>
          <a:xfrm>
            <a:off x="3034800" y="6300720"/>
            <a:ext cx="238680" cy="1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28" name="Rounded Rectangle 52"/>
          <p:cNvSpPr/>
          <p:nvPr/>
        </p:nvSpPr>
        <p:spPr>
          <a:xfrm>
            <a:off x="6126480" y="1224000"/>
            <a:ext cx="5622840" cy="2330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480">
            <a:solidFill>
              <a:srgbClr val="d2dac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Mots de passe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Les mots de passe ne sont jamais stockés en clair. Le composant PasswordHasher de Symfony génère leur empreinte avant l’enregistrement.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Exemple inscription d’un utilisateur 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Hachage du mot de passe                          configuration    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Dans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RegistrationController.php   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et    dans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security.yaml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Shape 50"/>
          <p:cNvSpPr/>
          <p:nvPr/>
        </p:nvSpPr>
        <p:spPr>
          <a:xfrm>
            <a:off x="502920" y="6214320"/>
            <a:ext cx="11184120" cy="546840"/>
          </a:xfrm>
          <a:prstGeom prst="roundRect">
            <a:avLst>
              <a:gd name="adj" fmla="val 13333"/>
            </a:avLst>
          </a:prstGeom>
          <a:solidFill>
            <a:srgbClr val="fbeddd"/>
          </a:solidFill>
          <a:ln w="12600">
            <a:solidFill>
              <a:srgbClr val="f0d5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30" name="Text 89"/>
          <p:cNvSpPr/>
          <p:nvPr/>
        </p:nvSpPr>
        <p:spPr>
          <a:xfrm>
            <a:off x="777240" y="6214320"/>
            <a:ext cx="106354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6b4a1e"/>
                </a:solidFill>
                <a:latin typeface="Calibri"/>
                <a:ea typeface="Calibri"/>
              </a:rPr>
              <a:t>La sécurité est appliquée à plusieurs niveaux : formulaires, données reçues, accès à la base et authentification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Rounded Rectangle 53"/>
          <p:cNvSpPr/>
          <p:nvPr/>
        </p:nvSpPr>
        <p:spPr>
          <a:xfrm>
            <a:off x="432000" y="3555000"/>
            <a:ext cx="2627640" cy="2564640"/>
          </a:xfrm>
          <a:prstGeom prst="roundRect">
            <a:avLst>
              <a:gd name="adj" fmla="val 16667"/>
            </a:avLst>
          </a:prstGeom>
          <a:solidFill>
            <a:srgbClr val="1c211d"/>
          </a:solidFill>
          <a:ln w="12600">
            <a:solidFill>
              <a:srgbClr val="1c211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4520" rIns="109800" tIns="128160" bIns="45000" anchor="ctr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return $this-&gt;createQueryBuilder('recette')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-&gt;andWhere('recette.statut =     :status')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-&gt;andWhere('recette.isPublic    = :isPublic')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-&gt;setParameter('status',      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RecetteStatut::PUBLIEE)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-&gt;setParameter('isPublic',    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true)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-&gt;getQuery()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-&gt;getResult();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" name="Rounded Rectangle 54"/>
          <p:cNvSpPr/>
          <p:nvPr/>
        </p:nvSpPr>
        <p:spPr>
          <a:xfrm>
            <a:off x="3240360" y="3555000"/>
            <a:ext cx="2627640" cy="2564640"/>
          </a:xfrm>
          <a:prstGeom prst="roundRect">
            <a:avLst>
              <a:gd name="adj" fmla="val 16667"/>
            </a:avLst>
          </a:prstGeom>
          <a:solidFill>
            <a:srgbClr val="1c211d"/>
          </a:solidFill>
          <a:ln w="12600">
            <a:solidFill>
              <a:srgbClr val="1c211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4520" rIns="109800" tIns="128160" bIns="45000" anchor="ctr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{{ recette.titre }}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Rounded Rectangle 55"/>
          <p:cNvSpPr/>
          <p:nvPr/>
        </p:nvSpPr>
        <p:spPr>
          <a:xfrm>
            <a:off x="6192360" y="3555000"/>
            <a:ext cx="2627640" cy="2564640"/>
          </a:xfrm>
          <a:prstGeom prst="roundRect">
            <a:avLst>
              <a:gd name="adj" fmla="val 16667"/>
            </a:avLst>
          </a:prstGeom>
          <a:solidFill>
            <a:srgbClr val="1c211d"/>
          </a:solidFill>
          <a:ln w="12600">
            <a:solidFill>
              <a:srgbClr val="1c211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4520" rIns="109800" tIns="128160" bIns="45000" anchor="ctr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$plainPassword = $form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-&gt;get('plainPassword')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-&gt;getData();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$user-&gt;setPassword(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$passwordHasher-&gt;    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hashPassword(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 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$user,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 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$plainPassword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);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" name="Rounded Rectangle 56"/>
          <p:cNvSpPr/>
          <p:nvPr/>
        </p:nvSpPr>
        <p:spPr>
          <a:xfrm>
            <a:off x="9000720" y="3555000"/>
            <a:ext cx="2627640" cy="2564640"/>
          </a:xfrm>
          <a:prstGeom prst="roundRect">
            <a:avLst>
              <a:gd name="adj" fmla="val 16667"/>
            </a:avLst>
          </a:prstGeom>
          <a:solidFill>
            <a:srgbClr val="1c211d"/>
          </a:solidFill>
          <a:ln w="12600">
            <a:solidFill>
              <a:srgbClr val="1c211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4520" rIns="109800" tIns="128160" bIns="45000" anchor="ctr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security: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password_hashers: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 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Symfony\Component\    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        </a:t>
            </a:r>
            <a:r>
              <a:rPr b="0" lang="fr-FR" sz="1200" spc="-1" strike="noStrike">
                <a:solidFill>
                  <a:srgbClr val="ffffff"/>
                </a:solidFill>
                <a:latin typeface="Arial"/>
                <a:ea typeface="DejaVu Sans"/>
              </a:rPr>
              <a:t>Security\Core\User\    PasswordAuthenticatedUserInterface: 'auto'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Rectangle 1"/>
          <p:cNvSpPr/>
          <p:nvPr/>
        </p:nvSpPr>
        <p:spPr>
          <a:xfrm>
            <a:off x="0" y="0"/>
            <a:ext cx="12191040" cy="712080"/>
          </a:xfrm>
          <a:prstGeom prst="rect">
            <a:avLst/>
          </a:prstGeom>
          <a:solidFill>
            <a:srgbClr val="1c6031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6" name="TextBox 2"/>
          <p:cNvSpPr/>
          <p:nvPr/>
        </p:nvSpPr>
        <p:spPr>
          <a:xfrm>
            <a:off x="411480" y="109800"/>
            <a:ext cx="210780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700" spc="-1" strike="noStrike">
                <a:solidFill>
                  <a:srgbClr val="e08e2c"/>
                </a:solidFill>
                <a:latin typeface="Aptos"/>
                <a:ea typeface="DejaVu Sans"/>
              </a:rPr>
              <a:t>PARTIE 3 — EXEMPLE CONCRET — SÉCURITÉ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TextBox 3"/>
          <p:cNvSpPr/>
          <p:nvPr/>
        </p:nvSpPr>
        <p:spPr>
          <a:xfrm>
            <a:off x="411480" y="255960"/>
            <a:ext cx="795420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2200" spc="-1" strike="noStrike">
                <a:solidFill>
                  <a:srgbClr val="ffffff"/>
                </a:solidFill>
                <a:latin typeface="Aptos"/>
                <a:ea typeface="DejaVu Sans"/>
              </a:rPr>
              <a:t>Sécurité — authentification et autorisation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TextBox 4"/>
          <p:cNvSpPr/>
          <p:nvPr/>
        </p:nvSpPr>
        <p:spPr>
          <a:xfrm>
            <a:off x="8412480" y="274320"/>
            <a:ext cx="319932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Compétence 7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TextBox 5"/>
          <p:cNvSpPr/>
          <p:nvPr/>
        </p:nvSpPr>
        <p:spPr>
          <a:xfrm>
            <a:off x="411480" y="6565320"/>
            <a:ext cx="27421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600" spc="-1" strike="noStrike">
                <a:solidFill>
                  <a:srgbClr val="267837"/>
                </a:solidFill>
                <a:latin typeface="Aptos"/>
                <a:ea typeface="DejaVu Sans"/>
              </a:rPr>
              <a:t>AU FIL DES SAISONS  •  DWWM 2026</a:t>
            </a:r>
            <a:endParaRPr b="0" lang="fr-FR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Rounded Rectangle 6"/>
          <p:cNvSpPr/>
          <p:nvPr/>
        </p:nvSpPr>
        <p:spPr>
          <a:xfrm>
            <a:off x="457200" y="1544760"/>
            <a:ext cx="1919160" cy="291600"/>
          </a:xfrm>
          <a:prstGeom prst="roundRect">
            <a:avLst>
              <a:gd name="adj" fmla="val 16667"/>
            </a:avLst>
          </a:prstGeom>
          <a:solidFill>
            <a:srgbClr val="1c6031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1" name="TextBox 7"/>
          <p:cNvSpPr/>
          <p:nvPr/>
        </p:nvSpPr>
        <p:spPr>
          <a:xfrm>
            <a:off x="530280" y="1595160"/>
            <a:ext cx="17730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EXTRAIT DE CODE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Rounded Rectangle 8"/>
          <p:cNvSpPr/>
          <p:nvPr/>
        </p:nvSpPr>
        <p:spPr>
          <a:xfrm>
            <a:off x="457200" y="1892160"/>
            <a:ext cx="5622480" cy="2879280"/>
          </a:xfrm>
          <a:prstGeom prst="roundRect">
            <a:avLst>
              <a:gd name="adj" fmla="val 16667"/>
            </a:avLst>
          </a:prstGeom>
          <a:solidFill>
            <a:srgbClr val="1c211d"/>
          </a:solidFill>
          <a:ln w="12600">
            <a:solidFill>
              <a:srgbClr val="1c211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4520" rIns="109800" tIns="128160" bIns="45000" anchor="ctr">
            <a:noAutofit/>
          </a:bodyPr>
          <a:p>
            <a:pPr>
              <a:lnSpc>
                <a:spcPct val="100000"/>
              </a:lnSpc>
            </a:pPr>
            <a:br>
              <a:rPr sz="1100"/>
            </a:br>
            <a:r>
              <a:rPr b="0" lang="fr-FR" sz="1100" spc="-1" strike="noStrike">
                <a:solidFill>
                  <a:srgbClr val="f4f7f2"/>
                </a:solidFill>
                <a:latin typeface="Arial"/>
                <a:ea typeface="DejaVu Sans"/>
              </a:rPr>
              <a:t>  </a:t>
            </a:r>
            <a:r>
              <a:rPr b="0" lang="fr-FR" sz="1100" spc="-1" strike="noStrike">
                <a:solidFill>
                  <a:srgbClr val="f4f7f2"/>
                </a:solidFill>
                <a:latin typeface="Arial"/>
                <a:ea typeface="DejaVu Sans"/>
              </a:rPr>
              <a:t>access_control:</a:t>
            </a:r>
            <a:br>
              <a:rPr sz="1100"/>
            </a:br>
            <a:r>
              <a:rPr b="0" lang="fr-FR" sz="1100" spc="-1" strike="noStrike">
                <a:solidFill>
                  <a:srgbClr val="f4f7f2"/>
                </a:solidFill>
                <a:latin typeface="Arial"/>
                <a:ea typeface="DejaVu Sans"/>
              </a:rPr>
              <a:t>    - { path: ^/admin, roles: ROLE_ADMIN }</a:t>
            </a:r>
            <a:br>
              <a:rPr sz="1100"/>
            </a:br>
            <a:r>
              <a:rPr b="0" lang="fr-FR" sz="1100" spc="-1" strike="noStrike">
                <a:solidFill>
                  <a:srgbClr val="f4f7f2"/>
                </a:solidFill>
                <a:latin typeface="Arial"/>
                <a:ea typeface="DejaVu Sans"/>
              </a:rPr>
              <a:t>    - { path: ^/recettes, roles: ROLE_USER }</a:t>
            </a:r>
            <a:br>
              <a:rPr sz="1100"/>
            </a:br>
            <a:r>
              <a:rPr b="0" lang="fr-FR" sz="1100" spc="-1" strike="noStrike">
                <a:solidFill>
                  <a:srgbClr val="f4f7f2"/>
                </a:solidFill>
                <a:latin typeface="Arial"/>
                <a:ea typeface="DejaVu Sans"/>
              </a:rPr>
              <a:t>    - { path: ^/profile, roles : ROLE_USER 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" name="Rounded Rectangle 9"/>
          <p:cNvSpPr/>
          <p:nvPr/>
        </p:nvSpPr>
        <p:spPr>
          <a:xfrm>
            <a:off x="6355080" y="1544760"/>
            <a:ext cx="2010600" cy="291600"/>
          </a:xfrm>
          <a:prstGeom prst="roundRect">
            <a:avLst>
              <a:gd name="adj" fmla="val 16667"/>
            </a:avLst>
          </a:prstGeom>
          <a:solidFill>
            <a:srgbClr val="e08e2c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4" name="TextBox 10"/>
          <p:cNvSpPr/>
          <p:nvPr/>
        </p:nvSpPr>
        <p:spPr>
          <a:xfrm>
            <a:off x="6428160" y="1595160"/>
            <a:ext cx="18644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CE QUE ÇA PROUVE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Rounded Rectangle 11"/>
          <p:cNvSpPr/>
          <p:nvPr/>
        </p:nvSpPr>
        <p:spPr>
          <a:xfrm>
            <a:off x="6355080" y="1964160"/>
            <a:ext cx="5375520" cy="1324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8f1e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6" name="TextBox 12"/>
          <p:cNvSpPr/>
          <p:nvPr/>
        </p:nvSpPr>
        <p:spPr>
          <a:xfrm>
            <a:off x="6537960" y="2165400"/>
            <a:ext cx="4982400" cy="81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fr-FR" sz="1150" spc="-1" strike="noStrike">
                <a:solidFill>
                  <a:srgbClr val="232b24"/>
                </a:solidFill>
                <a:latin typeface="Aptos"/>
                <a:ea typeface="DejaVu Sans"/>
              </a:rPr>
              <a:t>• </a:t>
            </a:r>
            <a:r>
              <a:rPr b="0" lang="fr-FR" sz="1150" spc="-1" strike="noStrike">
                <a:solidFill>
                  <a:srgbClr val="232b24"/>
                </a:solidFill>
                <a:latin typeface="Aptos"/>
                <a:ea typeface="DejaVu Sans"/>
              </a:rPr>
              <a:t>Symfony Security gère la connexion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fr-FR" sz="1150" spc="-1" strike="noStrike">
                <a:solidFill>
                  <a:srgbClr val="232b24"/>
                </a:solidFill>
                <a:latin typeface="Aptos"/>
                <a:ea typeface="DejaVu Sans"/>
              </a:rPr>
              <a:t>• </a:t>
            </a:r>
            <a:r>
              <a:rPr b="0" lang="fr-FR" sz="1150" spc="-1" strike="noStrike">
                <a:solidFill>
                  <a:srgbClr val="232b24"/>
                </a:solidFill>
                <a:latin typeface="Aptos"/>
                <a:ea typeface="DejaVu Sans"/>
              </a:rPr>
              <a:t>CSRF protège le formulaire de connexion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fr-FR" sz="1150" spc="-1" strike="noStrike">
                <a:solidFill>
                  <a:srgbClr val="232b24"/>
                </a:solidFill>
                <a:latin typeface="Aptos"/>
                <a:ea typeface="DejaVu Sans"/>
              </a:rPr>
              <a:t>• </a:t>
            </a:r>
            <a:r>
              <a:rPr b="0" lang="fr-FR" sz="1150" spc="-1" strike="noStrike">
                <a:solidFill>
                  <a:srgbClr val="232b24"/>
                </a:solidFill>
                <a:latin typeface="Aptos"/>
                <a:ea typeface="DejaVu Sans"/>
              </a:rPr>
              <a:t>Les zones sensibles sont limitées par rôle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Rounded Rectangle 13"/>
          <p:cNvSpPr/>
          <p:nvPr/>
        </p:nvSpPr>
        <p:spPr>
          <a:xfrm>
            <a:off x="6355080" y="3428280"/>
            <a:ext cx="1919160" cy="291600"/>
          </a:xfrm>
          <a:prstGeom prst="roundRect">
            <a:avLst>
              <a:gd name="adj" fmla="val 16667"/>
            </a:avLst>
          </a:prstGeom>
          <a:solidFill>
            <a:srgbClr val="1c6031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8" name="TextBox 14"/>
          <p:cNvSpPr/>
          <p:nvPr/>
        </p:nvSpPr>
        <p:spPr>
          <a:xfrm>
            <a:off x="6428160" y="3478680"/>
            <a:ext cx="17730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CE QUE CA DIT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Rounded Rectangle 15"/>
          <p:cNvSpPr/>
          <p:nvPr/>
        </p:nvSpPr>
        <p:spPr>
          <a:xfrm>
            <a:off x="6355080" y="3847680"/>
            <a:ext cx="5375520" cy="1507680"/>
          </a:xfrm>
          <a:prstGeom prst="roundRect">
            <a:avLst>
              <a:gd name="adj" fmla="val 16667"/>
            </a:avLst>
          </a:prstGeom>
          <a:solidFill>
            <a:srgbClr val="f7faf4"/>
          </a:solidFill>
          <a:ln w="12600">
            <a:solidFill>
              <a:srgbClr val="e8f1e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50" name="TextBox 16"/>
          <p:cNvSpPr/>
          <p:nvPr/>
        </p:nvSpPr>
        <p:spPr>
          <a:xfrm>
            <a:off x="6565320" y="4067280"/>
            <a:ext cx="49183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232b24"/>
                </a:solidFill>
                <a:latin typeface="Aptos"/>
                <a:ea typeface="DejaVu Sans"/>
              </a:rPr>
              <a:t>« Je sépare authentification et autorisation : d’abord je vérifie qui est connecté, puis je vérifie ce qu’il a le droit de faire. Par exemple, un utilisateur connecté peut accéder à son profil et aux recettes, alors que l’espace administrateur nécessite le rôle ROLE_ADMIN.»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Text 3"/>
          <p:cNvSpPr/>
          <p:nvPr/>
        </p:nvSpPr>
        <p:spPr>
          <a:xfrm>
            <a:off x="457200" y="647388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52" name="Text 4"/>
          <p:cNvSpPr/>
          <p:nvPr/>
        </p:nvSpPr>
        <p:spPr>
          <a:xfrm>
            <a:off x="11277360" y="647388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Shape 5"/>
          <p:cNvSpPr/>
          <p:nvPr/>
        </p:nvSpPr>
        <p:spPr>
          <a:xfrm>
            <a:off x="502920" y="1645920"/>
            <a:ext cx="3543840" cy="402156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54" name="Text 6"/>
          <p:cNvSpPr/>
          <p:nvPr/>
        </p:nvSpPr>
        <p:spPr>
          <a:xfrm>
            <a:off x="758880" y="1901880"/>
            <a:ext cx="30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Modèle de données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Text 7"/>
          <p:cNvSpPr/>
          <p:nvPr/>
        </p:nvSpPr>
        <p:spPr>
          <a:xfrm>
            <a:off x="758880" y="2377440"/>
            <a:ext cx="3031920" cy="30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Difficultés :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Relations initiales mal définies et tables de liaison manquantes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Solution :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Correction des relations et ajout des tables de liaison.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Résultat :</a:t>
            </a: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 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Modèle relationnel plus cohérent.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Shape 8"/>
          <p:cNvSpPr/>
          <p:nvPr/>
        </p:nvSpPr>
        <p:spPr>
          <a:xfrm>
            <a:off x="4322880" y="1645920"/>
            <a:ext cx="3543840" cy="402156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57" name="Text 9"/>
          <p:cNvSpPr/>
          <p:nvPr/>
        </p:nvSpPr>
        <p:spPr>
          <a:xfrm>
            <a:off x="4578840" y="1901880"/>
            <a:ext cx="30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Table Avis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Text 10"/>
          <p:cNvSpPr/>
          <p:nvPr/>
        </p:nvSpPr>
        <p:spPr>
          <a:xfrm>
            <a:off x="4578840" y="2377440"/>
            <a:ext cx="3031920" cy="30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Difficultés :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Permettre à plusieurs utilisateurs de noter et commenter une recette.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Solution :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Création d’une entité Avis reliant User et Recette.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Résultat :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Notes et commentaires associés à leur auteur et à leur recette.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Shape 11"/>
          <p:cNvSpPr/>
          <p:nvPr/>
        </p:nvSpPr>
        <p:spPr>
          <a:xfrm>
            <a:off x="8143200" y="1645920"/>
            <a:ext cx="3543840" cy="402156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60" name="Text 12"/>
          <p:cNvSpPr/>
          <p:nvPr/>
        </p:nvSpPr>
        <p:spPr>
          <a:xfrm>
            <a:off x="8399160" y="1901880"/>
            <a:ext cx="30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Mise en cohérence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Text 13"/>
          <p:cNvSpPr/>
          <p:nvPr/>
        </p:nvSpPr>
        <p:spPr>
          <a:xfrm>
            <a:off x="8399160" y="2377440"/>
            <a:ext cx="3031920" cy="30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Difficulté :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Faire correspondre le modèle, Doctrine et MySQL.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Solution :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Vérification des schémas et adaptation des entités Doctrine.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Résultat : 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Schéma final cohérent avec la base réelle.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Shape 46"/>
          <p:cNvSpPr/>
          <p:nvPr/>
        </p:nvSpPr>
        <p:spPr>
          <a:xfrm>
            <a:off x="0" y="0"/>
            <a:ext cx="12189960" cy="1049760"/>
          </a:xfrm>
          <a:prstGeom prst="rect">
            <a:avLst/>
          </a:prstGeom>
          <a:solidFill>
            <a:srgbClr val="1f5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63" name="Text 98"/>
          <p:cNvSpPr/>
          <p:nvPr/>
        </p:nvSpPr>
        <p:spPr>
          <a:xfrm>
            <a:off x="504000" y="38880"/>
            <a:ext cx="36558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287" strike="noStrike">
                <a:solidFill>
                  <a:srgbClr val="d9822b"/>
                </a:solidFill>
                <a:latin typeface="Calibri"/>
                <a:ea typeface="Calibri"/>
              </a:rPr>
              <a:t>PARTIE 3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Text 99"/>
          <p:cNvSpPr/>
          <p:nvPr/>
        </p:nvSpPr>
        <p:spPr>
          <a:xfrm>
            <a:off x="502920" y="395640"/>
            <a:ext cx="944676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ormorant Garamond"/>
                <a:ea typeface="Cormorant Garamond"/>
              </a:rPr>
              <a:t>Contraintes rencontrées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Text 100"/>
          <p:cNvSpPr/>
          <p:nvPr/>
        </p:nvSpPr>
        <p:spPr>
          <a:xfrm>
            <a:off x="5542920" y="695880"/>
            <a:ext cx="27367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cfe6cf"/>
                </a:solidFill>
                <a:latin typeface="Calibri"/>
                <a:ea typeface="Calibri"/>
              </a:rPr>
              <a:t>Conception du Back-end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Shape 51"/>
          <p:cNvSpPr/>
          <p:nvPr/>
        </p:nvSpPr>
        <p:spPr>
          <a:xfrm>
            <a:off x="502920" y="5746320"/>
            <a:ext cx="11184120" cy="546840"/>
          </a:xfrm>
          <a:prstGeom prst="roundRect">
            <a:avLst>
              <a:gd name="adj" fmla="val 13333"/>
            </a:avLst>
          </a:prstGeom>
          <a:solidFill>
            <a:srgbClr val="fbeddd"/>
          </a:solidFill>
          <a:ln w="12600">
            <a:solidFill>
              <a:srgbClr val="f0d5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67" name="Text 107"/>
          <p:cNvSpPr/>
          <p:nvPr/>
        </p:nvSpPr>
        <p:spPr>
          <a:xfrm>
            <a:off x="777240" y="5746320"/>
            <a:ext cx="106354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6b4a1e"/>
                </a:solidFill>
                <a:latin typeface="Calibri"/>
                <a:ea typeface="Calibri"/>
              </a:rPr>
              <a:t>Les difficultés rencontrées ont conduit à faire évoluer le modèle de données avant sa mise en oeuvre définitive avec Doctrine et MySQL.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Rounded Rectangle 57"/>
          <p:cNvSpPr/>
          <p:nvPr/>
        </p:nvSpPr>
        <p:spPr>
          <a:xfrm>
            <a:off x="237960" y="3708000"/>
            <a:ext cx="5485680" cy="1259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480">
            <a:solidFill>
              <a:srgbClr val="d7ded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69" name="Rounded Rectangle 7"/>
          <p:cNvSpPr/>
          <p:nvPr/>
        </p:nvSpPr>
        <p:spPr>
          <a:xfrm>
            <a:off x="273960" y="1152000"/>
            <a:ext cx="5485680" cy="1259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480">
            <a:solidFill>
              <a:srgbClr val="d7ded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Modèle de données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Difficulté : Le modèle initial ne prévoyait pas les avis ni les signalements.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Solution : Ajout de la table Avis pour gérer les notes et les commentaires, puis l’ajout du système de signalement pour les recettes, les commentaires et les utilisateurs.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TextBox 9"/>
          <p:cNvSpPr/>
          <p:nvPr/>
        </p:nvSpPr>
        <p:spPr>
          <a:xfrm>
            <a:off x="224640" y="3787560"/>
            <a:ext cx="5541120" cy="136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Docker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Difficulté : Reproduire le même environnement de développement.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Solution : Conteneurisation de PHP, MySQL et Adminer avec Docker Compose.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Rectangle 4"/>
          <p:cNvSpPr/>
          <p:nvPr/>
        </p:nvSpPr>
        <p:spPr>
          <a:xfrm>
            <a:off x="0" y="0"/>
            <a:ext cx="12191040" cy="712080"/>
          </a:xfrm>
          <a:prstGeom prst="rect">
            <a:avLst/>
          </a:prstGeom>
          <a:solidFill>
            <a:srgbClr val="1c6031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72" name="TextBox 48"/>
          <p:cNvSpPr/>
          <p:nvPr/>
        </p:nvSpPr>
        <p:spPr>
          <a:xfrm>
            <a:off x="411480" y="109800"/>
            <a:ext cx="228780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700" spc="-1" strike="noStrike">
                <a:solidFill>
                  <a:srgbClr val="e08e2c"/>
                </a:solidFill>
                <a:latin typeface="Aptos"/>
                <a:ea typeface="DejaVu Sans"/>
              </a:rPr>
              <a:t>PARTIE 3 — EXEMPLE CONCRET — CODE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TextBox 49"/>
          <p:cNvSpPr/>
          <p:nvPr/>
        </p:nvSpPr>
        <p:spPr>
          <a:xfrm>
            <a:off x="411480" y="255960"/>
            <a:ext cx="795420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2200" spc="-1" strike="noStrike">
                <a:solidFill>
                  <a:srgbClr val="ffffff"/>
                </a:solidFill>
                <a:latin typeface="Aptos"/>
                <a:ea typeface="DejaVu Sans"/>
              </a:rPr>
              <a:t>Difficultés &amp; résolution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4" name="" descr=""/>
          <p:cNvPicPr/>
          <p:nvPr/>
        </p:nvPicPr>
        <p:blipFill>
          <a:blip r:embed="rId1"/>
          <a:stretch/>
        </p:blipFill>
        <p:spPr>
          <a:xfrm>
            <a:off x="260640" y="5091840"/>
            <a:ext cx="10800720" cy="1351800"/>
          </a:xfrm>
          <a:prstGeom prst="rect">
            <a:avLst/>
          </a:prstGeom>
          <a:ln w="0">
            <a:noFill/>
          </a:ln>
        </p:spPr>
      </p:pic>
      <p:grpSp>
        <p:nvGrpSpPr>
          <p:cNvPr id="575" name=""/>
          <p:cNvGrpSpPr/>
          <p:nvPr/>
        </p:nvGrpSpPr>
        <p:grpSpPr>
          <a:xfrm>
            <a:off x="6175080" y="836640"/>
            <a:ext cx="5633640" cy="3820680"/>
            <a:chOff x="6175080" y="836640"/>
            <a:chExt cx="5633640" cy="3820680"/>
          </a:xfrm>
        </p:grpSpPr>
        <p:pic>
          <p:nvPicPr>
            <p:cNvPr id="576" name="" descr=""/>
            <p:cNvPicPr/>
            <p:nvPr/>
          </p:nvPicPr>
          <p:blipFill>
            <a:blip r:embed="rId2"/>
            <a:stretch/>
          </p:blipFill>
          <p:spPr>
            <a:xfrm>
              <a:off x="6175080" y="1410120"/>
              <a:ext cx="3923640" cy="32472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77" name="" descr=""/>
            <p:cNvPicPr/>
            <p:nvPr/>
          </p:nvPicPr>
          <p:blipFill>
            <a:blip r:embed="rId3"/>
            <a:stretch/>
          </p:blipFill>
          <p:spPr>
            <a:xfrm>
              <a:off x="8047080" y="836640"/>
              <a:ext cx="3761640" cy="2380680"/>
            </a:xfrm>
            <a:prstGeom prst="rect">
              <a:avLst/>
            </a:prstGeom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Shape 48"/>
          <p:cNvSpPr/>
          <p:nvPr/>
        </p:nvSpPr>
        <p:spPr>
          <a:xfrm>
            <a:off x="0" y="0"/>
            <a:ext cx="12189960" cy="1049760"/>
          </a:xfrm>
          <a:prstGeom prst="rect">
            <a:avLst/>
          </a:prstGeom>
          <a:solidFill>
            <a:srgbClr val="1f5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79" name="Text 102"/>
          <p:cNvSpPr/>
          <p:nvPr/>
        </p:nvSpPr>
        <p:spPr>
          <a:xfrm>
            <a:off x="504000" y="38880"/>
            <a:ext cx="36558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287" strike="noStrike">
                <a:solidFill>
                  <a:srgbClr val="d9822b"/>
                </a:solidFill>
                <a:latin typeface="Calibri"/>
                <a:ea typeface="Calibri"/>
              </a:rPr>
              <a:t>PARTIE 3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Text 103"/>
          <p:cNvSpPr/>
          <p:nvPr/>
        </p:nvSpPr>
        <p:spPr>
          <a:xfrm>
            <a:off x="502920" y="395640"/>
            <a:ext cx="1101672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ormorant Garamond"/>
                <a:ea typeface="Cormorant Garamond"/>
              </a:rPr>
              <a:t>Conteneurisation et préparation au déploiement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Rounded Rectangle 485"/>
          <p:cNvSpPr/>
          <p:nvPr/>
        </p:nvSpPr>
        <p:spPr>
          <a:xfrm>
            <a:off x="7040880" y="1336680"/>
            <a:ext cx="4708440" cy="35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480">
            <a:solidFill>
              <a:srgbClr val="d7ded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82" name="TextBox 486"/>
          <p:cNvSpPr/>
          <p:nvPr/>
        </p:nvSpPr>
        <p:spPr>
          <a:xfrm>
            <a:off x="7712280" y="1473840"/>
            <a:ext cx="33663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800" spc="-1" strike="noStrike">
                <a:solidFill>
                  <a:srgbClr val="1d6332"/>
                </a:solidFill>
                <a:latin typeface="Arial"/>
                <a:ea typeface="DejaVu Sans"/>
              </a:rPr>
              <a:t>Environnement reproductible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TextBox 487"/>
          <p:cNvSpPr/>
          <p:nvPr/>
        </p:nvSpPr>
        <p:spPr>
          <a:xfrm>
            <a:off x="7225560" y="2190960"/>
            <a:ext cx="4339800" cy="19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PHP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fournit l’environnement d’exécution de Symfony.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•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MySQL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assure le stockage persistant des données.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Adminer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permet d’administrer la base de données.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Docker Compose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définit et démarre les services ensemble.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84" name="" descr=""/>
          <p:cNvPicPr/>
          <p:nvPr/>
        </p:nvPicPr>
        <p:blipFill>
          <a:blip r:embed="rId1"/>
          <a:stretch/>
        </p:blipFill>
        <p:spPr>
          <a:xfrm>
            <a:off x="1800000" y="4500000"/>
            <a:ext cx="3511800" cy="1385280"/>
          </a:xfrm>
          <a:prstGeom prst="rect">
            <a:avLst/>
          </a:prstGeom>
          <a:ln w="0">
            <a:noFill/>
          </a:ln>
        </p:spPr>
      </p:pic>
      <p:sp>
        <p:nvSpPr>
          <p:cNvPr id="585" name="Rounded Rectangle 58"/>
          <p:cNvSpPr/>
          <p:nvPr/>
        </p:nvSpPr>
        <p:spPr>
          <a:xfrm>
            <a:off x="817200" y="1400760"/>
            <a:ext cx="1919160" cy="291600"/>
          </a:xfrm>
          <a:prstGeom prst="roundRect">
            <a:avLst>
              <a:gd name="adj" fmla="val 16667"/>
            </a:avLst>
          </a:prstGeom>
          <a:solidFill>
            <a:srgbClr val="1c6031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86" name="TextBox 54"/>
          <p:cNvSpPr/>
          <p:nvPr/>
        </p:nvSpPr>
        <p:spPr>
          <a:xfrm>
            <a:off x="890280" y="1451160"/>
            <a:ext cx="1773000" cy="21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87" name="TextBox 55"/>
          <p:cNvSpPr/>
          <p:nvPr/>
        </p:nvSpPr>
        <p:spPr>
          <a:xfrm>
            <a:off x="890280" y="1451160"/>
            <a:ext cx="180936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CE QUE CA DIT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Rounded Rectangle 59"/>
          <p:cNvSpPr/>
          <p:nvPr/>
        </p:nvSpPr>
        <p:spPr>
          <a:xfrm>
            <a:off x="744120" y="1980000"/>
            <a:ext cx="5375520" cy="1799640"/>
          </a:xfrm>
          <a:prstGeom prst="roundRect">
            <a:avLst>
              <a:gd name="adj" fmla="val 16667"/>
            </a:avLst>
          </a:prstGeom>
          <a:solidFill>
            <a:srgbClr val="f7faf4"/>
          </a:solidFill>
          <a:ln w="12600">
            <a:solidFill>
              <a:srgbClr val="e8f1e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« J’ai conteneurisé mon environnement avec Docker. Docker Compose me permet de démarrer ensemble trois services : PHP pour exécuter Symfony, MySQL pour stocker les données et adminer pour administrer la base.  L’intérêt est de pouvoir recréer plus facilement le même environnement sur une autre machine. »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Rectangle 1"/>
          <p:cNvSpPr/>
          <p:nvPr/>
        </p:nvSpPr>
        <p:spPr>
          <a:xfrm>
            <a:off x="0" y="0"/>
            <a:ext cx="12191040" cy="712080"/>
          </a:xfrm>
          <a:prstGeom prst="rect">
            <a:avLst/>
          </a:prstGeom>
          <a:solidFill>
            <a:srgbClr val="1c6031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0" name="TextBox 2"/>
          <p:cNvSpPr/>
          <p:nvPr/>
        </p:nvSpPr>
        <p:spPr>
          <a:xfrm>
            <a:off x="411480" y="109800"/>
            <a:ext cx="246780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700" spc="-1" strike="noStrike">
                <a:solidFill>
                  <a:srgbClr val="e08e2c"/>
                </a:solidFill>
                <a:latin typeface="Aptos"/>
                <a:ea typeface="DejaVu Sans"/>
              </a:rPr>
              <a:t>PARTIE 3 — EXEMPLE CONCRET — ENVIRONNEMENT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TextBox 3"/>
          <p:cNvSpPr/>
          <p:nvPr/>
        </p:nvSpPr>
        <p:spPr>
          <a:xfrm>
            <a:off x="411480" y="255960"/>
            <a:ext cx="795420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2200" spc="-1" strike="noStrike">
                <a:solidFill>
                  <a:srgbClr val="ffffff"/>
                </a:solidFill>
                <a:latin typeface="Aptos"/>
                <a:ea typeface="DejaVu Sans"/>
              </a:rPr>
              <a:t>Docker — environnement reproductible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TextBox 4"/>
          <p:cNvSpPr/>
          <p:nvPr/>
        </p:nvSpPr>
        <p:spPr>
          <a:xfrm>
            <a:off x="8412480" y="274320"/>
            <a:ext cx="319932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Compétences 1 et 8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TextBox 5"/>
          <p:cNvSpPr/>
          <p:nvPr/>
        </p:nvSpPr>
        <p:spPr>
          <a:xfrm>
            <a:off x="411480" y="6565320"/>
            <a:ext cx="27421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600" spc="-1" strike="noStrike">
                <a:solidFill>
                  <a:srgbClr val="267837"/>
                </a:solidFill>
                <a:latin typeface="Aptos"/>
                <a:ea typeface="DejaVu Sans"/>
              </a:rPr>
              <a:t>AU FIL DES SAISONS  •  DWWM 2026</a:t>
            </a:r>
            <a:endParaRPr b="0" lang="fr-FR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Rounded Rectangle 6"/>
          <p:cNvSpPr/>
          <p:nvPr/>
        </p:nvSpPr>
        <p:spPr>
          <a:xfrm>
            <a:off x="457200" y="932760"/>
            <a:ext cx="1919160" cy="291600"/>
          </a:xfrm>
          <a:prstGeom prst="roundRect">
            <a:avLst>
              <a:gd name="adj" fmla="val 16667"/>
            </a:avLst>
          </a:prstGeom>
          <a:solidFill>
            <a:srgbClr val="1c6031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5" name="TextBox 7"/>
          <p:cNvSpPr/>
          <p:nvPr/>
        </p:nvSpPr>
        <p:spPr>
          <a:xfrm>
            <a:off x="530280" y="983160"/>
            <a:ext cx="17730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EXTRAIT DE CODE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Rounded Rectangle 8"/>
          <p:cNvSpPr/>
          <p:nvPr/>
        </p:nvSpPr>
        <p:spPr>
          <a:xfrm>
            <a:off x="457200" y="1280160"/>
            <a:ext cx="5622480" cy="2879280"/>
          </a:xfrm>
          <a:prstGeom prst="roundRect">
            <a:avLst>
              <a:gd name="adj" fmla="val 16667"/>
            </a:avLst>
          </a:prstGeom>
          <a:solidFill>
            <a:srgbClr val="1c211d"/>
          </a:solidFill>
          <a:ln w="12600">
            <a:solidFill>
              <a:srgbClr val="1c211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4520" rIns="109800" tIns="128160" bIns="45000" anchor="ctr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ebf1eb"/>
                </a:solidFill>
                <a:latin typeface="DejaVu Sans Mono"/>
                <a:ea typeface="DejaVu Sans"/>
              </a:rPr>
              <a:t>services:</a:t>
            </a:r>
            <a:br>
              <a:rPr sz="1200"/>
            </a:br>
            <a:r>
              <a:rPr b="0" lang="fr-FR" sz="1200" spc="-1" strike="noStrike">
                <a:solidFill>
                  <a:srgbClr val="ebf1eb"/>
                </a:solidFill>
                <a:latin typeface="DejaVu Sans Mono"/>
                <a:ea typeface="DejaVu Sans"/>
              </a:rPr>
              <a:t>  php:</a:t>
            </a:r>
            <a:br>
              <a:rPr sz="1200"/>
            </a:br>
            <a:r>
              <a:rPr b="0" lang="fr-FR" sz="1200" spc="-1" strike="noStrike">
                <a:solidFill>
                  <a:srgbClr val="ebf1eb"/>
                </a:solidFill>
                <a:latin typeface="DejaVu Sans Mono"/>
                <a:ea typeface="DejaVu Sans"/>
              </a:rPr>
              <a:t>    build: .</a:t>
            </a:r>
            <a:br>
              <a:rPr sz="1200"/>
            </a:br>
            <a:r>
              <a:rPr b="0" lang="fr-FR" sz="1200" spc="-1" strike="noStrike">
                <a:solidFill>
                  <a:srgbClr val="ebf1eb"/>
                </a:solidFill>
                <a:latin typeface="DejaVu Sans Mono"/>
                <a:ea typeface="DejaVu Sans"/>
              </a:rPr>
              <a:t>    ports: ['2345:80']</a:t>
            </a:r>
            <a:br>
              <a:rPr sz="1200"/>
            </a:br>
            <a:br>
              <a:rPr sz="1200"/>
            </a:br>
            <a:r>
              <a:rPr b="0" lang="fr-FR" sz="1200" spc="-1" strike="noStrike">
                <a:solidFill>
                  <a:srgbClr val="ebf1eb"/>
                </a:solidFill>
                <a:latin typeface="DejaVu Sans Mono"/>
                <a:ea typeface="DejaVu Sans"/>
              </a:rPr>
              <a:t>  mysql:</a:t>
            </a:r>
            <a:br>
              <a:rPr sz="1200"/>
            </a:br>
            <a:r>
              <a:rPr b="0" lang="fr-FR" sz="1200" spc="-1" strike="noStrike">
                <a:solidFill>
                  <a:srgbClr val="ebf1eb"/>
                </a:solidFill>
                <a:latin typeface="DejaVu Sans Mono"/>
                <a:ea typeface="DejaVu Sans"/>
              </a:rPr>
              <a:t>    image: mysql:8.4</a:t>
            </a:r>
            <a:br>
              <a:rPr sz="1200"/>
            </a:br>
            <a:br>
              <a:rPr sz="1200"/>
            </a:br>
            <a:r>
              <a:rPr b="0" lang="fr-FR" sz="1200" spc="-1" strike="noStrike">
                <a:solidFill>
                  <a:srgbClr val="ebf1eb"/>
                </a:solidFill>
                <a:latin typeface="DejaVu Sans Mono"/>
                <a:ea typeface="DejaVu Sans"/>
              </a:rPr>
              <a:t>  adminer:</a:t>
            </a:r>
            <a:br>
              <a:rPr sz="1200"/>
            </a:br>
            <a:r>
              <a:rPr b="0" lang="fr-FR" sz="1200" spc="-1" strike="noStrike">
                <a:solidFill>
                  <a:srgbClr val="ebf1eb"/>
                </a:solidFill>
                <a:latin typeface="DejaVu Sans Mono"/>
                <a:ea typeface="DejaVu Sans"/>
              </a:rPr>
              <a:t>    image: adminer</a:t>
            </a:r>
            <a:br>
              <a:rPr sz="1200"/>
            </a:br>
            <a:r>
              <a:rPr b="0" lang="fr-FR" sz="1200" spc="-1" strike="noStrike">
                <a:solidFill>
                  <a:srgbClr val="ebf1eb"/>
                </a:solidFill>
                <a:latin typeface="DejaVu Sans Mono"/>
                <a:ea typeface="DejaVu Sans"/>
              </a:rPr>
              <a:t>    ports: ['8080:8080']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7" name="Rounded Rectangle 9"/>
          <p:cNvSpPr/>
          <p:nvPr/>
        </p:nvSpPr>
        <p:spPr>
          <a:xfrm>
            <a:off x="6355080" y="932760"/>
            <a:ext cx="2010600" cy="291600"/>
          </a:xfrm>
          <a:prstGeom prst="roundRect">
            <a:avLst>
              <a:gd name="adj" fmla="val 16667"/>
            </a:avLst>
          </a:prstGeom>
          <a:solidFill>
            <a:srgbClr val="e08e2c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8" name="TextBox 10"/>
          <p:cNvSpPr/>
          <p:nvPr/>
        </p:nvSpPr>
        <p:spPr>
          <a:xfrm>
            <a:off x="6428160" y="983160"/>
            <a:ext cx="18644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CE QUE ÇA PROUVE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Rounded Rectangle 11"/>
          <p:cNvSpPr/>
          <p:nvPr/>
        </p:nvSpPr>
        <p:spPr>
          <a:xfrm>
            <a:off x="6355080" y="1280160"/>
            <a:ext cx="5375520" cy="1324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8f1e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00" name="TextBox 12"/>
          <p:cNvSpPr/>
          <p:nvPr/>
        </p:nvSpPr>
        <p:spPr>
          <a:xfrm>
            <a:off x="6537960" y="1481400"/>
            <a:ext cx="4982400" cy="81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fr-FR" sz="1150" spc="-1" strike="noStrike">
                <a:solidFill>
                  <a:srgbClr val="232b24"/>
                </a:solidFill>
                <a:latin typeface="Aptos"/>
                <a:ea typeface="DejaVu Sans"/>
              </a:rPr>
              <a:t>• </a:t>
            </a:r>
            <a:r>
              <a:rPr b="0" lang="fr-FR" sz="1150" spc="-1" strike="noStrike">
                <a:solidFill>
                  <a:srgbClr val="232b24"/>
                </a:solidFill>
                <a:latin typeface="Aptos"/>
                <a:ea typeface="DejaVu Sans"/>
              </a:rPr>
              <a:t>PHP, MySQL et Adminer sont isolés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fr-FR" sz="1150" spc="-1" strike="noStrike">
                <a:solidFill>
                  <a:srgbClr val="232b24"/>
                </a:solidFill>
                <a:latin typeface="Aptos"/>
                <a:ea typeface="DejaVu Sans"/>
              </a:rPr>
              <a:t>• </a:t>
            </a:r>
            <a:r>
              <a:rPr b="0" lang="fr-FR" sz="1150" spc="-1" strike="noStrike">
                <a:solidFill>
                  <a:srgbClr val="232b24"/>
                </a:solidFill>
                <a:latin typeface="Aptos"/>
                <a:ea typeface="DejaVu Sans"/>
              </a:rPr>
              <a:t>La configuration peut être reproduite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fr-FR" sz="1150" spc="-1" strike="noStrike">
                <a:solidFill>
                  <a:srgbClr val="232b24"/>
                </a:solidFill>
                <a:latin typeface="Aptos"/>
                <a:ea typeface="DejaVu Sans"/>
              </a:rPr>
              <a:t>• </a:t>
            </a:r>
            <a:r>
              <a:rPr b="0" lang="fr-FR" sz="1150" spc="-1" strike="noStrike">
                <a:solidFill>
                  <a:srgbClr val="232b24"/>
                </a:solidFill>
                <a:latin typeface="Aptos"/>
                <a:ea typeface="DejaVu Sans"/>
              </a:rPr>
              <a:t>Les ports rendent les services accessibles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Rounded Rectangle 13"/>
          <p:cNvSpPr/>
          <p:nvPr/>
        </p:nvSpPr>
        <p:spPr>
          <a:xfrm>
            <a:off x="6355080" y="2816280"/>
            <a:ext cx="1919160" cy="291600"/>
          </a:xfrm>
          <a:prstGeom prst="roundRect">
            <a:avLst>
              <a:gd name="adj" fmla="val 16667"/>
            </a:avLst>
          </a:prstGeom>
          <a:solidFill>
            <a:srgbClr val="1c6031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02" name="TextBox 14"/>
          <p:cNvSpPr/>
          <p:nvPr/>
        </p:nvSpPr>
        <p:spPr>
          <a:xfrm>
            <a:off x="6428160" y="2866680"/>
            <a:ext cx="17730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800" spc="-1" strike="noStrike">
                <a:solidFill>
                  <a:srgbClr val="ffffff"/>
                </a:solidFill>
                <a:latin typeface="Aptos"/>
                <a:ea typeface="DejaVu Sans"/>
              </a:rPr>
              <a:t>CE QUE CA DIT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Rounded Rectangle 15"/>
          <p:cNvSpPr/>
          <p:nvPr/>
        </p:nvSpPr>
        <p:spPr>
          <a:xfrm>
            <a:off x="6355080" y="3163680"/>
            <a:ext cx="5375520" cy="1507680"/>
          </a:xfrm>
          <a:prstGeom prst="roundRect">
            <a:avLst>
              <a:gd name="adj" fmla="val 16667"/>
            </a:avLst>
          </a:prstGeom>
          <a:solidFill>
            <a:srgbClr val="f7faf4"/>
          </a:solidFill>
          <a:ln w="12600">
            <a:solidFill>
              <a:srgbClr val="e8f1e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04" name="TextBox 16"/>
          <p:cNvSpPr/>
          <p:nvPr/>
        </p:nvSpPr>
        <p:spPr>
          <a:xfrm>
            <a:off x="6565320" y="3383280"/>
            <a:ext cx="49183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232b24"/>
                </a:solidFill>
                <a:latin typeface="Aptos"/>
                <a:ea typeface="DejaVu Sans"/>
              </a:rPr>
              <a:t>« Docker me permet de retrouver le même environnement de travail et de documenter précisément comment lancer l’application. »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Shape 0"/>
          <p:cNvSpPr/>
          <p:nvPr/>
        </p:nvSpPr>
        <p:spPr>
          <a:xfrm>
            <a:off x="0" y="0"/>
            <a:ext cx="12189960" cy="1049760"/>
          </a:xfrm>
          <a:prstGeom prst="rect">
            <a:avLst/>
          </a:prstGeom>
          <a:solidFill>
            <a:srgbClr val="1f5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06" name="Text 1"/>
          <p:cNvSpPr/>
          <p:nvPr/>
        </p:nvSpPr>
        <p:spPr>
          <a:xfrm>
            <a:off x="502920" y="128160"/>
            <a:ext cx="944676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ormorant Garamond"/>
                <a:ea typeface="Cormorant Garamond"/>
              </a:rPr>
              <a:t>Conclusion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Text 2"/>
          <p:cNvSpPr/>
          <p:nvPr/>
        </p:nvSpPr>
        <p:spPr>
          <a:xfrm>
            <a:off x="2806920" y="479880"/>
            <a:ext cx="1079928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cfe6cf"/>
                </a:solidFill>
                <a:latin typeface="Calibri"/>
                <a:ea typeface="Calibri"/>
              </a:rPr>
              <a:t>Au fil des saisons : un projet complet DWWM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Text 3"/>
          <p:cNvSpPr/>
          <p:nvPr/>
        </p:nvSpPr>
        <p:spPr>
          <a:xfrm>
            <a:off x="457200" y="6473880"/>
            <a:ext cx="7313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2e7f32"/>
                </a:solidFill>
                <a:latin typeface="Calibri"/>
                <a:ea typeface="Calibri"/>
              </a:rPr>
              <a:t>AU FIL DES SAISONS  •  DWWM 2026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Text 4"/>
          <p:cNvSpPr/>
          <p:nvPr/>
        </p:nvSpPr>
        <p:spPr>
          <a:xfrm>
            <a:off x="11277360" y="6473880"/>
            <a:ext cx="45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2e7f32"/>
                </a:solidFill>
                <a:latin typeface="Calibri"/>
                <a:ea typeface="Calibri"/>
              </a:rPr>
              <a:t>24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Shape 5"/>
          <p:cNvSpPr/>
          <p:nvPr/>
        </p:nvSpPr>
        <p:spPr>
          <a:xfrm>
            <a:off x="502920" y="1417320"/>
            <a:ext cx="3543840" cy="31986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11" name="Text 6"/>
          <p:cNvSpPr/>
          <p:nvPr/>
        </p:nvSpPr>
        <p:spPr>
          <a:xfrm>
            <a:off x="758880" y="1673280"/>
            <a:ext cx="30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Acquis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Text 7"/>
          <p:cNvSpPr/>
          <p:nvPr/>
        </p:nvSpPr>
        <p:spPr>
          <a:xfrm>
            <a:off x="758880" y="2148840"/>
            <a:ext cx="3031920" cy="22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Conception d’une application complète avec Symfony : interfaces, base de données relationnelle, logique métier, sécurité, tests et conteneurisation avec Docker;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Shape 8"/>
          <p:cNvSpPr/>
          <p:nvPr/>
        </p:nvSpPr>
        <p:spPr>
          <a:xfrm>
            <a:off x="4322880" y="1417320"/>
            <a:ext cx="3543840" cy="31986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14" name="Text 9"/>
          <p:cNvSpPr/>
          <p:nvPr/>
        </p:nvSpPr>
        <p:spPr>
          <a:xfrm>
            <a:off x="4578840" y="1673280"/>
            <a:ext cx="30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MVP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Text 10"/>
          <p:cNvSpPr/>
          <p:nvPr/>
        </p:nvSpPr>
        <p:spPr>
          <a:xfrm>
            <a:off x="4578840" y="2148840"/>
            <a:ext cx="3031920" cy="22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6b5e"/>
                </a:solidFill>
                <a:latin typeface="Calibri"/>
                <a:ea typeface="Calibri"/>
              </a:rPr>
              <a:t>Une application permettant de consulter les produits de saison, découvrir des recettes, créer et partager ses propres recettes et obtenir des suggestions adaptées à la météo.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Shape 11"/>
          <p:cNvSpPr/>
          <p:nvPr/>
        </p:nvSpPr>
        <p:spPr>
          <a:xfrm>
            <a:off x="8143200" y="1440000"/>
            <a:ext cx="3543840" cy="31986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600">
            <a:solidFill>
              <a:srgbClr val="d3e8d5"/>
            </a:solidFill>
            <a:round/>
          </a:ln>
          <a:effectLst>
            <a:outerShdw dist="25560" dir="5400000" blurRad="76320" rotWithShape="0">
              <a:srgbClr val="1f5c2e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endParaRPr b="0" lang="en-US" sz="1150" spc="-1" strike="noStrike">
              <a:solidFill>
                <a:srgbClr val="5c6b5e"/>
              </a:solidFill>
              <a:latin typeface="Calibri"/>
              <a:ea typeface="Calibri"/>
            </a:endParaRPr>
          </a:p>
        </p:txBody>
      </p:sp>
      <p:sp>
        <p:nvSpPr>
          <p:cNvPr id="617" name="Text 12"/>
          <p:cNvSpPr/>
          <p:nvPr/>
        </p:nvSpPr>
        <p:spPr>
          <a:xfrm>
            <a:off x="8399160" y="1673280"/>
            <a:ext cx="30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0301f"/>
                </a:solidFill>
                <a:latin typeface="Calibri"/>
                <a:ea typeface="Calibri"/>
              </a:rPr>
              <a:t>Évolutions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Text 13"/>
          <p:cNvSpPr/>
          <p:nvPr/>
        </p:nvSpPr>
        <p:spPr>
          <a:xfrm>
            <a:off x="8388000" y="2160000"/>
            <a:ext cx="3131640" cy="22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c6b5e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5c6b5e"/>
                </a:solidFill>
                <a:latin typeface="Calibri"/>
                <a:ea typeface="Calibri"/>
              </a:rPr>
              <a:t>Etendre la saisonnalité à d’autres pays.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c6b5e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5c6b5e"/>
                </a:solidFill>
                <a:latin typeface="Calibri"/>
                <a:ea typeface="Calibri"/>
              </a:rPr>
              <a:t>Enrichir les recommandations de recettes.</a:t>
            </a:r>
            <a:r>
              <a:rPr b="1" lang="en-US" sz="1100" spc="-1" strike="noStrike">
                <a:solidFill>
                  <a:srgbClr val="5c6b5e"/>
                </a:solidFill>
                <a:latin typeface="Calibri"/>
                <a:ea typeface="Calibri"/>
              </a:rPr>
              <a:t>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c6b5e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5c6b5e"/>
                </a:solidFill>
                <a:latin typeface="Calibri"/>
                <a:ea typeface="Calibri"/>
              </a:rPr>
              <a:t>Améliorer l’accessibilité et réaliser un audit         RGAA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5c6b5e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5c6b5e"/>
                </a:solidFill>
                <a:latin typeface="Calibri"/>
                <a:ea typeface="Calibri"/>
              </a:rPr>
              <a:t>Préparer un déploiement en production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Shape 14"/>
          <p:cNvSpPr/>
          <p:nvPr/>
        </p:nvSpPr>
        <p:spPr>
          <a:xfrm>
            <a:off x="502920" y="4892040"/>
            <a:ext cx="11184120" cy="1049760"/>
          </a:xfrm>
          <a:prstGeom prst="roundRect">
            <a:avLst>
              <a:gd name="adj" fmla="val 6957"/>
            </a:avLst>
          </a:prstGeom>
          <a:solidFill>
            <a:srgbClr val="1f5c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20" name="Text 15"/>
          <p:cNvSpPr/>
          <p:nvPr/>
        </p:nvSpPr>
        <p:spPr>
          <a:xfrm>
            <a:off x="777240" y="5001840"/>
            <a:ext cx="106354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Au fil des saisons répond à un besoin simple : mieux connaître les produits de saison et faciliter leur utilisation au quotidien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Text 16"/>
          <p:cNvSpPr/>
          <p:nvPr/>
        </p:nvSpPr>
        <p:spPr>
          <a:xfrm>
            <a:off x="777240" y="5440680"/>
            <a:ext cx="10635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d9822b"/>
                </a:solidFill>
                <a:latin typeface="Calibri"/>
                <a:ea typeface="Calibri"/>
              </a:rPr>
              <a:t>Merci pour votre attention !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1151</TotalTime>
  <Application>LibreOffice/24.2.7.2$Linux_X86_64 LibreOffice_project/420$Build-2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2026-08-25T11:22:02Z</dcterms:created>
  <dc:creator>PptxGenJS</dc:creator>
  <dc:description/>
  <dc:language>fr-FR</dc:language>
  <cp:lastModifiedBy/>
  <dcterms:modified xsi:type="dcterms:W3CDTF">2026-09-02T10:02:53Z</dcterms:modified>
  <cp:revision>14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24</vt:r8>
  </property>
  <property fmtid="{D5CDD505-2E9C-101B-9397-08002B2CF9AE}" pid="3" name="PresentationFormat">
    <vt:lpwstr>On-screen Show (16:9)</vt:lpwstr>
  </property>
  <property fmtid="{D5CDD505-2E9C-101B-9397-08002B2CF9AE}" pid="4" name="Slides">
    <vt:r8>24</vt:r8>
  </property>
</Properties>
</file>